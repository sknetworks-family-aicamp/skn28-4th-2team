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SKN28기 2팀의 4번째 프로젝트 발표를 맡은 김성재입니다.
저희 팀이 개발한 프로젝트는 KAIST 학과 안내 챗봇 '넙죽이'입니다.
최근에는 LLM을 활용한 챗봇을 만드는 사례가 많습니다. 하지만 저희는 단순히 LLM을 연결하는 것에서 끝나지 않고, 실제 서비스가 동작하기 위해 필요한 모든 과정을 직접 구현하는 것을 목표로 했습니다.
데이터를 수집하고, 저장하고, 검색하고, LLM이 답변을 생성하고, 웹 서비스로 제공한 뒤 실제 서버에 배포하기까지 하나의 서비스가 완성되는 전 과정을 직접 연결했습니다.
오늘 발표에서는 이 서비스가 어떤 고민을 거쳐 만들어졌고, 어떻게 하나의 흐름으로 연결되었는지 중심으로 소개드리겠습니다.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프로젝트를 한 문장으로 설명드리겠습니다.
넙죽이는 흩어져 있는 KAIST 학과 정보를 자연어 질문만으로 쉽게 찾을 수 있도록 만든 RAG 기반 질의응답 서비스입니다.
기존에는 학과 홈페이지, 학사요람 PDF, 공지사항 등 정보가 여러 곳에 흩어져 있어서 필요한 내용을 찾기 위해 여러 페이지를 직접 찾아다녀야 했습니다.
저희는 사용자가 질문만 입력하면 필요한 정보를 찾아 답변하고, 그 답변의 근거가 되는 출처까지 함께 제공하는 것을 목표로 했습니다.
이번 프로젝트에서 중요하게 생각한 것은 단순히 답변을 잘 생성하는 것이 아니라, 사용자가 신뢰할 수 있는 답변을 제공하는 서비스를 만드는 것이었습니다.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다음은 팀 구성입니다.
보통 프로젝트에서는 역할을 먼저 정하고, 그에 맞게 인원을 배치하는 경우가 많습니다.
하지만 저희는 조금 다른 방식을 선택했습니다.
각자 이번 프로젝트에서 더 깊이 공부하고 성장하고 싶은 영역을 직접 선택해 맡았기 때문입니다.
저는 RAG 파이프라인과 DB를 중심으로 담당했고, 신혜지님은 백엔드와 데이터, 심기성님은 프론트와 배포, 손지은님은 프론트와 데이터를 담당했습니다.
이러한 방식을 통해 기능 구현뿐 아니라 각자의 관심 영역에서 실질적인 성장도 함께 이룰 수 있었습니다.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그렇다면 왜 이 프로젝트가 필요했는지 조금 더 구체적으로 말씀드리겠습니다.
저희가 특히 주목한 사용자는 신입생이나 입학 희망자입니다.
이 분들은 어떤 정보가 어디에 있는지조차 알기 어려운 경우가 많습니다.
학과 홈페이지, 학사요람, 공지사항, 교수 소개 페이지 — 필요한 정보가 어디 있는지 알아야 찾을 수 있는 구조입니다.
저희는 이 문제를 검색의 문제가 아니라 정보 접근성의 문제라고 생각했습니다.
그래서 사용자가 질문 한 번만 입력하면 필요한 정보를 찾아주고, 그 근거까지 함께 제공하는 서비스를 만들고자 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프로젝트를 바로 개발하기보다는 먼저 무엇을 만들 것인지를 정의하는 것부터 시작했습니다.
사용자가 서비스를 이용하는 전체 흐름을 먼저 설계하고, 그 흐름을 기준으로 필요한 기능들을 정리했습니다.
핵심 기능은 로그인, 질문, 출처가 포함된 답변, 게시판과 문의, 관리자 기능으로 구성했습니다.
또한 기능 요구사항뿐 아니라 보안, 안정성, 예외 처리, 배포와 같은 비기능 요구사항도 함께 정의했습니다.
이 과정을 통해 구현 범위를 명확하게 정할 수 있었고, 개발 과정에서 기능이 계속 추가되는 것을 방지하면서 우선순위에 맞춰 프로젝트를 진행할 수 있었습니다.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이번 슬라이드는 오늘 발표에서 가장 중요한 슬라이드입니다.
앞에서 프로젝트의 목적을 설명드렸다면, 이제는 그 프로젝트가 실제로 어떻게 동작하는지 전체 흐름을 보여드리겠습니다.
사용자가 질문을 입력하면 가장 먼저 데이터 계층에서 미리 수집하고 전처리한 정보가 준비되어 있습니다.
이 데이터는 성격에 따라 MySQL과 Chroma Vector Store에 나누어 저장됩니다.
그다음 백엔드에서는 사용자의 질문을 분석한 뒤 SQL 검색과 벡터 검색을 함께 수행하고, 검색된 결과를 기반으로 LLM이 답변을 생성합니다.
생성된 답변은 출처 정보와 함께 프론트엔드로 전달되어 사용자가 바로 확인할 수 있도록 구성했습니다.
마지막으로 이 모든 시스템을 EC2 환경에 배포하여 실제 서비스 형태로 운영할 수 있도록 구현했습니다.
즉, 저희 프로젝트의 핵심은 LLM 하나가 아니라 데이터 수집부터 저장, 검색, 답변 생성, 사용자 화면, 그리고 배포까지 다섯 개 계층이 하나의 흐름으로 연결되어 있다는 점입니다.
이제부터는 이 흐름을 따라 각 계층을 하나씩 설명드리겠습니다.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시스템의 첫 번째 계층인 데이터 계층입니다.
저희는 프로젝트를 진행하면서 LLM보다 먼저 데이터 품질을 확보하는 것이 중요하다고 생각했습니다.
아무리 좋은 모델을 사용하더라도, 잘못된 데이터를 학습하거나 검색하면 좋은 답변을 만들 수 없기 때문입니다.
그래서 먼저 AI대학, 자연과학대학, 생명과학기술대학의 공식 홈페이지와 문서를 크롤링하여 데이터를 수집했습니다.
수집한 데이터는 표 형태의 정형 데이터와 문서 형태의 비정형 데이터로 분리했고, 중복되거나 불완전한 데이터를 제거하면서 품질을 높였습니다.
마지막으로 RAG 파이프라인에서 바로 활용할 수 있도록 jsonl 형태로 표준화하여 저장했습니다.
즉, 저희는 좋은 답변은 좋은 모델이 아니라 좋은 데이터에서 시작된다는 관점으로 데이터 계층을 설계했습니다.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다음은 DB 계층입니다.
저희는 데이터를 하나의 저장소에 모두 넣지 않고, 데이터의 특성에 따라 두 가지 방식으로 나누어 저장했습니다.
처음에는 벡터DB 하나만 사용하는 방법도 고려했습니다.
하지만 학과명이나 교수명처럼 정확하게 일치해야 하는 정보는 SQL이 훨씬 빠르고 정확하게 검색할 수 있었습니다.
반면 학과 소개나 연구 분야처럼 표현이 다양하게 바뀌는 질문은 의미 기반 검색이 가능한 벡터DB가 더 적합했습니다.
그래서 학과, 교수, 교과목과 같은 정형 데이터는 MySQL에 저장하고, 문서 기반 정보는 Chroma Vector Store에 임베딩하여 저장하는 이원화 구조를 선택했습니다.
그 결과 현재는 3개 단과대학, 13개 학과 및 대학원, 그리고 7,759개의 문서 청크를 관리하고 있습니다.
이 구조를 통해 정확한 조건 검색과 의미 기반 검색을 모두 활용할 수 있는 기반을 마련했습니다.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다음은 프로젝트의 핵심인 백엔드와 RAG 계층입니다.
사용자가 질문을 입력하면 가장 먼저 질문을 분석합니다.
예를 들어 어떤 학과를 묻는 질문인지, 어떤 정보를 원하는지 먼저 파악한 뒤 가장 적합한 검색 방식을 선택합니다.
이후 SQL 검색과 벡터 검색을 함께 수행하고, 각각의 결과를 하나로 통합하여 LLM에게 전달합니다.
LLM은 검색된 정보를 근거로 답변을 생성하고, 답변과 함께 참고한 출처까지 함께 반환합니다.
이 과정을 통해 사용자는 단순히 답변만 받는 것이 아니라 왜 그런 답이 나왔는지까지 확인할 수 있습니다.
이 모든 과정을 연결하는 역할이 Django API입니다.
Django는 사용자의 요청을 받아 입력값을 검증하고, 로그인한 사용자의 대화 기록을 저장한 뒤 RAG 파이프라인을 호출합니다.
마지막으로 생성된 답변과 출처, 라우팅 정보, 경고 메시지를 JSON 형태로 프론트엔드에 전달합니다.
즉, Django는 단순한 API 서버가 아니라 프론트엔드와 RAG를 연결하는 중심 역할을 수행하도록 설계했습니다.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이번 슬라이드는 저희 프로젝트에서 가장 의미 있었던 결과입니다.
프로젝트를 진행하면서 처음에는 답변 품질이 부족한 이유가 검색 성능 때문이라고 생각했습니다.
그래서 검색 로직을 여러 번 수정했지만, 기대만큼 성능이 개선되지 않았습니다.
그래서 더 이상 감에 의존하지 않고, 직접 39개의 평가 문항을 만들어 단계별로 성능을 측정했습니다.
측정 결과는 예상과 달랐습니다.
검색 성능인 Hit@5는 이미 97.4%로 충분히 높은 수준이었습니다.
실제 병목은 검색이 아니라, 질문을 어떤 컬렉션으로 보낼지 결정하는 라우팅 단계였습니다.
그래서 검색 로직은 그대로 유지한 채 라우팅 방식을 개선했고, 그 결과 답변율은 66.7%에서 94.9%, 출처 정확도는 59%에서 87.2%까지 향상되었습니다.
이번 프로젝트를 통해 저희가 가장 크게 배운 점은 추측보다 측정이 중요하다는 것이었습니다.
성능 개선도 결국 데이터를 기반으로 원인을 분석해야 효과적으로 이루어진다는 것을 직접 경험했습니다.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다음은 프론트엔드 화면 설계 단계입니다.
저희는 화면을 예쁘게 만드는 것보다 사용자가 답을 쉽게 이해할 수 있는 구조를 만드는 데 집중했습니다.
LLM 서비스는 질문을 입력하는 것보다 생성된 답변을 얼마나 신뢰할 수 있는지가 더 중요하다고 생각했습니다.
그래서 화면을 설계할 때 세 가지 원칙을 세웠습니다.
첫 번째는 질문을 쉽고 빠르게 입력할 수 있는 구조입니다.
두 번째는 답변과 출처를 함께 보여주는 구조입니다.
마지막은 오류가 발생했을 때 사용자가 당황하지 않도록 명확하게 안내하는 구조입니다.
이 슬라이드에 표시된 번호들은 단순한 UI 번호가 아니라, 각각의 사용자 경험을 고려해 정의한 핵심 요소들입니다.
즉, 화면을 먼저 그리고 기능을 붙인 것이 아니라 사용자 경험을 먼저 설계한 뒤 구현을 진행했습니다.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앞에서 설명드린 화면 설계는 실제 서비스 화면으로 구현되었습니다.
먼저 왼쪽은 사용자가 가장 많이 이용하는 채팅 화면입니다.
질문을 입력하면 RAG 파이프라인을 거쳐 생성된 답변이 출력되고, 답변 아래에는 참고한 출처와 피드백 기능을 함께 제공합니다.
이렇게 구성한 이유는 사용자가 답변만 보는 것이 아니라 근거까지 함께 확인할 수 있도록 하기 위해서입니다.
가운데는 게시판과 문의 기능입니다.
단순한 챗봇으로 끝나는 것이 아니라 사용자들이 학사 정보를 공유하거나 문의할 수 있는 커뮤니티 기능도 함께 구현했습니다.
오른쪽은 관리자 화면입니다.
관리자는 현재 수집된 데이터 현황과 운영 정보를 한눈에 확인할 수 있도록 구성했습니다.
즉, 저희는 사용자 화면뿐 아니라 운영자가 실제 서비스를 관리할 수 있는 기능까지 하나의 서비스로 구현했습니다.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서비스를 개발하면서 저희가 중요하게 생각한 또 하나의 부분은 예외 처리였습니다.
실제 서비스에서는 정상적으로 동작하는 경우보다 예상하지 못한 상황을 어떻게 처리하느냐가 사용자 경험을 결정한다고 생각했습니다.
그래서 예외 처리를 프론트엔드와 백엔드의 역할로 나누어 설계했습니다.
먼저 프론트엔드는 빈 입력이나 중복 요청을 미리 차단하고, 답변을 생성하는 동안에는 로딩 상태를 표시하여 사용자가 현재 진행 상황을 알 수 있도록 했습니다.
또한 오류가 발생했을 때도 단순히 실패했다고 표시하는 것이 아니라, 사용자가 다음에 무엇을 해야 하는지 알 수 있도록 안내 메시지를 제공합니다.
백엔드에서는 잘못된 요청, 로그인이 필요한 경우, 권한 부족, 데이터가 없는 경우 등을 HTTP 상태 코드와 함께 명확하게 반환하도록 구현했습니다.
그리고 가장 중요한 부분은 RAG 엔진에서 문제가 발생하더라도 서비스 전체가 중단되지 않도록 폴백 로직을 구성한 것입니다.
이를 통해 시스템 오류가 발생하더라도 사용자에게는 안정적으로 안내 메시지를 제공할 수 있도록 설계했습니다.
즉, 저희는 정상적인 사용 흐름뿐 아니라 실패하는 상황까지 하나의 기능으로 설계했습니다.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 계층은 배포 환경입니다.
프로젝트를 로컬 환경에서만 실행하는 것이 아니라, 실제 서비스처럼 운영할 수 있도록 AWS EC2 환경에 테스트 배포를 진행했습니다.
사용자가 웹 브라우저로 접속하면 가장 먼저 Nginx가 요청을 받고, 정적 파일은 직접 제공합니다.
그 외 요청은 Gunicorn을 통해 Django 애플리케이션으로 전달되어 실제 비즈니스 로직을 수행합니다.
이 과정에서 사용자 정보와 게시판 데이터는 RDS MySQL에 저장되고, RAG 검색은 EC2 내부의 Chroma Vector Store와 OpenAI API를 활용하여 수행됩니다.
또한 기존 로컬 데이터베이스를 RDS 환경으로 이전하는 데이터 마이그레이션 과정까지 직접 진행했습니다.
즉, 저희는 개발 환경에서 끝나는 프로젝트가 아니라 실제 운영 가능한 서비스 구조를 구축하는 것까지 경험했습니다.
이번 프로젝트를 통해 "기능을 만드는 것"과 "서비스를 운영하는 것"은 전혀 다른 문제라는 점을 직접 경험할 수 있었습니다.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(물리학과 교수님 / 의과학대학원 석사과정)
지금까지는 프로젝트의 구조와 구현 과정을 설명드렸습니다.
이번에는 실제 서비스가 어떻게 동작하는지 보여드리겠습니다.
사용자가 질문을 입력하면 먼저 질문을 분석하고, 필요한 데이터를 SQL과 Vector Store에서 함께 검색합니다.
검색된 결과를 기반으로 LLM이 답변을 생성하고, 생성된 답변과 함께 출처 카드가 화면에 표시됩니다.
여기서 가장 집중해서 봐주셨으면 하는 부분은 답변 자체보다 출처가 함께 제공되는 과정입니다.
저희는 생성형 AI의 가장 큰 문제 중 하나가 환각(Hallucination)이라고 생각했습니다.
그래서 사용자가 "왜 이런 답이 나왔는지" 직접 확인할 수 있도록 출처를 항상 함께 제공하도록 설계했습니다.
이 부분이 단순한 챗봇과 저희 서비스의 가장 큰 차별점이라고 생각합니다.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프로젝트를 구현한 뒤에는 기능이 만들어졌는지보다, 실제로 정상 동작하는지 검증하는 과정을 진행했습니다.
먼저 로그인, 회원가입, 게시판, 관리자 기능처럼 일반적인 웹 서비스 기능을 테스트했습니다.
이후 RAG 질의응답 과정에서는 질문 입력부터 검색, 답변 생성, 출처 반환까지 전체 흐름을 통합 테스트했습니다.
또한 정상적인 상황뿐 아니라 로그인되지 않은 상태, 잘못된 요청, 데이터가 없는 경우처럼 다양한 예외 상황도 함께 검증했습니다.
이를 통해 저희는 단순히 기능을 구현하는 데서 끝나는 것이 아니라, 사용자가 실제로 사용할 수 있는 수준의 안정성을 확보하는 것까지 목표로 프로젝트를 진행했습니다.
프로젝트를 진행하면서 테스트는 마지막 단계가 아니라, 서비스 품질을 완성하는 과정이라는 것을 직접 경험할 수 있었습니다.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이상으로 발표를 마치겠습니다.
이번 프로젝트를 진행하면서 저희는 단순히 RAG를 구현하는 방법만 배운 것이 아니었습니다.
좋은 서비스를 만들기 위해서는 좋은 모델보다 먼저 좋은 데이터가 필요하다는 것,
그리고 성능은 추측이 아니라 측정을 통해 개선해야 한다는 것,
마지막으로 개발은 기능 구현에서 끝나는 것이 아니라 사용자가 실제로 사용할 수 있는 서비스까지 연결되어야 한다는 것을 직접 경험할 수 있었습니다.
이번 프로젝트는 아직 완성형 서비스는 아닙니다.
앞으로 더 많은 학과와 데이터를 추가하고, 검색 성능과 사용자 경험을 지속적으로 개선하여 실제 KAIST 구성원들이 활용할 수 있는 서비스로 발전시키는 것이 저희의 목표입니다.
저희는 챗봇을 만든 것이 아니라, 신뢰할 수 있는 AI 서비스를 만드는 과정을 경험했습니다.
경청해 주셔서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2E86DD">
                  <a:alpha val="100000"/>
                </a:srgbClr>
              </a:gs>
              <a:gs pos="60000">
                <a:srgbClr val="1E64B8">
                  <a:alpha val="100000"/>
                </a:srgbClr>
              </a:gs>
              <a:gs pos="100000">
                <a:srgbClr val="184F9A">
                  <a:alpha val="100000"/>
                </a:srgbClr>
              </a:gs>
            </a:gsLst>
            <a:lin ang="3600000" scaled="0"/>
          </a:gradFill>
          <a:ln/>
        </p:spPr>
      </p:sp>
      <p:sp>
        <p:nvSpPr>
          <p:cNvPr id="3" name="Shape 1"/>
          <p:cNvSpPr/>
          <p:nvPr/>
        </p:nvSpPr>
        <p:spPr>
          <a:xfrm>
            <a:off x="14097000" y="-1524000"/>
            <a:ext cx="5334000" cy="5334000"/>
          </a:xfrm>
          <a:prstGeom prst="ellipse">
            <a:avLst/>
          </a:prstGeom>
          <a:solidFill>
            <a:srgbClr val="FFFFFF">
              <a:alpha val="6000"/>
            </a:srgbClr>
          </a:solidFill>
          <a:ln/>
        </p:spPr>
      </p:sp>
      <p:sp>
        <p:nvSpPr>
          <p:cNvPr id="4" name="Shape 2"/>
          <p:cNvSpPr/>
          <p:nvPr/>
        </p:nvSpPr>
        <p:spPr>
          <a:xfrm>
            <a:off x="-1333500" y="7620000"/>
            <a:ext cx="4572000" cy="4572000"/>
          </a:xfrm>
          <a:prstGeom prst="ellipse">
            <a:avLst/>
          </a:prstGeom>
          <a:solidFill>
            <a:srgbClr val="FFFFFF">
              <a:alpha val="5000"/>
            </a:srgbClr>
          </a:solidFill>
          <a:ln/>
        </p:spPr>
      </p:sp>
      <p:sp>
        <p:nvSpPr>
          <p:cNvPr id="5" name="Shape 3"/>
          <p:cNvSpPr/>
          <p:nvPr/>
        </p:nvSpPr>
        <p:spPr>
          <a:xfrm>
            <a:off x="15240000" y="1714500"/>
            <a:ext cx="1333500" cy="1123950"/>
          </a:xfrm>
          <a:prstGeom prst="ellipse">
            <a:avLst/>
          </a:prstGeom>
          <a:gradFill rotWithShape="1">
            <a:gsLst>
              <a:gs pos="0">
                <a:srgbClr val="7CC2F5">
                  <a:alpha val="100000"/>
                </a:srgbClr>
              </a:gs>
              <a:gs pos="100000">
                <a:srgbClr val="2E86DD">
                  <a:alpha val="100000"/>
                </a:srgbClr>
              </a:gs>
            </a:gsLst>
            <a:lin ang="4500000" scaled="0"/>
          </a:gradFill>
          <a:ln/>
          <a:effectLst>
            <a:outerShdw sx="100000" sy="100000" kx="0" ky="0" algn="bl" rotWithShape="0" blurRad="476250" dist="209550" dir="5400000">
              <a:srgbClr val="0A2850">
                <a:alpha val="40000"/>
              </a:srgbClr>
            </a:outerShdw>
          </a:effectLst>
        </p:spPr>
      </p:sp>
      <p:sp>
        <p:nvSpPr>
          <p:cNvPr id="6" name="Shape 4"/>
          <p:cNvSpPr/>
          <p:nvPr/>
        </p:nvSpPr>
        <p:spPr>
          <a:xfrm>
            <a:off x="15563850" y="2133600"/>
            <a:ext cx="285750" cy="342900"/>
          </a:xfrm>
          <a:prstGeom prst="ellipse">
            <a:avLst/>
          </a:prstGeom>
          <a:solidFill>
            <a:srgbClr val="FFFFFF"/>
          </a:solidFill>
          <a:ln/>
        </p:spPr>
      </p:sp>
      <p:sp>
        <p:nvSpPr>
          <p:cNvPr id="7" name="Shape 5"/>
          <p:cNvSpPr/>
          <p:nvPr/>
        </p:nvSpPr>
        <p:spPr>
          <a:xfrm>
            <a:off x="15640050" y="2219325"/>
            <a:ext cx="142875" cy="142875"/>
          </a:xfrm>
          <a:prstGeom prst="ellipse">
            <a:avLst/>
          </a:prstGeom>
          <a:solidFill>
            <a:srgbClr val="0E2238"/>
          </a:solidFill>
          <a:ln/>
        </p:spPr>
      </p:sp>
      <p:sp>
        <p:nvSpPr>
          <p:cNvPr id="8" name="Shape 6"/>
          <p:cNvSpPr/>
          <p:nvPr/>
        </p:nvSpPr>
        <p:spPr>
          <a:xfrm>
            <a:off x="15982950" y="2133600"/>
            <a:ext cx="285750" cy="342900"/>
          </a:xfrm>
          <a:prstGeom prst="ellipse">
            <a:avLst/>
          </a:prstGeom>
          <a:solidFill>
            <a:srgbClr val="FFFFFF"/>
          </a:solidFill>
          <a:ln/>
        </p:spPr>
      </p:sp>
      <p:sp>
        <p:nvSpPr>
          <p:cNvPr id="9" name="Shape 7"/>
          <p:cNvSpPr/>
          <p:nvPr/>
        </p:nvSpPr>
        <p:spPr>
          <a:xfrm>
            <a:off x="16059150" y="2219325"/>
            <a:ext cx="142875" cy="142875"/>
          </a:xfrm>
          <a:prstGeom prst="ellipse">
            <a:avLst/>
          </a:prstGeom>
          <a:solidFill>
            <a:srgbClr val="0E2238"/>
          </a:solidFill>
          <a:ln/>
        </p:spPr>
      </p:sp>
      <p:sp>
        <p:nvSpPr>
          <p:cNvPr id="10" name="Text 8"/>
          <p:cNvSpPr/>
          <p:nvPr/>
        </p:nvSpPr>
        <p:spPr>
          <a:xfrm>
            <a:off x="15659100" y="2571750"/>
            <a:ext cx="476250" cy="228600"/>
          </a:xfrm>
          <a:prstGeom prst="rect">
            <a:avLst/>
          </a:prstGeom>
          <a:noFill/>
          <a:ln/>
        </p:spPr>
        <p:txBody>
          <a:bodyPr wrap="square" lIns="25400" tIns="25400" rIns="25400" bIns="25400" rtlCol="0" anchor="t">
            <a:normAutofit/>
          </a:bodyPr>
          <a:lstStyle/>
          <a:p>
            <a:pPr algn="ctr" indent="0" marL="0">
              <a:lnSpc>
                <a:spcPct val="181818"/>
              </a:lnSpc>
              <a:buNone/>
            </a:pPr>
            <a:r>
              <a:rPr lang="en-US" sz="825" b="1" spc="41" kern="0" dirty="0">
                <a:solidFill>
                  <a:srgbClr val="FFFFFF">
                    <a:alpha val="85000"/>
                  </a:srgbClr>
                </a:solidFill>
                <a:latin typeface="Arial" pitchFamily="34" charset="0"/>
                <a:ea typeface="Arial" pitchFamily="34" charset="-122"/>
                <a:cs typeface="Arial" pitchFamily="34" charset="-120"/>
              </a:rPr>
              <a:t>KAIST</a:t>
            </a:r>
            <a:endParaRPr lang="en-US" sz="825" dirty="0"/>
          </a:p>
        </p:txBody>
      </p:sp>
      <p:sp>
        <p:nvSpPr>
          <p:cNvPr id="11" name="Text 9"/>
          <p:cNvSpPr/>
          <p:nvPr/>
        </p:nvSpPr>
        <p:spPr>
          <a:xfrm>
            <a:off x="1047750" y="3297555"/>
            <a:ext cx="17811750" cy="281940"/>
          </a:xfrm>
          <a:prstGeom prst="rect">
            <a:avLst/>
          </a:prstGeom>
          <a:noFill/>
          <a:ln/>
        </p:spPr>
        <p:txBody>
          <a:bodyPr wrap="square" lIns="25400" tIns="25400" rIns="25400" bIns="25400" rtlCol="0" anchor="t">
            <a:normAutofit/>
          </a:bodyPr>
          <a:lstStyle/>
          <a:p>
            <a:pPr algn="l" indent="0" marL="0">
              <a:buNone/>
            </a:pPr>
            <a:r>
              <a:rPr lang="en-US" sz="1350" b="1" spc="297" kern="0" dirty="0">
                <a:solidFill>
                  <a:srgbClr val="FFFFFF">
                    <a:alpha val="78000"/>
                  </a:srgbClr>
                </a:solidFill>
                <a:latin typeface="Arial" pitchFamily="34" charset="0"/>
                <a:ea typeface="Arial" pitchFamily="34" charset="-122"/>
                <a:cs typeface="Arial" pitchFamily="34" charset="-120"/>
              </a:rPr>
              <a:t>KAIST · AI / 자연과학 / 생명과학기술대학 안내 챗봇</a:t>
            </a:r>
            <a:endParaRPr lang="en-US" sz="1350" dirty="0"/>
          </a:p>
        </p:txBody>
      </p:sp>
      <p:sp>
        <p:nvSpPr>
          <p:cNvPr id="12" name="Text 10"/>
          <p:cNvSpPr/>
          <p:nvPr/>
        </p:nvSpPr>
        <p:spPr>
          <a:xfrm>
            <a:off x="1047750" y="3789045"/>
            <a:ext cx="17811750" cy="1344930"/>
          </a:xfrm>
          <a:prstGeom prst="rect">
            <a:avLst/>
          </a:prstGeom>
          <a:noFill/>
          <a:ln/>
        </p:spPr>
        <p:txBody>
          <a:bodyPr wrap="square" lIns="25400" tIns="25400" rIns="25400" bIns="25400" rtlCol="0" anchor="t">
            <a:normAutofit/>
          </a:bodyPr>
          <a:lstStyle/>
          <a:p>
            <a:pPr algn="l" indent="0" marL="0">
              <a:lnSpc>
                <a:spcPct val="98000"/>
              </a:lnSpc>
              <a:buNone/>
            </a:pPr>
            <a:r>
              <a:rPr lang="en-US" sz="10500" b="1" spc="-420" kern="0" dirty="0">
                <a:solidFill>
                  <a:srgbClr val="FFFFFF"/>
                </a:solidFill>
                <a:latin typeface="Arial" pitchFamily="34" charset="0"/>
                <a:ea typeface="Arial" pitchFamily="34" charset="-122"/>
                <a:cs typeface="Arial" pitchFamily="34" charset="-120"/>
              </a:rPr>
              <a:t>넙죽이</a:t>
            </a:r>
            <a:endParaRPr lang="en-US" sz="10500" dirty="0"/>
          </a:p>
        </p:txBody>
      </p:sp>
      <p:sp>
        <p:nvSpPr>
          <p:cNvPr id="13" name="Text 11"/>
          <p:cNvSpPr/>
          <p:nvPr/>
        </p:nvSpPr>
        <p:spPr>
          <a:xfrm>
            <a:off x="1047750" y="5362575"/>
            <a:ext cx="11001375" cy="491490"/>
          </a:xfrm>
          <a:prstGeom prst="rect">
            <a:avLst/>
          </a:prstGeom>
          <a:noFill/>
          <a:ln/>
        </p:spPr>
        <p:txBody>
          <a:bodyPr wrap="square" lIns="25400" tIns="25400" rIns="25400" bIns="25400" rtlCol="0" anchor="t">
            <a:normAutofit/>
          </a:bodyPr>
          <a:lstStyle/>
          <a:p>
            <a:pPr algn="l" indent="0" marL="0">
              <a:lnSpc>
                <a:spcPct val="140000"/>
              </a:lnSpc>
              <a:buNone/>
            </a:pPr>
            <a:r>
              <a:rPr lang="en-US" sz="2550" b="1" spc="-51" kern="0" dirty="0">
                <a:solidFill>
                  <a:srgbClr val="FFFFFF">
                    <a:alpha val="92000"/>
                  </a:srgbClr>
                </a:solidFill>
                <a:latin typeface="Arial" pitchFamily="34" charset="0"/>
                <a:ea typeface="Arial" pitchFamily="34" charset="-122"/>
                <a:cs typeface="Arial" pitchFamily="34" charset="-120"/>
              </a:rPr>
              <a:t>데이터부터 배포까지, 서비스 구조를 연결한 브릿지 프로젝트</a:t>
            </a:r>
            <a:endParaRPr lang="en-US" sz="2550" dirty="0"/>
          </a:p>
        </p:txBody>
      </p:sp>
      <p:sp>
        <p:nvSpPr>
          <p:cNvPr id="14" name="Shape 12"/>
          <p:cNvSpPr/>
          <p:nvPr/>
        </p:nvSpPr>
        <p:spPr>
          <a:xfrm>
            <a:off x="1047750" y="6501765"/>
            <a:ext cx="5208270" cy="487680"/>
          </a:xfrm>
          <a:prstGeom prst="roundRect">
            <a:avLst>
              <a:gd name="adj" fmla="val 50000"/>
            </a:avLst>
          </a:prstGeom>
          <a:solidFill>
            <a:srgbClr val="FFFFFF">
              <a:alpha val="10000"/>
            </a:srgbClr>
          </a:solidFill>
          <a:ln w="7620">
            <a:solidFill>
              <a:srgbClr val="FFFFFF">
                <a:alpha val="18000"/>
              </a:srgbClr>
            </a:solidFill>
            <a:prstDash val="solid"/>
          </a:ln>
        </p:spPr>
      </p:sp>
      <p:sp>
        <p:nvSpPr>
          <p:cNvPr id="15" name="Shape 13"/>
          <p:cNvSpPr/>
          <p:nvPr/>
        </p:nvSpPr>
        <p:spPr>
          <a:xfrm>
            <a:off x="1226820" y="6683693"/>
            <a:ext cx="123825" cy="123825"/>
          </a:xfrm>
          <a:prstGeom prst="ellipse">
            <a:avLst/>
          </a:prstGeom>
          <a:solidFill>
            <a:srgbClr val="46D397"/>
          </a:solidFill>
          <a:ln/>
        </p:spPr>
      </p:sp>
      <p:sp>
        <p:nvSpPr>
          <p:cNvPr id="16" name="Text 14"/>
          <p:cNvSpPr/>
          <p:nvPr/>
        </p:nvSpPr>
        <p:spPr>
          <a:xfrm>
            <a:off x="1436370" y="6669405"/>
            <a:ext cx="549473" cy="228600"/>
          </a:xfrm>
          <a:prstGeom prst="rect">
            <a:avLst/>
          </a:prstGeom>
          <a:noFill/>
          <a:ln/>
        </p:spPr>
        <p:txBody>
          <a:bodyPr wrap="square" lIns="0" tIns="0" rIns="0" bIns="0" rtlCol="0" anchor="t">
            <a:normAutofit/>
          </a:bodyPr>
          <a:lstStyle/>
          <a:p>
            <a:pPr algn="l" indent="0" marL="0">
              <a:buNone/>
            </a:pPr>
            <a:r>
              <a:rPr lang="en-US" sz="1350" b="1" dirty="0">
                <a:solidFill>
                  <a:srgbClr val="FFFFFF"/>
                </a:solidFill>
                <a:latin typeface="Arial" pitchFamily="34" charset="0"/>
                <a:ea typeface="Arial" pitchFamily="34" charset="-122"/>
                <a:cs typeface="Arial" pitchFamily="34" charset="-120"/>
              </a:rPr>
              <a:t>데이터</a:t>
            </a:r>
            <a:endParaRPr lang="en-US" sz="1350" dirty="0"/>
          </a:p>
        </p:txBody>
      </p:sp>
      <p:sp>
        <p:nvSpPr>
          <p:cNvPr id="17" name="Text 15"/>
          <p:cNvSpPr/>
          <p:nvPr/>
        </p:nvSpPr>
        <p:spPr>
          <a:xfrm>
            <a:off x="2062043" y="6657975"/>
            <a:ext cx="228600" cy="213360"/>
          </a:xfrm>
          <a:prstGeom prst="rect">
            <a:avLst/>
          </a:prstGeom>
          <a:noFill/>
          <a:ln/>
        </p:spPr>
        <p:txBody>
          <a:bodyPr wrap="square" lIns="25400" tIns="25400" rIns="25400" bIns="25400" rtlCol="0" anchor="t">
            <a:normAutofit/>
          </a:bodyPr>
          <a:lstStyle/>
          <a:p>
            <a:pPr algn="l" indent="0" marL="0">
              <a:buNone/>
            </a:pPr>
            <a:r>
              <a:rPr lang="en-US" sz="1200" dirty="0">
                <a:solidFill>
                  <a:srgbClr val="FFFFFF">
                    <a:alpha val="40000"/>
                  </a:srgbClr>
                </a:solidFill>
                <a:latin typeface="Arial" pitchFamily="34" charset="0"/>
                <a:ea typeface="Arial" pitchFamily="34" charset="-122"/>
                <a:cs typeface="Arial" pitchFamily="34" charset="-120"/>
              </a:rPr>
              <a:t>―</a:t>
            </a:r>
            <a:endParaRPr lang="en-US" sz="1200" dirty="0"/>
          </a:p>
        </p:txBody>
      </p:sp>
      <p:sp>
        <p:nvSpPr>
          <p:cNvPr id="18" name="Shape 16"/>
          <p:cNvSpPr/>
          <p:nvPr/>
        </p:nvSpPr>
        <p:spPr>
          <a:xfrm>
            <a:off x="2366843" y="6683693"/>
            <a:ext cx="123825" cy="123825"/>
          </a:xfrm>
          <a:prstGeom prst="ellipse">
            <a:avLst/>
          </a:prstGeom>
          <a:solidFill>
            <a:srgbClr val="A88BF0"/>
          </a:solidFill>
          <a:ln/>
        </p:spPr>
      </p:sp>
      <p:sp>
        <p:nvSpPr>
          <p:cNvPr id="19" name="Text 17"/>
          <p:cNvSpPr/>
          <p:nvPr/>
        </p:nvSpPr>
        <p:spPr>
          <a:xfrm>
            <a:off x="2576394" y="6646545"/>
            <a:ext cx="314444" cy="228600"/>
          </a:xfrm>
          <a:prstGeom prst="rect">
            <a:avLst/>
          </a:prstGeom>
          <a:noFill/>
          <a:ln/>
        </p:spPr>
        <p:txBody>
          <a:bodyPr wrap="square" lIns="0" tIns="0" rIns="0" bIns="0" rtlCol="0" anchor="t">
            <a:normAutofit/>
          </a:bodyPr>
          <a:lstStyle/>
          <a:p>
            <a:pPr algn="l" indent="0" marL="0">
              <a:buNone/>
            </a:pPr>
            <a:r>
              <a:rPr lang="en-US" sz="1350" b="1" dirty="0">
                <a:solidFill>
                  <a:srgbClr val="FFFFFF"/>
                </a:solidFill>
                <a:latin typeface="Arial" pitchFamily="34" charset="0"/>
                <a:ea typeface="Arial" pitchFamily="34" charset="-122"/>
                <a:cs typeface="Arial" pitchFamily="34" charset="-120"/>
              </a:rPr>
              <a:t>DB</a:t>
            </a:r>
            <a:endParaRPr lang="en-US" sz="1350" dirty="0"/>
          </a:p>
        </p:txBody>
      </p:sp>
      <p:sp>
        <p:nvSpPr>
          <p:cNvPr id="20" name="Text 18"/>
          <p:cNvSpPr/>
          <p:nvPr/>
        </p:nvSpPr>
        <p:spPr>
          <a:xfrm>
            <a:off x="2967038" y="6657975"/>
            <a:ext cx="228600" cy="213360"/>
          </a:xfrm>
          <a:prstGeom prst="rect">
            <a:avLst/>
          </a:prstGeom>
          <a:noFill/>
          <a:ln/>
        </p:spPr>
        <p:txBody>
          <a:bodyPr wrap="square" lIns="25400" tIns="25400" rIns="25400" bIns="25400" rtlCol="0" anchor="t">
            <a:normAutofit/>
          </a:bodyPr>
          <a:lstStyle/>
          <a:p>
            <a:pPr algn="l" indent="0" marL="0">
              <a:buNone/>
            </a:pPr>
            <a:r>
              <a:rPr lang="en-US" sz="1200" dirty="0">
                <a:solidFill>
                  <a:srgbClr val="FFFFFF">
                    <a:alpha val="40000"/>
                  </a:srgbClr>
                </a:solidFill>
                <a:latin typeface="Arial" pitchFamily="34" charset="0"/>
                <a:ea typeface="Arial" pitchFamily="34" charset="-122"/>
                <a:cs typeface="Arial" pitchFamily="34" charset="-120"/>
              </a:rPr>
              <a:t>―</a:t>
            </a:r>
            <a:endParaRPr lang="en-US" sz="1200" dirty="0"/>
          </a:p>
        </p:txBody>
      </p:sp>
      <p:sp>
        <p:nvSpPr>
          <p:cNvPr id="21" name="Shape 19"/>
          <p:cNvSpPr/>
          <p:nvPr/>
        </p:nvSpPr>
        <p:spPr>
          <a:xfrm>
            <a:off x="3271838" y="6683693"/>
            <a:ext cx="123825" cy="123825"/>
          </a:xfrm>
          <a:prstGeom prst="ellipse">
            <a:avLst/>
          </a:prstGeom>
          <a:solidFill>
            <a:srgbClr val="7CC2F5"/>
          </a:solidFill>
          <a:ln/>
        </p:spPr>
      </p:sp>
      <p:sp>
        <p:nvSpPr>
          <p:cNvPr id="22" name="Text 20"/>
          <p:cNvSpPr/>
          <p:nvPr/>
        </p:nvSpPr>
        <p:spPr>
          <a:xfrm>
            <a:off x="3481388" y="6669405"/>
            <a:ext cx="549473" cy="228600"/>
          </a:xfrm>
          <a:prstGeom prst="rect">
            <a:avLst/>
          </a:prstGeom>
          <a:noFill/>
          <a:ln/>
        </p:spPr>
        <p:txBody>
          <a:bodyPr wrap="square" lIns="0" tIns="0" rIns="0" bIns="0" rtlCol="0" anchor="t">
            <a:normAutofit/>
          </a:bodyPr>
          <a:lstStyle/>
          <a:p>
            <a:pPr algn="l" indent="0" marL="0">
              <a:buNone/>
            </a:pPr>
            <a:r>
              <a:rPr lang="en-US" sz="1350" b="1" dirty="0">
                <a:solidFill>
                  <a:srgbClr val="FFFFFF"/>
                </a:solidFill>
                <a:latin typeface="Arial" pitchFamily="34" charset="0"/>
                <a:ea typeface="Arial" pitchFamily="34" charset="-122"/>
                <a:cs typeface="Arial" pitchFamily="34" charset="-120"/>
              </a:rPr>
              <a:t>백엔드</a:t>
            </a:r>
            <a:endParaRPr lang="en-US" sz="1350" dirty="0"/>
          </a:p>
        </p:txBody>
      </p:sp>
      <p:sp>
        <p:nvSpPr>
          <p:cNvPr id="23" name="Text 21"/>
          <p:cNvSpPr/>
          <p:nvPr/>
        </p:nvSpPr>
        <p:spPr>
          <a:xfrm>
            <a:off x="4107061" y="6657975"/>
            <a:ext cx="228600" cy="213360"/>
          </a:xfrm>
          <a:prstGeom prst="rect">
            <a:avLst/>
          </a:prstGeom>
          <a:noFill/>
          <a:ln/>
        </p:spPr>
        <p:txBody>
          <a:bodyPr wrap="square" lIns="25400" tIns="25400" rIns="25400" bIns="25400" rtlCol="0" anchor="t">
            <a:normAutofit/>
          </a:bodyPr>
          <a:lstStyle/>
          <a:p>
            <a:pPr algn="l" indent="0" marL="0">
              <a:buNone/>
            </a:pPr>
            <a:r>
              <a:rPr lang="en-US" sz="1200" dirty="0">
                <a:solidFill>
                  <a:srgbClr val="FFFFFF">
                    <a:alpha val="40000"/>
                  </a:srgbClr>
                </a:solidFill>
                <a:latin typeface="Arial" pitchFamily="34" charset="0"/>
                <a:ea typeface="Arial" pitchFamily="34" charset="-122"/>
                <a:cs typeface="Arial" pitchFamily="34" charset="-120"/>
              </a:rPr>
              <a:t>―</a:t>
            </a:r>
            <a:endParaRPr lang="en-US" sz="1200" dirty="0"/>
          </a:p>
        </p:txBody>
      </p:sp>
      <p:sp>
        <p:nvSpPr>
          <p:cNvPr id="24" name="Shape 22"/>
          <p:cNvSpPr/>
          <p:nvPr/>
        </p:nvSpPr>
        <p:spPr>
          <a:xfrm>
            <a:off x="4411861" y="6683693"/>
            <a:ext cx="123825" cy="123825"/>
          </a:xfrm>
          <a:prstGeom prst="ellipse">
            <a:avLst/>
          </a:prstGeom>
          <a:solidFill>
            <a:srgbClr val="F58FC2"/>
          </a:solidFill>
          <a:ln/>
        </p:spPr>
      </p:sp>
      <p:sp>
        <p:nvSpPr>
          <p:cNvPr id="25" name="Text 23"/>
          <p:cNvSpPr/>
          <p:nvPr/>
        </p:nvSpPr>
        <p:spPr>
          <a:xfrm>
            <a:off x="4621411" y="6669405"/>
            <a:ext cx="549473" cy="228600"/>
          </a:xfrm>
          <a:prstGeom prst="rect">
            <a:avLst/>
          </a:prstGeom>
          <a:noFill/>
          <a:ln/>
        </p:spPr>
        <p:txBody>
          <a:bodyPr wrap="square" lIns="0" tIns="0" rIns="0" bIns="0" rtlCol="0" anchor="t">
            <a:normAutofit/>
          </a:bodyPr>
          <a:lstStyle/>
          <a:p>
            <a:pPr algn="l" indent="0" marL="0">
              <a:buNone/>
            </a:pPr>
            <a:r>
              <a:rPr lang="en-US" sz="1350" b="1" dirty="0">
                <a:solidFill>
                  <a:srgbClr val="FFFFFF"/>
                </a:solidFill>
                <a:latin typeface="Arial" pitchFamily="34" charset="0"/>
                <a:ea typeface="Arial" pitchFamily="34" charset="-122"/>
                <a:cs typeface="Arial" pitchFamily="34" charset="-120"/>
              </a:rPr>
              <a:t>프론트</a:t>
            </a:r>
            <a:endParaRPr lang="en-US" sz="1350" dirty="0"/>
          </a:p>
        </p:txBody>
      </p:sp>
      <p:sp>
        <p:nvSpPr>
          <p:cNvPr id="26" name="Text 24"/>
          <p:cNvSpPr/>
          <p:nvPr/>
        </p:nvSpPr>
        <p:spPr>
          <a:xfrm>
            <a:off x="5247084" y="6657975"/>
            <a:ext cx="228600" cy="213360"/>
          </a:xfrm>
          <a:prstGeom prst="rect">
            <a:avLst/>
          </a:prstGeom>
          <a:noFill/>
          <a:ln/>
        </p:spPr>
        <p:txBody>
          <a:bodyPr wrap="square" lIns="25400" tIns="25400" rIns="25400" bIns="25400" rtlCol="0" anchor="t">
            <a:normAutofit/>
          </a:bodyPr>
          <a:lstStyle/>
          <a:p>
            <a:pPr algn="l" indent="0" marL="0">
              <a:buNone/>
            </a:pPr>
            <a:r>
              <a:rPr lang="en-US" sz="1200" dirty="0">
                <a:solidFill>
                  <a:srgbClr val="FFFFFF">
                    <a:alpha val="40000"/>
                  </a:srgbClr>
                </a:solidFill>
                <a:latin typeface="Arial" pitchFamily="34" charset="0"/>
                <a:ea typeface="Arial" pitchFamily="34" charset="-122"/>
                <a:cs typeface="Arial" pitchFamily="34" charset="-120"/>
              </a:rPr>
              <a:t>―</a:t>
            </a:r>
            <a:endParaRPr lang="en-US" sz="1200" dirty="0"/>
          </a:p>
        </p:txBody>
      </p:sp>
      <p:sp>
        <p:nvSpPr>
          <p:cNvPr id="27" name="Shape 25"/>
          <p:cNvSpPr/>
          <p:nvPr/>
        </p:nvSpPr>
        <p:spPr>
          <a:xfrm>
            <a:off x="5551884" y="6683693"/>
            <a:ext cx="123825" cy="123825"/>
          </a:xfrm>
          <a:prstGeom prst="ellipse">
            <a:avLst/>
          </a:prstGeom>
          <a:solidFill>
            <a:srgbClr val="F5BC6A"/>
          </a:solidFill>
          <a:ln/>
        </p:spPr>
      </p:sp>
      <p:sp>
        <p:nvSpPr>
          <p:cNvPr id="28" name="Text 26"/>
          <p:cNvSpPr/>
          <p:nvPr/>
        </p:nvSpPr>
        <p:spPr>
          <a:xfrm>
            <a:off x="5761434" y="6669405"/>
            <a:ext cx="391716" cy="228600"/>
          </a:xfrm>
          <a:prstGeom prst="rect">
            <a:avLst/>
          </a:prstGeom>
          <a:noFill/>
          <a:ln/>
        </p:spPr>
        <p:txBody>
          <a:bodyPr wrap="square" lIns="0" tIns="0" rIns="0" bIns="0" rtlCol="0" anchor="t">
            <a:normAutofit/>
          </a:bodyPr>
          <a:lstStyle/>
          <a:p>
            <a:pPr algn="l" indent="0" marL="0">
              <a:buNone/>
            </a:pPr>
            <a:r>
              <a:rPr lang="en-US" sz="1350" b="1" dirty="0">
                <a:solidFill>
                  <a:srgbClr val="FFFFFF"/>
                </a:solidFill>
                <a:latin typeface="Arial" pitchFamily="34" charset="0"/>
                <a:ea typeface="Arial" pitchFamily="34" charset="-122"/>
                <a:cs typeface="Arial" pitchFamily="34" charset="-120"/>
              </a:rPr>
              <a:t>배포</a:t>
            </a:r>
            <a:endParaRPr lang="en-US" sz="1350" dirty="0"/>
          </a:p>
        </p:txBody>
      </p:sp>
      <p:sp>
        <p:nvSpPr>
          <p:cNvPr id="29" name="Text 27"/>
          <p:cNvSpPr/>
          <p:nvPr/>
        </p:nvSpPr>
        <p:spPr>
          <a:xfrm>
            <a:off x="1047750" y="9144000"/>
            <a:ext cx="2778895" cy="266700"/>
          </a:xfrm>
          <a:prstGeom prst="rect">
            <a:avLst/>
          </a:prstGeom>
          <a:noFill/>
          <a:ln/>
        </p:spPr>
        <p:txBody>
          <a:bodyPr wrap="square" lIns="25400" tIns="25400" rIns="25400" bIns="25400" rtlCol="0" anchor="t">
            <a:normAutofit/>
          </a:bodyPr>
          <a:lstStyle/>
          <a:p>
            <a:pPr algn="l" indent="0" marL="0">
              <a:buNone/>
            </a:pPr>
            <a:r>
              <a:rPr lang="en-US" sz="1500" b="1" dirty="0">
                <a:solidFill>
                  <a:srgbClr val="FFFFFF">
                    <a:alpha val="85000"/>
                  </a:srgbClr>
                </a:solidFill>
                <a:latin typeface="Arial" pitchFamily="34" charset="0"/>
                <a:ea typeface="Arial" pitchFamily="34" charset="-122"/>
                <a:cs typeface="Arial" pitchFamily="34" charset="-120"/>
              </a:rPr>
              <a:t>SKN28 4기 2팀 · 2026-06-26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8FC"/>
        </a:solidFill>
      </p:bgPr>
    </p:bg>
    <p:spTree>
      <p:nvGrpSpPr>
        <p:cNvPr id="1" name=""/>
        <p:cNvGrpSpPr/>
        <p:nvPr/>
      </p:nvGrpSpPr>
      <p:grpSpPr>
        <a:xfrm>
          <a:off x="0" y="0"/>
          <a:ext cx="0" cy="0"/>
          <a:chOff x="0" y="0"/>
          <a:chExt cx="0" cy="0"/>
        </a:xfrm>
      </p:grpSpPr>
      <p:sp>
        <p:nvSpPr>
          <p:cNvPr id="2" name="Text 0"/>
          <p:cNvSpPr/>
          <p:nvPr/>
        </p:nvSpPr>
        <p:spPr>
          <a:xfrm>
            <a:off x="762000" y="609600"/>
            <a:ext cx="18440400" cy="259080"/>
          </a:xfrm>
          <a:prstGeom prst="rect">
            <a:avLst/>
          </a:prstGeom>
          <a:noFill/>
          <a:ln/>
        </p:spPr>
        <p:txBody>
          <a:bodyPr wrap="square" lIns="25400" tIns="25400" rIns="25400" bIns="25400" rtlCol="0" anchor="t">
            <a:normAutofit/>
          </a:bodyPr>
          <a:lstStyle/>
          <a:p>
            <a:pPr algn="l" indent="0" marL="0">
              <a:buNone/>
            </a:pPr>
            <a:r>
              <a:rPr lang="en-US" sz="1200" b="1" spc="48" kern="0" dirty="0">
                <a:solidFill>
                  <a:srgbClr val="2E8BE0"/>
                </a:solidFill>
                <a:latin typeface="Arial" pitchFamily="34" charset="0"/>
                <a:ea typeface="Arial" pitchFamily="34" charset="-122"/>
                <a:cs typeface="Arial" pitchFamily="34" charset="-120"/>
              </a:rPr>
              <a:t>02 · 프로젝트 정의</a:t>
            </a:r>
            <a:endParaRPr lang="en-US" sz="1200" dirty="0"/>
          </a:p>
        </p:txBody>
      </p:sp>
      <p:sp>
        <p:nvSpPr>
          <p:cNvPr id="3" name="Text 1"/>
          <p:cNvSpPr/>
          <p:nvPr/>
        </p:nvSpPr>
        <p:spPr>
          <a:xfrm>
            <a:off x="762000" y="944880"/>
            <a:ext cx="18440400" cy="327660"/>
          </a:xfrm>
          <a:prstGeom prst="rect">
            <a:avLst/>
          </a:prstGeom>
          <a:noFill/>
          <a:ln/>
        </p:spPr>
        <p:txBody>
          <a:bodyPr wrap="square" lIns="25400" tIns="25400" rIns="25400" bIns="25400" rtlCol="0" anchor="t">
            <a:normAutofit/>
          </a:bodyPr>
          <a:lstStyle/>
          <a:p>
            <a:pPr algn="l" indent="0" marL="0">
              <a:buNone/>
            </a:pPr>
            <a:r>
              <a:rPr lang="en-US" sz="1575" b="1" spc="32" kern="0" dirty="0">
                <a:solidFill>
                  <a:srgbClr val="6E8197"/>
                </a:solidFill>
                <a:latin typeface="Arial" pitchFamily="34" charset="0"/>
                <a:ea typeface="Arial" pitchFamily="34" charset="-122"/>
                <a:cs typeface="Arial" pitchFamily="34" charset="-120"/>
              </a:rPr>
              <a:t>주제</a:t>
            </a:r>
            <a:endParaRPr lang="en-US" sz="1575" dirty="0"/>
          </a:p>
        </p:txBody>
      </p:sp>
      <p:sp>
        <p:nvSpPr>
          <p:cNvPr id="4" name="Text 2"/>
          <p:cNvSpPr/>
          <p:nvPr/>
        </p:nvSpPr>
        <p:spPr>
          <a:xfrm>
            <a:off x="762000" y="1329690"/>
            <a:ext cx="15716250" cy="632460"/>
          </a:xfrm>
          <a:prstGeom prst="rect">
            <a:avLst/>
          </a:prstGeom>
          <a:noFill/>
          <a:ln/>
        </p:spPr>
        <p:txBody>
          <a:bodyPr wrap="square" lIns="25400" tIns="25400" rIns="25400" bIns="25400" rtlCol="0" anchor="t">
            <a:normAutofit/>
          </a:bodyPr>
          <a:lstStyle/>
          <a:p>
            <a:pPr algn="l" indent="0" marL="0">
              <a:lnSpc>
                <a:spcPct val="120000"/>
              </a:lnSpc>
              <a:buNone/>
            </a:pPr>
            <a:r>
              <a:rPr lang="en-US" sz="3900" b="1" spc="-117" kern="0" dirty="0">
                <a:solidFill>
                  <a:srgbClr val="143257"/>
                </a:solidFill>
                <a:latin typeface="Arial" pitchFamily="34" charset="0"/>
                <a:ea typeface="Arial" pitchFamily="34" charset="-122"/>
                <a:cs typeface="Arial" pitchFamily="34" charset="-120"/>
              </a:rPr>
              <a:t>LLM을 연동한 </a:t>
            </a:r>
            <a:pPr algn="l" indent="0" marL="0">
              <a:lnSpc>
                <a:spcPct val="120000"/>
              </a:lnSpc>
              <a:buNone/>
            </a:pPr>
            <a:r>
              <a:rPr lang="en-US" sz="3900" b="1" spc="-117" kern="0" dirty="0">
                <a:solidFill>
                  <a:srgbClr val="2E8BE0"/>
                </a:solidFill>
                <a:latin typeface="Arial" pitchFamily="34" charset="0"/>
                <a:ea typeface="Arial" pitchFamily="34" charset="-122"/>
                <a:cs typeface="Arial" pitchFamily="34" charset="-120"/>
              </a:rPr>
              <a:t>내·외부 문서 기반 </a:t>
            </a:r>
            <a:pPr algn="l" indent="0" marL="0">
              <a:lnSpc>
                <a:spcPct val="120000"/>
              </a:lnSpc>
              <a:buNone/>
            </a:pPr>
            <a:r>
              <a:rPr lang="en-US" sz="3900" b="1" spc="-117" kern="0" dirty="0">
                <a:solidFill>
                  <a:srgbClr val="143257"/>
                </a:solidFill>
                <a:latin typeface="Arial" pitchFamily="34" charset="0"/>
                <a:ea typeface="Arial" pitchFamily="34" charset="-122"/>
                <a:cs typeface="Arial" pitchFamily="34" charset="-120"/>
              </a:rPr>
              <a:t>질의응답 웹 애플리케이션</a:t>
            </a:r>
            <a:endParaRPr lang="en-US" sz="3900" dirty="0"/>
          </a:p>
        </p:txBody>
      </p:sp>
      <p:sp>
        <p:nvSpPr>
          <p:cNvPr id="5" name="Shape 3"/>
          <p:cNvSpPr/>
          <p:nvPr/>
        </p:nvSpPr>
        <p:spPr>
          <a:xfrm>
            <a:off x="762000" y="2190750"/>
            <a:ext cx="9127450" cy="1322070"/>
          </a:xfrm>
          <a:prstGeom prst="roundRect">
            <a:avLst>
              <a:gd name="adj" fmla="val 14409"/>
            </a:avLst>
          </a:prstGeom>
          <a:solidFill>
            <a:srgbClr val="FFFFFF"/>
          </a:solidFill>
          <a:ln w="7620">
            <a:solidFill>
              <a:srgbClr val="E6EEF7"/>
            </a:solidFill>
            <a:prstDash val="solid"/>
          </a:ln>
          <a:effectLst>
            <a:outerShdw sx="100000" sy="100000" kx="0" ky="0" algn="bl" rotWithShape="0" blurRad="342900" dist="133350" dir="5400000">
              <a:srgbClr val="2E8BE0">
                <a:alpha val="10000"/>
              </a:srgbClr>
            </a:outerShdw>
          </a:effectLst>
        </p:spPr>
      </p:sp>
      <p:sp>
        <p:nvSpPr>
          <p:cNvPr id="6" name="Text 4"/>
          <p:cNvSpPr/>
          <p:nvPr/>
        </p:nvSpPr>
        <p:spPr>
          <a:xfrm>
            <a:off x="1112520" y="2484120"/>
            <a:ext cx="9269052" cy="259080"/>
          </a:xfrm>
          <a:prstGeom prst="rect">
            <a:avLst/>
          </a:prstGeom>
          <a:noFill/>
          <a:ln/>
        </p:spPr>
        <p:txBody>
          <a:bodyPr wrap="square" lIns="25400" tIns="25400" rIns="25400" bIns="25400" rtlCol="0" anchor="t">
            <a:normAutofit/>
          </a:bodyPr>
          <a:lstStyle/>
          <a:p>
            <a:pPr algn="l" indent="0" marL="0">
              <a:buNone/>
            </a:pPr>
            <a:r>
              <a:rPr lang="en-US" sz="1200" b="1" spc="60" kern="0" dirty="0">
                <a:solidFill>
                  <a:srgbClr val="2E8BE0"/>
                </a:solidFill>
                <a:latin typeface="Arial" pitchFamily="34" charset="0"/>
                <a:ea typeface="Arial" pitchFamily="34" charset="-122"/>
                <a:cs typeface="Arial" pitchFamily="34" charset="-120"/>
              </a:rPr>
              <a:t>한 줄 정의</a:t>
            </a:r>
            <a:endParaRPr lang="en-US" sz="1200" dirty="0"/>
          </a:p>
        </p:txBody>
      </p:sp>
      <p:sp>
        <p:nvSpPr>
          <p:cNvPr id="7" name="Text 5"/>
          <p:cNvSpPr/>
          <p:nvPr/>
        </p:nvSpPr>
        <p:spPr>
          <a:xfrm>
            <a:off x="1112520" y="2819400"/>
            <a:ext cx="9269052" cy="438150"/>
          </a:xfrm>
          <a:prstGeom prst="rect">
            <a:avLst/>
          </a:prstGeom>
          <a:noFill/>
          <a:ln/>
        </p:spPr>
        <p:txBody>
          <a:bodyPr wrap="square" lIns="25400" tIns="25400" rIns="25400" bIns="25400" rtlCol="0" anchor="t">
            <a:normAutofit/>
          </a:bodyPr>
          <a:lstStyle/>
          <a:p>
            <a:pPr algn="l" indent="0" marL="0">
              <a:lnSpc>
                <a:spcPct val="140000"/>
              </a:lnSpc>
              <a:buNone/>
            </a:pPr>
            <a:r>
              <a:rPr lang="en-US" sz="2250" b="1" spc="-45" kern="0" dirty="0">
                <a:solidFill>
                  <a:srgbClr val="143257"/>
                </a:solidFill>
                <a:latin typeface="Arial" pitchFamily="34" charset="0"/>
                <a:ea typeface="Arial" pitchFamily="34" charset="-122"/>
                <a:cs typeface="Arial" pitchFamily="34" charset="-120"/>
              </a:rPr>
              <a:t>흩어진 KAIST 학과 정보를 출처와 함께 대화로 답한다</a:t>
            </a:r>
            <a:endParaRPr lang="en-US" sz="2250" dirty="0"/>
          </a:p>
        </p:txBody>
      </p:sp>
      <p:sp>
        <p:nvSpPr>
          <p:cNvPr id="8" name="Shape 6"/>
          <p:cNvSpPr/>
          <p:nvPr/>
        </p:nvSpPr>
        <p:spPr>
          <a:xfrm>
            <a:off x="10099001" y="2190750"/>
            <a:ext cx="7427000" cy="1322070"/>
          </a:xfrm>
          <a:prstGeom prst="roundRect">
            <a:avLst>
              <a:gd name="adj" fmla="val 14409"/>
            </a:avLst>
          </a:prstGeom>
          <a:gradFill rotWithShape="1">
            <a:gsLst>
              <a:gs pos="0">
                <a:srgbClr val="2E86DD">
                  <a:alpha val="100000"/>
                </a:srgbClr>
              </a:gs>
              <a:gs pos="100000">
                <a:srgbClr val="1E63B5">
                  <a:alpha val="100000"/>
                </a:srgbClr>
              </a:gs>
            </a:gsLst>
            <a:lin ang="3900000" scaled="0"/>
          </a:gradFill>
          <a:ln/>
          <a:effectLst>
            <a:outerShdw sx="100000" sy="100000" kx="0" ky="0" algn="bl" rotWithShape="0" blurRad="342900" dist="133350" dir="5400000">
              <a:srgbClr val="1E63B5">
                <a:alpha val="28000"/>
              </a:srgbClr>
            </a:outerShdw>
          </a:effectLst>
        </p:spPr>
      </p:sp>
      <p:sp>
        <p:nvSpPr>
          <p:cNvPr id="9" name="Text 7"/>
          <p:cNvSpPr/>
          <p:nvPr/>
        </p:nvSpPr>
        <p:spPr>
          <a:xfrm>
            <a:off x="10441901" y="2476500"/>
            <a:ext cx="7415320" cy="259080"/>
          </a:xfrm>
          <a:prstGeom prst="rect">
            <a:avLst/>
          </a:prstGeom>
          <a:noFill/>
          <a:ln/>
        </p:spPr>
        <p:txBody>
          <a:bodyPr wrap="square" lIns="25400" tIns="25400" rIns="25400" bIns="25400" rtlCol="0" anchor="t">
            <a:normAutofit/>
          </a:bodyPr>
          <a:lstStyle/>
          <a:p>
            <a:pPr algn="l" indent="0" marL="0">
              <a:buNone/>
            </a:pPr>
            <a:r>
              <a:rPr lang="en-US" sz="1200" b="1" spc="60" kern="0" dirty="0">
                <a:solidFill>
                  <a:srgbClr val="FFFFFF">
                    <a:alpha val="80000"/>
                  </a:srgbClr>
                </a:solidFill>
                <a:latin typeface="Arial" pitchFamily="34" charset="0"/>
                <a:ea typeface="Arial" pitchFamily="34" charset="-122"/>
                <a:cs typeface="Arial" pitchFamily="34" charset="-120"/>
              </a:rPr>
              <a:t>이번 4차의 의미</a:t>
            </a:r>
            <a:endParaRPr lang="en-US" sz="1200" dirty="0"/>
          </a:p>
        </p:txBody>
      </p:sp>
      <p:sp>
        <p:nvSpPr>
          <p:cNvPr id="10" name="Text 8"/>
          <p:cNvSpPr/>
          <p:nvPr/>
        </p:nvSpPr>
        <p:spPr>
          <a:xfrm>
            <a:off x="10441901" y="2811780"/>
            <a:ext cx="7415320" cy="438150"/>
          </a:xfrm>
          <a:prstGeom prst="rect">
            <a:avLst/>
          </a:prstGeom>
          <a:noFill/>
          <a:ln/>
        </p:spPr>
        <p:txBody>
          <a:bodyPr wrap="square" lIns="25400" tIns="25400" rIns="25400" bIns="25400" rtlCol="0" anchor="t">
            <a:normAutofit/>
          </a:bodyPr>
          <a:lstStyle/>
          <a:p>
            <a:pPr algn="l" indent="0" marL="0">
              <a:lnSpc>
                <a:spcPct val="140000"/>
              </a:lnSpc>
              <a:buNone/>
            </a:pPr>
            <a:r>
              <a:rPr lang="en-US" sz="2250" b="1" spc="-45" kern="0" dirty="0">
                <a:solidFill>
                  <a:srgbClr val="FFFFFF"/>
                </a:solidFill>
                <a:latin typeface="Arial" pitchFamily="34" charset="0"/>
                <a:ea typeface="Arial" pitchFamily="34" charset="-122"/>
                <a:cs typeface="Arial" pitchFamily="34" charset="-120"/>
              </a:rPr>
              <a:t>모델 한 조각이 아니라 전체 서비스 구조를 연결</a:t>
            </a:r>
            <a:endParaRPr lang="en-US" sz="2250" dirty="0"/>
          </a:p>
        </p:txBody>
      </p:sp>
      <p:sp>
        <p:nvSpPr>
          <p:cNvPr id="11" name="Shape 9"/>
          <p:cNvSpPr/>
          <p:nvPr/>
        </p:nvSpPr>
        <p:spPr>
          <a:xfrm>
            <a:off x="762000" y="3722370"/>
            <a:ext cx="16764000" cy="5955030"/>
          </a:xfrm>
          <a:prstGeom prst="roundRect">
            <a:avLst>
              <a:gd name="adj" fmla="val 3199"/>
            </a:avLst>
          </a:prstGeom>
          <a:solidFill>
            <a:srgbClr val="FFFFFF"/>
          </a:solidFill>
          <a:ln w="7620">
            <a:solidFill>
              <a:srgbClr val="E6EEF7"/>
            </a:solidFill>
            <a:prstDash val="solid"/>
          </a:ln>
          <a:effectLst>
            <a:outerShdw sx="100000" sy="100000" kx="0" ky="0" algn="bl" rotWithShape="0" blurRad="285750" dist="114300" dir="5400000">
              <a:srgbClr val="2E8BE0">
                <a:alpha val="8000"/>
              </a:srgbClr>
            </a:outerShdw>
          </a:effectLst>
        </p:spPr>
      </p:sp>
      <p:sp>
        <p:nvSpPr>
          <p:cNvPr id="12" name="Text 10"/>
          <p:cNvSpPr/>
          <p:nvPr/>
        </p:nvSpPr>
        <p:spPr>
          <a:xfrm>
            <a:off x="1188720" y="5695950"/>
            <a:ext cx="12891516" cy="243840"/>
          </a:xfrm>
          <a:prstGeom prst="rect">
            <a:avLst/>
          </a:prstGeom>
          <a:noFill/>
          <a:ln/>
        </p:spPr>
        <p:txBody>
          <a:bodyPr wrap="square" lIns="25400" tIns="25400" rIns="25400" bIns="25400" rtlCol="0" anchor="t">
            <a:normAutofit/>
          </a:bodyPr>
          <a:lstStyle/>
          <a:p>
            <a:pPr algn="l" indent="0" marL="0">
              <a:buNone/>
            </a:pPr>
            <a:r>
              <a:rPr lang="en-US" sz="1125" b="1" spc="56" kern="0" dirty="0">
                <a:solidFill>
                  <a:srgbClr val="94A6BA"/>
                </a:solidFill>
                <a:latin typeface="Arial" pitchFamily="34" charset="0"/>
                <a:ea typeface="Arial" pitchFamily="34" charset="-122"/>
                <a:cs typeface="Arial" pitchFamily="34" charset="-120"/>
              </a:rPr>
              <a:t>대상 사용자</a:t>
            </a:r>
            <a:endParaRPr lang="en-US" sz="1125" dirty="0"/>
          </a:p>
        </p:txBody>
      </p:sp>
      <p:sp>
        <p:nvSpPr>
          <p:cNvPr id="13" name="Text 11"/>
          <p:cNvSpPr/>
          <p:nvPr/>
        </p:nvSpPr>
        <p:spPr>
          <a:xfrm>
            <a:off x="1188720" y="6015990"/>
            <a:ext cx="12891516" cy="457200"/>
          </a:xfrm>
          <a:prstGeom prst="rect">
            <a:avLst/>
          </a:prstGeom>
          <a:noFill/>
          <a:ln/>
        </p:spPr>
        <p:txBody>
          <a:bodyPr wrap="square" lIns="25400" tIns="25400" rIns="25400" bIns="25400" rtlCol="0" anchor="t">
            <a:normAutofit/>
          </a:bodyPr>
          <a:lstStyle/>
          <a:p>
            <a:pPr algn="l" indent="0" marL="0">
              <a:buNone/>
            </a:pPr>
            <a:r>
              <a:rPr lang="en-US" sz="2250" b="1" spc="-45" kern="0" dirty="0">
                <a:solidFill>
                  <a:srgbClr val="143257"/>
                </a:solidFill>
                <a:latin typeface="Arial" pitchFamily="34" charset="0"/>
                <a:ea typeface="Arial" pitchFamily="34" charset="-122"/>
                <a:cs typeface="Arial" pitchFamily="34" charset="-120"/>
              </a:rPr>
              <a:t>KAIST 재학생 · 입학 희망자</a:t>
            </a:r>
            <a:endParaRPr lang="en-US" sz="2250" dirty="0"/>
          </a:p>
        </p:txBody>
      </p:sp>
      <p:sp>
        <p:nvSpPr>
          <p:cNvPr id="14" name="Text 12"/>
          <p:cNvSpPr/>
          <p:nvPr/>
        </p:nvSpPr>
        <p:spPr>
          <a:xfrm>
            <a:off x="1188720" y="6501765"/>
            <a:ext cx="12891516" cy="259080"/>
          </a:xfrm>
          <a:prstGeom prst="rect">
            <a:avLst/>
          </a:prstGeom>
          <a:noFill/>
          <a:ln/>
        </p:spPr>
        <p:txBody>
          <a:bodyPr wrap="square" lIns="25400" tIns="25400" rIns="25400" bIns="25400" rtlCol="0" anchor="t">
            <a:normAutofit/>
          </a:bodyPr>
          <a:lstStyle/>
          <a:p>
            <a:pPr algn="l" indent="0" marL="0">
              <a:buNone/>
            </a:pPr>
            <a:r>
              <a:rPr lang="en-US" sz="1425" b="1" dirty="0">
                <a:solidFill>
                  <a:srgbClr val="6E8197"/>
                </a:solidFill>
                <a:latin typeface="Arial" pitchFamily="34" charset="0"/>
                <a:ea typeface="Arial" pitchFamily="34" charset="-122"/>
                <a:cs typeface="Arial" pitchFamily="34" charset="-120"/>
              </a:rPr>
              <a:t>학과·교수·교과목 정보를 찾는 사람</a:t>
            </a:r>
            <a:endParaRPr lang="en-US" sz="1425" dirty="0"/>
          </a:p>
        </p:txBody>
      </p:sp>
      <p:sp>
        <p:nvSpPr>
          <p:cNvPr id="15" name="Shape 13"/>
          <p:cNvSpPr/>
          <p:nvPr/>
        </p:nvSpPr>
        <p:spPr>
          <a:xfrm>
            <a:off x="1188720" y="6970395"/>
            <a:ext cx="11719560" cy="9525"/>
          </a:xfrm>
          <a:prstGeom prst="rect">
            <a:avLst/>
          </a:prstGeom>
          <a:solidFill>
            <a:srgbClr val="EAF0F6"/>
          </a:solidFill>
          <a:ln/>
        </p:spPr>
      </p:sp>
      <p:sp>
        <p:nvSpPr>
          <p:cNvPr id="16" name="Text 14"/>
          <p:cNvSpPr/>
          <p:nvPr/>
        </p:nvSpPr>
        <p:spPr>
          <a:xfrm>
            <a:off x="1188720" y="7227570"/>
            <a:ext cx="326827" cy="514350"/>
          </a:xfrm>
          <a:prstGeom prst="rect">
            <a:avLst/>
          </a:prstGeom>
          <a:noFill/>
          <a:ln/>
        </p:spPr>
        <p:txBody>
          <a:bodyPr wrap="square" lIns="25400" tIns="25400" rIns="25400" bIns="25400" rtlCol="0" anchor="t">
            <a:normAutofit/>
          </a:bodyPr>
          <a:lstStyle/>
          <a:p>
            <a:pPr algn="l" indent="0" marL="0">
              <a:lnSpc>
                <a:spcPct val="100000"/>
              </a:lnSpc>
              <a:buNone/>
            </a:pPr>
            <a:r>
              <a:rPr lang="en-US" sz="3750" b="1" spc="-112" kern="0" dirty="0">
                <a:solidFill>
                  <a:srgbClr val="2E8BE0"/>
                </a:solidFill>
                <a:latin typeface="Arial" pitchFamily="34" charset="0"/>
                <a:ea typeface="Arial" pitchFamily="34" charset="-122"/>
                <a:cs typeface="Arial" pitchFamily="34" charset="-120"/>
              </a:rPr>
              <a:t>3</a:t>
            </a:r>
            <a:endParaRPr lang="en-US" sz="3750" dirty="0"/>
          </a:p>
        </p:txBody>
      </p:sp>
      <p:sp>
        <p:nvSpPr>
          <p:cNvPr id="17" name="Text 15"/>
          <p:cNvSpPr/>
          <p:nvPr/>
        </p:nvSpPr>
        <p:spPr>
          <a:xfrm>
            <a:off x="1515547" y="7433310"/>
            <a:ext cx="707231" cy="281940"/>
          </a:xfrm>
          <a:prstGeom prst="rect">
            <a:avLst/>
          </a:prstGeom>
          <a:noFill/>
          <a:ln/>
        </p:spPr>
        <p:txBody>
          <a:bodyPr wrap="square" lIns="25400" tIns="25400" rIns="25400" bIns="25400" rtlCol="0" anchor="t">
            <a:normAutofit/>
          </a:bodyPr>
          <a:lstStyle/>
          <a:p>
            <a:pPr algn="l" indent="0" marL="0">
              <a:buNone/>
            </a:pPr>
            <a:r>
              <a:rPr lang="en-US" sz="1350" b="1" dirty="0">
                <a:solidFill>
                  <a:srgbClr val="6E8197"/>
                </a:solidFill>
                <a:latin typeface="Arial" pitchFamily="34" charset="0"/>
                <a:ea typeface="Arial" pitchFamily="34" charset="-122"/>
                <a:cs typeface="Arial" pitchFamily="34" charset="-120"/>
              </a:rPr>
              <a:t>단과대학</a:t>
            </a:r>
            <a:endParaRPr lang="en-US" sz="1350" dirty="0"/>
          </a:p>
        </p:txBody>
      </p:sp>
      <p:sp>
        <p:nvSpPr>
          <p:cNvPr id="18" name="Text 16"/>
          <p:cNvSpPr/>
          <p:nvPr/>
        </p:nvSpPr>
        <p:spPr>
          <a:xfrm>
            <a:off x="2565678" y="7227570"/>
            <a:ext cx="577453" cy="514350"/>
          </a:xfrm>
          <a:prstGeom prst="rect">
            <a:avLst/>
          </a:prstGeom>
          <a:noFill/>
          <a:ln/>
        </p:spPr>
        <p:txBody>
          <a:bodyPr wrap="square" lIns="25400" tIns="25400" rIns="25400" bIns="25400" rtlCol="0" anchor="t">
            <a:normAutofit/>
          </a:bodyPr>
          <a:lstStyle/>
          <a:p>
            <a:pPr algn="l" indent="0" marL="0">
              <a:lnSpc>
                <a:spcPct val="100000"/>
              </a:lnSpc>
              <a:buNone/>
            </a:pPr>
            <a:r>
              <a:rPr lang="en-US" sz="3750" b="1" spc="-112" kern="0" dirty="0">
                <a:solidFill>
                  <a:srgbClr val="2E8BE0"/>
                </a:solidFill>
                <a:latin typeface="Arial" pitchFamily="34" charset="0"/>
                <a:ea typeface="Arial" pitchFamily="34" charset="-122"/>
                <a:cs typeface="Arial" pitchFamily="34" charset="-120"/>
              </a:rPr>
              <a:t>13</a:t>
            </a:r>
            <a:endParaRPr lang="en-US" sz="3750" dirty="0"/>
          </a:p>
        </p:txBody>
      </p:sp>
      <p:sp>
        <p:nvSpPr>
          <p:cNvPr id="19" name="Text 17"/>
          <p:cNvSpPr/>
          <p:nvPr/>
        </p:nvSpPr>
        <p:spPr>
          <a:xfrm>
            <a:off x="3143131" y="7433310"/>
            <a:ext cx="922020" cy="281940"/>
          </a:xfrm>
          <a:prstGeom prst="rect">
            <a:avLst/>
          </a:prstGeom>
          <a:noFill/>
          <a:ln/>
        </p:spPr>
        <p:txBody>
          <a:bodyPr wrap="square" lIns="25400" tIns="25400" rIns="25400" bIns="25400" rtlCol="0" anchor="t">
            <a:normAutofit/>
          </a:bodyPr>
          <a:lstStyle/>
          <a:p>
            <a:pPr algn="l" indent="0" marL="0">
              <a:buNone/>
            </a:pPr>
            <a:r>
              <a:rPr lang="en-US" sz="1350" b="1" dirty="0">
                <a:solidFill>
                  <a:srgbClr val="6E8197"/>
                </a:solidFill>
                <a:latin typeface="Arial" pitchFamily="34" charset="0"/>
                <a:ea typeface="Arial" pitchFamily="34" charset="-122"/>
                <a:cs typeface="Arial" pitchFamily="34" charset="-120"/>
              </a:rPr>
              <a:t>학과·대학원</a:t>
            </a:r>
            <a:endParaRPr lang="en-US" sz="1350" dirty="0"/>
          </a:p>
        </p:txBody>
      </p:sp>
      <p:sp>
        <p:nvSpPr>
          <p:cNvPr id="20" name="Text 18"/>
          <p:cNvSpPr/>
          <p:nvPr/>
        </p:nvSpPr>
        <p:spPr>
          <a:xfrm>
            <a:off x="4408051" y="7227570"/>
            <a:ext cx="1196578" cy="514350"/>
          </a:xfrm>
          <a:prstGeom prst="rect">
            <a:avLst/>
          </a:prstGeom>
          <a:noFill/>
          <a:ln/>
        </p:spPr>
        <p:txBody>
          <a:bodyPr wrap="square" lIns="25400" tIns="25400" rIns="25400" bIns="25400" rtlCol="0" anchor="t">
            <a:normAutofit/>
          </a:bodyPr>
          <a:lstStyle/>
          <a:p>
            <a:pPr algn="l" indent="0" marL="0">
              <a:lnSpc>
                <a:spcPct val="100000"/>
              </a:lnSpc>
              <a:buNone/>
            </a:pPr>
            <a:r>
              <a:rPr lang="en-US" sz="3750" b="1" spc="-112" kern="0" dirty="0">
                <a:solidFill>
                  <a:srgbClr val="2E8BE0"/>
                </a:solidFill>
                <a:latin typeface="Arial" pitchFamily="34" charset="0"/>
                <a:ea typeface="Arial" pitchFamily="34" charset="-122"/>
                <a:cs typeface="Arial" pitchFamily="34" charset="-120"/>
              </a:rPr>
              <a:t>7,759</a:t>
            </a:r>
            <a:endParaRPr lang="en-US" sz="3750" dirty="0"/>
          </a:p>
        </p:txBody>
      </p:sp>
      <p:sp>
        <p:nvSpPr>
          <p:cNvPr id="21" name="Text 19"/>
          <p:cNvSpPr/>
          <p:nvPr/>
        </p:nvSpPr>
        <p:spPr>
          <a:xfrm>
            <a:off x="5604629" y="7433310"/>
            <a:ext cx="982623" cy="281940"/>
          </a:xfrm>
          <a:prstGeom prst="rect">
            <a:avLst/>
          </a:prstGeom>
          <a:noFill/>
          <a:ln/>
        </p:spPr>
        <p:txBody>
          <a:bodyPr wrap="square" lIns="25400" tIns="25400" rIns="25400" bIns="25400" rtlCol="0" anchor="t">
            <a:normAutofit/>
          </a:bodyPr>
          <a:lstStyle/>
          <a:p>
            <a:pPr algn="l" indent="0" marL="0">
              <a:buNone/>
            </a:pPr>
            <a:r>
              <a:rPr lang="en-US" sz="1350" b="1" dirty="0">
                <a:solidFill>
                  <a:srgbClr val="6E8197"/>
                </a:solidFill>
                <a:latin typeface="Arial" pitchFamily="34" charset="0"/>
                <a:ea typeface="Arial" pitchFamily="34" charset="-122"/>
                <a:cs typeface="Arial" pitchFamily="34" charset="-120"/>
              </a:rPr>
              <a:t>지식 chunks</a:t>
            </a:r>
            <a:endParaRPr lang="en-US" sz="1350" dirty="0"/>
          </a:p>
        </p:txBody>
      </p:sp>
      <p:sp>
        <p:nvSpPr>
          <p:cNvPr id="22" name="Shape 20"/>
          <p:cNvSpPr/>
          <p:nvPr/>
        </p:nvSpPr>
        <p:spPr>
          <a:xfrm>
            <a:off x="13327381" y="3729990"/>
            <a:ext cx="4191000" cy="5939790"/>
          </a:xfrm>
          <a:prstGeom prst="rect">
            <a:avLst/>
          </a:prstGeom>
          <a:gradFill rotWithShape="1">
            <a:gsLst>
              <a:gs pos="0">
                <a:srgbClr val="EAF4FD">
                  <a:alpha val="100000"/>
                </a:srgbClr>
              </a:gs>
              <a:gs pos="100000">
                <a:srgbClr val="D5E8FA">
                  <a:alpha val="100000"/>
                </a:srgbClr>
              </a:gs>
            </a:gsLst>
            <a:lin ang="3600000" scaled="0"/>
          </a:gradFill>
          <a:ln/>
        </p:spPr>
      </p:sp>
      <p:sp>
        <p:nvSpPr>
          <p:cNvPr id="23" name="Shape 21"/>
          <p:cNvSpPr/>
          <p:nvPr/>
        </p:nvSpPr>
        <p:spPr>
          <a:xfrm>
            <a:off x="14329649" y="5266373"/>
            <a:ext cx="2186464" cy="556260"/>
          </a:xfrm>
          <a:prstGeom prst="roundRect">
            <a:avLst>
              <a:gd name="adj" fmla="val 30822"/>
            </a:avLst>
          </a:prstGeom>
          <a:solidFill>
            <a:srgbClr val="FFFFFF"/>
          </a:solidFill>
          <a:ln/>
          <a:effectLst>
            <a:outerShdw sx="100000" sy="100000" kx="0" ky="0" algn="bl" rotWithShape="0" blurRad="190500" dist="76200" dir="5400000">
              <a:srgbClr val="1E63B5">
                <a:alpha val="14000"/>
              </a:srgbClr>
            </a:outerShdw>
          </a:effectLst>
        </p:spPr>
      </p:sp>
      <p:sp>
        <p:nvSpPr>
          <p:cNvPr id="24" name="Text 22"/>
          <p:cNvSpPr/>
          <p:nvPr/>
        </p:nvSpPr>
        <p:spPr>
          <a:xfrm>
            <a:off x="14539199" y="5445443"/>
            <a:ext cx="1843563" cy="266700"/>
          </a:xfrm>
          <a:prstGeom prst="rect">
            <a:avLst/>
          </a:prstGeom>
          <a:noFill/>
          <a:ln/>
        </p:spPr>
        <p:txBody>
          <a:bodyPr wrap="square" lIns="0" tIns="0" rIns="0" bIns="0" rtlCol="0" anchor="t">
            <a:normAutofit/>
          </a:bodyPr>
          <a:lstStyle/>
          <a:p>
            <a:pPr algn="l" indent="0" marL="0">
              <a:buNone/>
            </a:pPr>
            <a:r>
              <a:rPr lang="en-US" sz="1575" b="1" dirty="0">
                <a:solidFill>
                  <a:srgbClr val="1E63B5"/>
                </a:solidFill>
                <a:latin typeface="Arial" pitchFamily="34" charset="0"/>
                <a:ea typeface="Arial" pitchFamily="34" charset="-122"/>
                <a:cs typeface="Arial" pitchFamily="34" charset="-120"/>
              </a:rPr>
              <a:t>무엇이든 물어보세요!</a:t>
            </a:r>
            <a:endParaRPr lang="en-US" sz="1575" dirty="0"/>
          </a:p>
        </p:txBody>
      </p:sp>
      <p:sp>
        <p:nvSpPr>
          <p:cNvPr id="25" name="Shape 23"/>
          <p:cNvSpPr/>
          <p:nvPr/>
        </p:nvSpPr>
        <p:spPr>
          <a:xfrm>
            <a:off x="15331440" y="5816918"/>
            <a:ext cx="182880" cy="91440"/>
          </a:xfrm>
          <a:prstGeom prst="rect">
            <a:avLst/>
          </a:prstGeom>
          <a:solidFill>
            <a:srgbClr val="FFFFFF"/>
          </a:solidFill>
          <a:ln/>
        </p:spPr>
      </p:sp>
      <p:pic>
        <p:nvPicPr>
          <p:cNvPr id="26" name="Image 0" descr="preencoded.png">    </p:cNvPr>
          <p:cNvPicPr>
            <a:picLocks noChangeAspect="1"/>
          </p:cNvPicPr>
          <p:nvPr/>
        </p:nvPicPr>
        <p:blipFill>
          <a:blip r:embed="rId1"/>
          <a:stretch>
            <a:fillRect/>
          </a:stretch>
        </p:blipFill>
        <p:spPr>
          <a:xfrm>
            <a:off x="14317981" y="5994082"/>
            <a:ext cx="2209800" cy="213919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8FC"/>
        </a:solidFill>
      </p:bgPr>
    </p:bg>
    <p:spTree>
      <p:nvGrpSpPr>
        <p:cNvPr id="1" name=""/>
        <p:cNvGrpSpPr/>
        <p:nvPr/>
      </p:nvGrpSpPr>
      <p:grpSpPr>
        <a:xfrm>
          <a:off x="0" y="0"/>
          <a:ext cx="0" cy="0"/>
          <a:chOff x="0" y="0"/>
          <a:chExt cx="0" cy="0"/>
        </a:xfrm>
      </p:grpSpPr>
      <p:sp>
        <p:nvSpPr>
          <p:cNvPr id="2" name="Shape 0"/>
          <p:cNvSpPr/>
          <p:nvPr/>
        </p:nvSpPr>
        <p:spPr>
          <a:xfrm>
            <a:off x="14761369" y="361950"/>
            <a:ext cx="562928" cy="278130"/>
          </a:xfrm>
          <a:prstGeom prst="roundRect">
            <a:avLst>
              <a:gd name="adj" fmla="val 50000"/>
            </a:avLst>
          </a:prstGeom>
          <a:solidFill>
            <a:srgbClr val="46C78D"/>
          </a:solidFill>
          <a:ln/>
        </p:spPr>
      </p:sp>
      <p:sp>
        <p:nvSpPr>
          <p:cNvPr id="3" name="Text 1"/>
          <p:cNvSpPr/>
          <p:nvPr/>
        </p:nvSpPr>
        <p:spPr>
          <a:xfrm>
            <a:off x="14875669" y="409575"/>
            <a:ext cx="410528" cy="220980"/>
          </a:xfrm>
          <a:prstGeom prst="rect">
            <a:avLst/>
          </a:prstGeom>
          <a:noFill/>
          <a:ln/>
        </p:spPr>
        <p:txBody>
          <a:bodyPr wrap="square" lIns="25400" tIns="25400" rIns="25400" bIns="25400" rtlCol="0" anchor="t">
            <a:normAutofit/>
          </a:bodyPr>
          <a:lstStyle/>
          <a:p>
            <a:pPr algn="l" indent="0" marL="0">
              <a:buNone/>
            </a:pPr>
            <a:r>
              <a:rPr lang="en-US" sz="975" b="1" spc="-19" kern="0" dirty="0">
                <a:solidFill>
                  <a:srgbClr val="FFFFFF"/>
                </a:solidFill>
                <a:latin typeface="Arial" pitchFamily="34" charset="0"/>
                <a:ea typeface="Arial" pitchFamily="34" charset="-122"/>
                <a:cs typeface="Arial" pitchFamily="34" charset="-120"/>
              </a:rPr>
              <a:t>데이터</a:t>
            </a:r>
            <a:endParaRPr lang="en-US" sz="975" dirty="0"/>
          </a:p>
        </p:txBody>
      </p:sp>
      <p:sp>
        <p:nvSpPr>
          <p:cNvPr id="4" name="Shape 2"/>
          <p:cNvSpPr/>
          <p:nvPr/>
        </p:nvSpPr>
        <p:spPr>
          <a:xfrm>
            <a:off x="15381446" y="361950"/>
            <a:ext cx="395764" cy="278130"/>
          </a:xfrm>
          <a:prstGeom prst="roundRect">
            <a:avLst>
              <a:gd name="adj" fmla="val 50000"/>
            </a:avLst>
          </a:prstGeom>
          <a:solidFill>
            <a:srgbClr val="9B7DE8"/>
          </a:solidFill>
          <a:ln/>
        </p:spPr>
      </p:sp>
      <p:sp>
        <p:nvSpPr>
          <p:cNvPr id="5" name="Text 3"/>
          <p:cNvSpPr/>
          <p:nvPr/>
        </p:nvSpPr>
        <p:spPr>
          <a:xfrm>
            <a:off x="15495746" y="409575"/>
            <a:ext cx="243364" cy="220980"/>
          </a:xfrm>
          <a:prstGeom prst="rect">
            <a:avLst/>
          </a:prstGeom>
          <a:noFill/>
          <a:ln/>
        </p:spPr>
        <p:txBody>
          <a:bodyPr wrap="square" lIns="25400" tIns="25400" rIns="25400" bIns="25400" rtlCol="0" anchor="t">
            <a:normAutofit/>
          </a:bodyPr>
          <a:lstStyle/>
          <a:p>
            <a:pPr algn="l" indent="0" marL="0">
              <a:buNone/>
            </a:pPr>
            <a:r>
              <a:rPr lang="en-US" sz="975" b="1" spc="-19" kern="0" dirty="0">
                <a:solidFill>
                  <a:srgbClr val="FFFFFF"/>
                </a:solidFill>
                <a:latin typeface="Arial" pitchFamily="34" charset="0"/>
                <a:ea typeface="Arial" pitchFamily="34" charset="-122"/>
                <a:cs typeface="Arial" pitchFamily="34" charset="-120"/>
              </a:rPr>
              <a:t>DB</a:t>
            </a:r>
            <a:endParaRPr lang="en-US" sz="975" dirty="0"/>
          </a:p>
        </p:txBody>
      </p:sp>
      <p:sp>
        <p:nvSpPr>
          <p:cNvPr id="6" name="Shape 4"/>
          <p:cNvSpPr/>
          <p:nvPr/>
        </p:nvSpPr>
        <p:spPr>
          <a:xfrm>
            <a:off x="15834360" y="361950"/>
            <a:ext cx="562928" cy="278130"/>
          </a:xfrm>
          <a:prstGeom prst="roundRect">
            <a:avLst>
              <a:gd name="adj" fmla="val 50000"/>
            </a:avLst>
          </a:prstGeom>
          <a:solidFill>
            <a:srgbClr val="2E8BE0"/>
          </a:solidFill>
          <a:ln/>
        </p:spPr>
      </p:sp>
      <p:sp>
        <p:nvSpPr>
          <p:cNvPr id="7" name="Text 5"/>
          <p:cNvSpPr/>
          <p:nvPr/>
        </p:nvSpPr>
        <p:spPr>
          <a:xfrm>
            <a:off x="15948660" y="409575"/>
            <a:ext cx="410528" cy="220980"/>
          </a:xfrm>
          <a:prstGeom prst="rect">
            <a:avLst/>
          </a:prstGeom>
          <a:noFill/>
          <a:ln/>
        </p:spPr>
        <p:txBody>
          <a:bodyPr wrap="square" lIns="25400" tIns="25400" rIns="25400" bIns="25400" rtlCol="0" anchor="t">
            <a:normAutofit/>
          </a:bodyPr>
          <a:lstStyle/>
          <a:p>
            <a:pPr algn="l" indent="0" marL="0">
              <a:buNone/>
            </a:pPr>
            <a:r>
              <a:rPr lang="en-US" sz="975" b="1" spc="-19" kern="0" dirty="0">
                <a:solidFill>
                  <a:srgbClr val="FFFFFF"/>
                </a:solidFill>
                <a:latin typeface="Arial" pitchFamily="34" charset="0"/>
                <a:ea typeface="Arial" pitchFamily="34" charset="-122"/>
                <a:cs typeface="Arial" pitchFamily="34" charset="-120"/>
              </a:rPr>
              <a:t>백엔드</a:t>
            </a:r>
            <a:endParaRPr lang="en-US" sz="975" dirty="0"/>
          </a:p>
        </p:txBody>
      </p:sp>
      <p:sp>
        <p:nvSpPr>
          <p:cNvPr id="8" name="Shape 6"/>
          <p:cNvSpPr/>
          <p:nvPr/>
        </p:nvSpPr>
        <p:spPr>
          <a:xfrm>
            <a:off x="16454438" y="361950"/>
            <a:ext cx="562928" cy="278130"/>
          </a:xfrm>
          <a:prstGeom prst="roundRect">
            <a:avLst>
              <a:gd name="adj" fmla="val 50000"/>
            </a:avLst>
          </a:prstGeom>
          <a:solidFill>
            <a:srgbClr val="F072AC"/>
          </a:solidFill>
          <a:ln/>
        </p:spPr>
      </p:sp>
      <p:sp>
        <p:nvSpPr>
          <p:cNvPr id="9" name="Text 7"/>
          <p:cNvSpPr/>
          <p:nvPr/>
        </p:nvSpPr>
        <p:spPr>
          <a:xfrm>
            <a:off x="16568738" y="409575"/>
            <a:ext cx="410528" cy="220980"/>
          </a:xfrm>
          <a:prstGeom prst="rect">
            <a:avLst/>
          </a:prstGeom>
          <a:noFill/>
          <a:ln/>
        </p:spPr>
        <p:txBody>
          <a:bodyPr wrap="square" lIns="25400" tIns="25400" rIns="25400" bIns="25400" rtlCol="0" anchor="t">
            <a:normAutofit/>
          </a:bodyPr>
          <a:lstStyle/>
          <a:p>
            <a:pPr algn="l" indent="0" marL="0">
              <a:buNone/>
            </a:pPr>
            <a:r>
              <a:rPr lang="en-US" sz="975" b="1" spc="-19" kern="0" dirty="0">
                <a:solidFill>
                  <a:srgbClr val="FFFFFF"/>
                </a:solidFill>
                <a:latin typeface="Arial" pitchFamily="34" charset="0"/>
                <a:ea typeface="Arial" pitchFamily="34" charset="-122"/>
                <a:cs typeface="Arial" pitchFamily="34" charset="-120"/>
              </a:rPr>
              <a:t>프론트</a:t>
            </a:r>
            <a:endParaRPr lang="en-US" sz="975" dirty="0"/>
          </a:p>
        </p:txBody>
      </p:sp>
      <p:sp>
        <p:nvSpPr>
          <p:cNvPr id="10" name="Shape 8"/>
          <p:cNvSpPr/>
          <p:nvPr/>
        </p:nvSpPr>
        <p:spPr>
          <a:xfrm>
            <a:off x="17074515" y="361950"/>
            <a:ext cx="451485" cy="278130"/>
          </a:xfrm>
          <a:prstGeom prst="roundRect">
            <a:avLst>
              <a:gd name="adj" fmla="val 50000"/>
            </a:avLst>
          </a:prstGeom>
          <a:solidFill>
            <a:srgbClr val="F0A33C"/>
          </a:solidFill>
          <a:ln/>
        </p:spPr>
      </p:sp>
      <p:sp>
        <p:nvSpPr>
          <p:cNvPr id="11" name="Text 9"/>
          <p:cNvSpPr/>
          <p:nvPr/>
        </p:nvSpPr>
        <p:spPr>
          <a:xfrm>
            <a:off x="17188815" y="409575"/>
            <a:ext cx="299085" cy="220980"/>
          </a:xfrm>
          <a:prstGeom prst="rect">
            <a:avLst/>
          </a:prstGeom>
          <a:noFill/>
          <a:ln/>
        </p:spPr>
        <p:txBody>
          <a:bodyPr wrap="square" lIns="25400" tIns="25400" rIns="25400" bIns="25400" rtlCol="0" anchor="t">
            <a:normAutofit/>
          </a:bodyPr>
          <a:lstStyle/>
          <a:p>
            <a:pPr algn="l" indent="0" marL="0">
              <a:buNone/>
            </a:pPr>
            <a:r>
              <a:rPr lang="en-US" sz="975" b="1" spc="-19" kern="0" dirty="0">
                <a:solidFill>
                  <a:srgbClr val="FFFFFF"/>
                </a:solidFill>
                <a:latin typeface="Arial" pitchFamily="34" charset="0"/>
                <a:ea typeface="Arial" pitchFamily="34" charset="-122"/>
                <a:cs typeface="Arial" pitchFamily="34" charset="-120"/>
              </a:rPr>
              <a:t>배포</a:t>
            </a:r>
            <a:endParaRPr lang="en-US" sz="975" dirty="0"/>
          </a:p>
        </p:txBody>
      </p:sp>
      <p:sp>
        <p:nvSpPr>
          <p:cNvPr id="12" name="Text 10"/>
          <p:cNvSpPr/>
          <p:nvPr/>
        </p:nvSpPr>
        <p:spPr>
          <a:xfrm>
            <a:off x="762000" y="609600"/>
            <a:ext cx="18440400" cy="259080"/>
          </a:xfrm>
          <a:prstGeom prst="rect">
            <a:avLst/>
          </a:prstGeom>
          <a:noFill/>
          <a:ln/>
        </p:spPr>
        <p:txBody>
          <a:bodyPr wrap="square" lIns="25400" tIns="25400" rIns="25400" bIns="25400" rtlCol="0" anchor="t">
            <a:normAutofit/>
          </a:bodyPr>
          <a:lstStyle/>
          <a:p>
            <a:pPr algn="l" indent="0" marL="0">
              <a:buNone/>
            </a:pPr>
            <a:r>
              <a:rPr lang="en-US" sz="1200" b="1" spc="48" kern="0" dirty="0">
                <a:solidFill>
                  <a:srgbClr val="2E8BE0"/>
                </a:solidFill>
                <a:latin typeface="Arial" pitchFamily="34" charset="0"/>
                <a:ea typeface="Arial" pitchFamily="34" charset="-122"/>
                <a:cs typeface="Arial" pitchFamily="34" charset="-120"/>
              </a:rPr>
              <a:t>03 · 팀 &amp; 역할</a:t>
            </a:r>
            <a:endParaRPr lang="en-US" sz="1200" dirty="0"/>
          </a:p>
        </p:txBody>
      </p:sp>
      <p:sp>
        <p:nvSpPr>
          <p:cNvPr id="13" name="Text 11"/>
          <p:cNvSpPr/>
          <p:nvPr/>
        </p:nvSpPr>
        <p:spPr>
          <a:xfrm>
            <a:off x="762000" y="963930"/>
            <a:ext cx="18440400" cy="678180"/>
          </a:xfrm>
          <a:prstGeom prst="rect">
            <a:avLst/>
          </a:prstGeom>
          <a:noFill/>
          <a:ln/>
        </p:spPr>
        <p:txBody>
          <a:bodyPr wrap="square" lIns="25400" tIns="25400" rIns="25400" bIns="25400" rtlCol="0" anchor="t">
            <a:normAutofit/>
          </a:bodyPr>
          <a:lstStyle/>
          <a:p>
            <a:pPr algn="l" indent="0" marL="0">
              <a:buNone/>
            </a:pPr>
            <a:r>
              <a:rPr lang="en-US" sz="3450" b="1" spc="-103" kern="0" dirty="0">
                <a:solidFill>
                  <a:srgbClr val="143257"/>
                </a:solidFill>
                <a:latin typeface="Arial" pitchFamily="34" charset="0"/>
                <a:ea typeface="Arial" pitchFamily="34" charset="-122"/>
                <a:cs typeface="Arial" pitchFamily="34" charset="-120"/>
              </a:rPr>
              <a:t>한 사람이 한 계층만 맡지 않았습니다</a:t>
            </a:r>
            <a:endParaRPr lang="en-US" sz="3450" dirty="0"/>
          </a:p>
        </p:txBody>
      </p:sp>
      <p:sp>
        <p:nvSpPr>
          <p:cNvPr id="14" name="Text 12"/>
          <p:cNvSpPr/>
          <p:nvPr/>
        </p:nvSpPr>
        <p:spPr>
          <a:xfrm>
            <a:off x="762000" y="1699260"/>
            <a:ext cx="18440400" cy="297180"/>
          </a:xfrm>
          <a:prstGeom prst="rect">
            <a:avLst/>
          </a:prstGeom>
          <a:noFill/>
          <a:ln/>
        </p:spPr>
        <p:txBody>
          <a:bodyPr wrap="square" lIns="25400" tIns="25400" rIns="25400" bIns="25400" rtlCol="0" anchor="t">
            <a:normAutofit/>
          </a:bodyPr>
          <a:lstStyle/>
          <a:p>
            <a:pPr algn="l" indent="0" marL="0">
              <a:buNone/>
            </a:pPr>
            <a:r>
              <a:rPr lang="en-US" sz="1725" b="1" dirty="0">
                <a:solidFill>
                  <a:srgbClr val="6E8197"/>
                </a:solidFill>
                <a:latin typeface="Arial" pitchFamily="34" charset="0"/>
                <a:ea typeface="Arial" pitchFamily="34" charset="-122"/>
                <a:cs typeface="Arial" pitchFamily="34" charset="-120"/>
              </a:rPr>
              <a:t>역할이 계층을 가로질러 겹치도록 분담 — 브릿지 팀 구성</a:t>
            </a:r>
            <a:endParaRPr lang="en-US" sz="1725" dirty="0"/>
          </a:p>
        </p:txBody>
      </p:sp>
      <p:sp>
        <p:nvSpPr>
          <p:cNvPr id="15" name="Shape 13"/>
          <p:cNvSpPr/>
          <p:nvPr/>
        </p:nvSpPr>
        <p:spPr>
          <a:xfrm>
            <a:off x="762000" y="4270058"/>
            <a:ext cx="4019550" cy="3095625"/>
          </a:xfrm>
          <a:prstGeom prst="roundRect">
            <a:avLst>
              <a:gd name="adj" fmla="val 7385"/>
            </a:avLst>
          </a:prstGeom>
          <a:solidFill>
            <a:srgbClr val="FFFFFF"/>
          </a:solidFill>
          <a:ln w="7620">
            <a:solidFill>
              <a:srgbClr val="E6EEF7"/>
            </a:solidFill>
            <a:prstDash val="solid"/>
          </a:ln>
          <a:effectLst>
            <a:outerShdw sx="100000" sy="100000" kx="0" ky="0" algn="bl" rotWithShape="0" blurRad="323850" dist="133350" dir="5400000">
              <a:srgbClr val="2E8BE0">
                <a:alpha val="10000"/>
              </a:srgbClr>
            </a:outerShdw>
          </a:effectLst>
        </p:spPr>
      </p:sp>
      <p:sp>
        <p:nvSpPr>
          <p:cNvPr id="16" name="Shape 14"/>
          <p:cNvSpPr/>
          <p:nvPr/>
        </p:nvSpPr>
        <p:spPr>
          <a:xfrm>
            <a:off x="1093470" y="4639628"/>
            <a:ext cx="590550" cy="590550"/>
          </a:xfrm>
          <a:prstGeom prst="roundRect">
            <a:avLst>
              <a:gd name="adj" fmla="val 27419"/>
            </a:avLst>
          </a:prstGeom>
          <a:gradFill rotWithShape="1">
            <a:gsLst>
              <a:gs pos="0">
                <a:srgbClr val="5BB0F0">
                  <a:alpha val="100000"/>
                </a:srgbClr>
              </a:gs>
              <a:gs pos="100000">
                <a:srgbClr val="2E86DD">
                  <a:alpha val="100000"/>
                </a:srgbClr>
              </a:gs>
            </a:gsLst>
            <a:lin ang="3600000" scaled="0"/>
          </a:gradFill>
          <a:ln/>
        </p:spPr>
      </p:sp>
      <p:sp>
        <p:nvSpPr>
          <p:cNvPr id="17" name="Text 15"/>
          <p:cNvSpPr/>
          <p:nvPr/>
        </p:nvSpPr>
        <p:spPr>
          <a:xfrm>
            <a:off x="1055370" y="4639628"/>
            <a:ext cx="666750" cy="628650"/>
          </a:xfrm>
          <a:prstGeom prst="rect">
            <a:avLst/>
          </a:prstGeom>
          <a:noFill/>
          <a:ln/>
        </p:spPr>
        <p:txBody>
          <a:bodyPr wrap="square" lIns="25400" tIns="25400" rIns="25400" bIns="25400" rtlCol="0" anchor="ctr">
            <a:normAutofit/>
          </a:bodyPr>
          <a:lstStyle/>
          <a:p>
            <a:pPr algn="ctr" indent="0" marL="0">
              <a:buNone/>
            </a:pPr>
            <a:r>
              <a:rPr lang="en-US" sz="1875" b="1" dirty="0">
                <a:solidFill>
                  <a:srgbClr val="FFFFFF"/>
                </a:solidFill>
                <a:latin typeface="Arial" pitchFamily="34" charset="0"/>
                <a:ea typeface="Arial" pitchFamily="34" charset="-122"/>
                <a:cs typeface="Arial" pitchFamily="34" charset="-120"/>
              </a:rPr>
              <a:t>김</a:t>
            </a:r>
            <a:endParaRPr lang="en-US" sz="1875" dirty="0"/>
          </a:p>
        </p:txBody>
      </p:sp>
      <p:sp>
        <p:nvSpPr>
          <p:cNvPr id="18" name="Text 16"/>
          <p:cNvSpPr/>
          <p:nvPr/>
        </p:nvSpPr>
        <p:spPr>
          <a:xfrm>
            <a:off x="1093470" y="5439728"/>
            <a:ext cx="822008" cy="434340"/>
          </a:xfrm>
          <a:prstGeom prst="rect">
            <a:avLst/>
          </a:prstGeom>
          <a:noFill/>
          <a:ln/>
        </p:spPr>
        <p:txBody>
          <a:bodyPr wrap="square" lIns="25400" tIns="25400" rIns="25400" bIns="25400" rtlCol="0" anchor="t">
            <a:normAutofit/>
          </a:bodyPr>
          <a:lstStyle/>
          <a:p>
            <a:pPr algn="l" indent="0" marL="0">
              <a:buNone/>
            </a:pPr>
            <a:r>
              <a:rPr lang="en-US" sz="2175" b="1" spc="-43" kern="0" dirty="0">
                <a:solidFill>
                  <a:srgbClr val="143257"/>
                </a:solidFill>
                <a:latin typeface="Arial" pitchFamily="34" charset="0"/>
                <a:ea typeface="Arial" pitchFamily="34" charset="-122"/>
                <a:cs typeface="Arial" pitchFamily="34" charset="-120"/>
              </a:rPr>
              <a:t>김성재</a:t>
            </a:r>
            <a:endParaRPr lang="en-US" sz="2175" dirty="0"/>
          </a:p>
        </p:txBody>
      </p:sp>
      <p:sp>
        <p:nvSpPr>
          <p:cNvPr id="19" name="Shape 17"/>
          <p:cNvSpPr/>
          <p:nvPr/>
        </p:nvSpPr>
        <p:spPr>
          <a:xfrm>
            <a:off x="1934528" y="5508307"/>
            <a:ext cx="437436" cy="259080"/>
          </a:xfrm>
          <a:prstGeom prst="roundRect">
            <a:avLst>
              <a:gd name="adj" fmla="val 50000"/>
            </a:avLst>
          </a:prstGeom>
          <a:solidFill>
            <a:srgbClr val="2E8BE0"/>
          </a:solidFill>
          <a:ln/>
        </p:spPr>
      </p:sp>
      <p:sp>
        <p:nvSpPr>
          <p:cNvPr id="20" name="Text 18"/>
          <p:cNvSpPr/>
          <p:nvPr/>
        </p:nvSpPr>
        <p:spPr>
          <a:xfrm>
            <a:off x="2039303" y="5546407"/>
            <a:ext cx="304086" cy="220980"/>
          </a:xfrm>
          <a:prstGeom prst="rect">
            <a:avLst/>
          </a:prstGeom>
          <a:noFill/>
          <a:ln/>
        </p:spPr>
        <p:txBody>
          <a:bodyPr wrap="square" lIns="25400" tIns="25400" rIns="25400" bIns="25400" rtlCol="0" anchor="t">
            <a:normAutofit/>
          </a:bodyPr>
          <a:lstStyle/>
          <a:p>
            <a:pPr algn="l" indent="0" marL="0">
              <a:buNone/>
            </a:pPr>
            <a:r>
              <a:rPr lang="en-US" sz="975" b="1" dirty="0">
                <a:solidFill>
                  <a:srgbClr val="FFFFFF"/>
                </a:solidFill>
                <a:latin typeface="Arial" pitchFamily="34" charset="0"/>
                <a:ea typeface="Arial" pitchFamily="34" charset="-122"/>
                <a:cs typeface="Arial" pitchFamily="34" charset="-120"/>
              </a:rPr>
              <a:t>발표</a:t>
            </a:r>
            <a:endParaRPr lang="en-US" sz="975" dirty="0"/>
          </a:p>
        </p:txBody>
      </p:sp>
      <p:sp>
        <p:nvSpPr>
          <p:cNvPr id="21" name="Shape 19"/>
          <p:cNvSpPr/>
          <p:nvPr/>
        </p:nvSpPr>
        <p:spPr>
          <a:xfrm>
            <a:off x="1093470" y="6064568"/>
            <a:ext cx="3356610" cy="9525"/>
          </a:xfrm>
          <a:prstGeom prst="rect">
            <a:avLst/>
          </a:prstGeom>
          <a:solidFill>
            <a:srgbClr val="EEF3F8"/>
          </a:solidFill>
          <a:ln/>
        </p:spPr>
      </p:sp>
      <p:sp>
        <p:nvSpPr>
          <p:cNvPr id="22" name="Text 20"/>
          <p:cNvSpPr/>
          <p:nvPr/>
        </p:nvSpPr>
        <p:spPr>
          <a:xfrm>
            <a:off x="1093470" y="6264593"/>
            <a:ext cx="3692271" cy="228600"/>
          </a:xfrm>
          <a:prstGeom prst="rect">
            <a:avLst/>
          </a:prstGeom>
          <a:noFill/>
          <a:ln/>
        </p:spPr>
        <p:txBody>
          <a:bodyPr wrap="square" lIns="25400" tIns="25400" rIns="25400" bIns="25400" rtlCol="0" anchor="t">
            <a:normAutofit/>
          </a:bodyPr>
          <a:lstStyle/>
          <a:p>
            <a:pPr algn="l" indent="0" marL="0">
              <a:buNone/>
            </a:pPr>
            <a:r>
              <a:rPr lang="en-US" sz="1050" b="1" spc="63" kern="0" dirty="0">
                <a:solidFill>
                  <a:srgbClr val="A7B8CA"/>
                </a:solidFill>
                <a:latin typeface="Arial" pitchFamily="34" charset="0"/>
                <a:ea typeface="Arial" pitchFamily="34" charset="-122"/>
                <a:cs typeface="Arial" pitchFamily="34" charset="-120"/>
              </a:rPr>
              <a:t>담당 영역</a:t>
            </a:r>
            <a:endParaRPr lang="en-US" sz="1050" dirty="0"/>
          </a:p>
        </p:txBody>
      </p:sp>
      <p:sp>
        <p:nvSpPr>
          <p:cNvPr id="23" name="Shape 21"/>
          <p:cNvSpPr/>
          <p:nvPr/>
        </p:nvSpPr>
        <p:spPr>
          <a:xfrm>
            <a:off x="1093470" y="6588443"/>
            <a:ext cx="674846" cy="361950"/>
          </a:xfrm>
          <a:prstGeom prst="roundRect">
            <a:avLst>
              <a:gd name="adj" fmla="val 50000"/>
            </a:avLst>
          </a:prstGeom>
          <a:solidFill>
            <a:srgbClr val="EAF2FB"/>
          </a:solidFill>
          <a:ln/>
        </p:spPr>
      </p:sp>
      <p:sp>
        <p:nvSpPr>
          <p:cNvPr id="24" name="Text 22"/>
          <p:cNvSpPr/>
          <p:nvPr/>
        </p:nvSpPr>
        <p:spPr>
          <a:xfrm>
            <a:off x="1255395" y="6674168"/>
            <a:ext cx="427196" cy="228600"/>
          </a:xfrm>
          <a:prstGeom prst="rect">
            <a:avLst/>
          </a:prstGeom>
          <a:noFill/>
          <a:ln/>
        </p:spPr>
        <p:txBody>
          <a:bodyPr wrap="square" lIns="25400" tIns="25400" rIns="25400" bIns="25400" rtlCol="0" anchor="t">
            <a:normAutofit/>
          </a:bodyPr>
          <a:lstStyle/>
          <a:p>
            <a:pPr algn="l" indent="0" marL="0">
              <a:buNone/>
            </a:pPr>
            <a:r>
              <a:rPr lang="en-US" sz="1275" b="1" dirty="0">
                <a:solidFill>
                  <a:srgbClr val="2E8BE0"/>
                </a:solidFill>
                <a:latin typeface="Arial" pitchFamily="34" charset="0"/>
                <a:ea typeface="Arial" pitchFamily="34" charset="-122"/>
                <a:cs typeface="Arial" pitchFamily="34" charset="-120"/>
              </a:rPr>
              <a:t>RAG</a:t>
            </a:r>
            <a:endParaRPr lang="en-US" sz="1275" dirty="0"/>
          </a:p>
        </p:txBody>
      </p:sp>
      <p:sp>
        <p:nvSpPr>
          <p:cNvPr id="25" name="Shape 23"/>
          <p:cNvSpPr/>
          <p:nvPr/>
        </p:nvSpPr>
        <p:spPr>
          <a:xfrm>
            <a:off x="1844516" y="6588443"/>
            <a:ext cx="548878" cy="361950"/>
          </a:xfrm>
          <a:prstGeom prst="roundRect">
            <a:avLst>
              <a:gd name="adj" fmla="val 50000"/>
            </a:avLst>
          </a:prstGeom>
          <a:solidFill>
            <a:srgbClr val="F1ECFB"/>
          </a:solidFill>
          <a:ln/>
        </p:spPr>
      </p:sp>
      <p:sp>
        <p:nvSpPr>
          <p:cNvPr id="26" name="Text 24"/>
          <p:cNvSpPr/>
          <p:nvPr/>
        </p:nvSpPr>
        <p:spPr>
          <a:xfrm>
            <a:off x="2006441" y="6674168"/>
            <a:ext cx="301228" cy="228600"/>
          </a:xfrm>
          <a:prstGeom prst="rect">
            <a:avLst/>
          </a:prstGeom>
          <a:noFill/>
          <a:ln/>
        </p:spPr>
        <p:txBody>
          <a:bodyPr wrap="square" lIns="25400" tIns="25400" rIns="25400" bIns="25400" rtlCol="0" anchor="t">
            <a:normAutofit/>
          </a:bodyPr>
          <a:lstStyle/>
          <a:p>
            <a:pPr algn="l" indent="0" marL="0">
              <a:buNone/>
            </a:pPr>
            <a:r>
              <a:rPr lang="en-US" sz="1275" b="1" dirty="0">
                <a:solidFill>
                  <a:srgbClr val="8B6FE0"/>
                </a:solidFill>
                <a:latin typeface="Arial" pitchFamily="34" charset="0"/>
                <a:ea typeface="Arial" pitchFamily="34" charset="-122"/>
                <a:cs typeface="Arial" pitchFamily="34" charset="-120"/>
              </a:rPr>
              <a:t>DB</a:t>
            </a:r>
            <a:endParaRPr lang="en-US" sz="1275" dirty="0"/>
          </a:p>
        </p:txBody>
      </p:sp>
      <p:sp>
        <p:nvSpPr>
          <p:cNvPr id="27" name="Shape 25"/>
          <p:cNvSpPr/>
          <p:nvPr/>
        </p:nvSpPr>
        <p:spPr>
          <a:xfrm>
            <a:off x="5010150" y="4270058"/>
            <a:ext cx="4019550" cy="3095625"/>
          </a:xfrm>
          <a:prstGeom prst="roundRect">
            <a:avLst>
              <a:gd name="adj" fmla="val 7385"/>
            </a:avLst>
          </a:prstGeom>
          <a:solidFill>
            <a:srgbClr val="FFFFFF"/>
          </a:solidFill>
          <a:ln w="7620">
            <a:solidFill>
              <a:srgbClr val="E6EEF7"/>
            </a:solidFill>
            <a:prstDash val="solid"/>
          </a:ln>
          <a:effectLst>
            <a:outerShdw sx="100000" sy="100000" kx="0" ky="0" algn="bl" rotWithShape="0" blurRad="323850" dist="133350" dir="5400000">
              <a:srgbClr val="2E8BE0">
                <a:alpha val="10000"/>
              </a:srgbClr>
            </a:outerShdw>
          </a:effectLst>
        </p:spPr>
      </p:sp>
      <p:sp>
        <p:nvSpPr>
          <p:cNvPr id="28" name="Shape 26"/>
          <p:cNvSpPr/>
          <p:nvPr/>
        </p:nvSpPr>
        <p:spPr>
          <a:xfrm>
            <a:off x="5341620" y="4639628"/>
            <a:ext cx="590550" cy="590550"/>
          </a:xfrm>
          <a:prstGeom prst="roundRect">
            <a:avLst>
              <a:gd name="adj" fmla="val 27419"/>
            </a:avLst>
          </a:prstGeom>
          <a:solidFill>
            <a:srgbClr val="EAF2FB"/>
          </a:solidFill>
          <a:ln/>
        </p:spPr>
      </p:sp>
      <p:sp>
        <p:nvSpPr>
          <p:cNvPr id="29" name="Text 27"/>
          <p:cNvSpPr/>
          <p:nvPr/>
        </p:nvSpPr>
        <p:spPr>
          <a:xfrm>
            <a:off x="5303520" y="4639628"/>
            <a:ext cx="666750" cy="628650"/>
          </a:xfrm>
          <a:prstGeom prst="rect">
            <a:avLst/>
          </a:prstGeom>
          <a:noFill/>
          <a:ln/>
        </p:spPr>
        <p:txBody>
          <a:bodyPr wrap="square" lIns="25400" tIns="25400" rIns="25400" bIns="25400" rtlCol="0" anchor="ctr">
            <a:normAutofit/>
          </a:bodyPr>
          <a:lstStyle/>
          <a:p>
            <a:pPr algn="ctr" indent="0" marL="0">
              <a:buNone/>
            </a:pPr>
            <a:r>
              <a:rPr lang="en-US" sz="1875" b="1" dirty="0">
                <a:solidFill>
                  <a:srgbClr val="2E8BE0"/>
                </a:solidFill>
                <a:latin typeface="Arial" pitchFamily="34" charset="0"/>
                <a:ea typeface="Arial" pitchFamily="34" charset="-122"/>
                <a:cs typeface="Arial" pitchFamily="34" charset="-120"/>
              </a:rPr>
              <a:t>신</a:t>
            </a:r>
            <a:endParaRPr lang="en-US" sz="1875" dirty="0"/>
          </a:p>
        </p:txBody>
      </p:sp>
      <p:sp>
        <p:nvSpPr>
          <p:cNvPr id="30" name="Text 28"/>
          <p:cNvSpPr/>
          <p:nvPr/>
        </p:nvSpPr>
        <p:spPr>
          <a:xfrm>
            <a:off x="5341620" y="5439728"/>
            <a:ext cx="822008" cy="434340"/>
          </a:xfrm>
          <a:prstGeom prst="rect">
            <a:avLst/>
          </a:prstGeom>
          <a:noFill/>
          <a:ln/>
        </p:spPr>
        <p:txBody>
          <a:bodyPr wrap="square" lIns="25400" tIns="25400" rIns="25400" bIns="25400" rtlCol="0" anchor="t">
            <a:normAutofit/>
          </a:bodyPr>
          <a:lstStyle/>
          <a:p>
            <a:pPr algn="l" indent="0" marL="0">
              <a:buNone/>
            </a:pPr>
            <a:r>
              <a:rPr lang="en-US" sz="2175" b="1" spc="-43" kern="0" dirty="0">
                <a:solidFill>
                  <a:srgbClr val="143257"/>
                </a:solidFill>
                <a:latin typeface="Arial" pitchFamily="34" charset="0"/>
                <a:ea typeface="Arial" pitchFamily="34" charset="-122"/>
                <a:cs typeface="Arial" pitchFamily="34" charset="-120"/>
              </a:rPr>
              <a:t>신혜지</a:t>
            </a:r>
            <a:endParaRPr lang="en-US" sz="2175" dirty="0"/>
          </a:p>
        </p:txBody>
      </p:sp>
      <p:sp>
        <p:nvSpPr>
          <p:cNvPr id="31" name="Shape 29"/>
          <p:cNvSpPr/>
          <p:nvPr/>
        </p:nvSpPr>
        <p:spPr>
          <a:xfrm>
            <a:off x="5341620" y="6064568"/>
            <a:ext cx="3356610" cy="9525"/>
          </a:xfrm>
          <a:prstGeom prst="rect">
            <a:avLst/>
          </a:prstGeom>
          <a:solidFill>
            <a:srgbClr val="EEF3F8"/>
          </a:solidFill>
          <a:ln/>
        </p:spPr>
      </p:sp>
      <p:sp>
        <p:nvSpPr>
          <p:cNvPr id="32" name="Text 30"/>
          <p:cNvSpPr/>
          <p:nvPr/>
        </p:nvSpPr>
        <p:spPr>
          <a:xfrm>
            <a:off x="5341620" y="6264593"/>
            <a:ext cx="3692271" cy="228600"/>
          </a:xfrm>
          <a:prstGeom prst="rect">
            <a:avLst/>
          </a:prstGeom>
          <a:noFill/>
          <a:ln/>
        </p:spPr>
        <p:txBody>
          <a:bodyPr wrap="square" lIns="25400" tIns="25400" rIns="25400" bIns="25400" rtlCol="0" anchor="t">
            <a:normAutofit/>
          </a:bodyPr>
          <a:lstStyle/>
          <a:p>
            <a:pPr algn="l" indent="0" marL="0">
              <a:buNone/>
            </a:pPr>
            <a:r>
              <a:rPr lang="en-US" sz="1050" b="1" spc="63" kern="0" dirty="0">
                <a:solidFill>
                  <a:srgbClr val="A7B8CA"/>
                </a:solidFill>
                <a:latin typeface="Arial" pitchFamily="34" charset="0"/>
                <a:ea typeface="Arial" pitchFamily="34" charset="-122"/>
                <a:cs typeface="Arial" pitchFamily="34" charset="-120"/>
              </a:rPr>
              <a:t>담당 영역</a:t>
            </a:r>
            <a:endParaRPr lang="en-US" sz="1050" dirty="0"/>
          </a:p>
        </p:txBody>
      </p:sp>
      <p:sp>
        <p:nvSpPr>
          <p:cNvPr id="33" name="Shape 31"/>
          <p:cNvSpPr/>
          <p:nvPr/>
        </p:nvSpPr>
        <p:spPr>
          <a:xfrm>
            <a:off x="5341620" y="6588443"/>
            <a:ext cx="770811" cy="407670"/>
          </a:xfrm>
          <a:prstGeom prst="roundRect">
            <a:avLst>
              <a:gd name="adj" fmla="val 50000"/>
            </a:avLst>
          </a:prstGeom>
          <a:solidFill>
            <a:srgbClr val="EAF2FB"/>
          </a:solidFill>
          <a:ln/>
        </p:spPr>
      </p:sp>
      <p:sp>
        <p:nvSpPr>
          <p:cNvPr id="34" name="Text 32"/>
          <p:cNvSpPr/>
          <p:nvPr/>
        </p:nvSpPr>
        <p:spPr>
          <a:xfrm>
            <a:off x="5503545" y="6674168"/>
            <a:ext cx="523161" cy="274320"/>
          </a:xfrm>
          <a:prstGeom prst="rect">
            <a:avLst/>
          </a:prstGeom>
          <a:noFill/>
          <a:ln/>
        </p:spPr>
        <p:txBody>
          <a:bodyPr wrap="square" lIns="25400" tIns="25400" rIns="25400" bIns="25400" rtlCol="0" anchor="t">
            <a:normAutofit/>
          </a:bodyPr>
          <a:lstStyle/>
          <a:p>
            <a:pPr algn="l" indent="0" marL="0">
              <a:buNone/>
            </a:pPr>
            <a:r>
              <a:rPr lang="en-US" sz="1275" b="1" dirty="0">
                <a:solidFill>
                  <a:srgbClr val="2E8BE0"/>
                </a:solidFill>
                <a:latin typeface="Arial" pitchFamily="34" charset="0"/>
                <a:ea typeface="Arial" pitchFamily="34" charset="-122"/>
                <a:cs typeface="Arial" pitchFamily="34" charset="-120"/>
              </a:rPr>
              <a:t>백엔드</a:t>
            </a:r>
            <a:endParaRPr lang="en-US" sz="1275" dirty="0"/>
          </a:p>
        </p:txBody>
      </p:sp>
      <p:sp>
        <p:nvSpPr>
          <p:cNvPr id="35" name="Shape 33"/>
          <p:cNvSpPr/>
          <p:nvPr/>
        </p:nvSpPr>
        <p:spPr>
          <a:xfrm>
            <a:off x="6188631" y="6588443"/>
            <a:ext cx="770811" cy="407670"/>
          </a:xfrm>
          <a:prstGeom prst="roundRect">
            <a:avLst>
              <a:gd name="adj" fmla="val 50000"/>
            </a:avLst>
          </a:prstGeom>
          <a:solidFill>
            <a:srgbClr val="E7F6EF"/>
          </a:solidFill>
          <a:ln/>
        </p:spPr>
      </p:sp>
      <p:sp>
        <p:nvSpPr>
          <p:cNvPr id="36" name="Text 34"/>
          <p:cNvSpPr/>
          <p:nvPr/>
        </p:nvSpPr>
        <p:spPr>
          <a:xfrm>
            <a:off x="6350556" y="6674168"/>
            <a:ext cx="523161" cy="274320"/>
          </a:xfrm>
          <a:prstGeom prst="rect">
            <a:avLst/>
          </a:prstGeom>
          <a:noFill/>
          <a:ln/>
        </p:spPr>
        <p:txBody>
          <a:bodyPr wrap="square" lIns="25400" tIns="25400" rIns="25400" bIns="25400" rtlCol="0" anchor="t">
            <a:normAutofit/>
          </a:bodyPr>
          <a:lstStyle/>
          <a:p>
            <a:pPr algn="l" indent="0" marL="0">
              <a:buNone/>
            </a:pPr>
            <a:r>
              <a:rPr lang="en-US" sz="1275" b="1" dirty="0">
                <a:solidFill>
                  <a:srgbClr val="22A06B"/>
                </a:solidFill>
                <a:latin typeface="Arial" pitchFamily="34" charset="0"/>
                <a:ea typeface="Arial" pitchFamily="34" charset="-122"/>
                <a:cs typeface="Arial" pitchFamily="34" charset="-120"/>
              </a:rPr>
              <a:t>데이터</a:t>
            </a:r>
            <a:endParaRPr lang="en-US" sz="1275" dirty="0"/>
          </a:p>
        </p:txBody>
      </p:sp>
      <p:sp>
        <p:nvSpPr>
          <p:cNvPr id="37" name="Shape 35"/>
          <p:cNvSpPr/>
          <p:nvPr/>
        </p:nvSpPr>
        <p:spPr>
          <a:xfrm>
            <a:off x="9258300" y="4270058"/>
            <a:ext cx="4019550" cy="3095625"/>
          </a:xfrm>
          <a:prstGeom prst="roundRect">
            <a:avLst>
              <a:gd name="adj" fmla="val 7385"/>
            </a:avLst>
          </a:prstGeom>
          <a:solidFill>
            <a:srgbClr val="FFFFFF"/>
          </a:solidFill>
          <a:ln w="7620">
            <a:solidFill>
              <a:srgbClr val="E6EEF7"/>
            </a:solidFill>
            <a:prstDash val="solid"/>
          </a:ln>
          <a:effectLst>
            <a:outerShdw sx="100000" sy="100000" kx="0" ky="0" algn="bl" rotWithShape="0" blurRad="323850" dist="133350" dir="5400000">
              <a:srgbClr val="2E8BE0">
                <a:alpha val="10000"/>
              </a:srgbClr>
            </a:outerShdw>
          </a:effectLst>
        </p:spPr>
      </p:sp>
      <p:sp>
        <p:nvSpPr>
          <p:cNvPr id="38" name="Shape 36"/>
          <p:cNvSpPr/>
          <p:nvPr/>
        </p:nvSpPr>
        <p:spPr>
          <a:xfrm>
            <a:off x="9589770" y="4639628"/>
            <a:ext cx="590550" cy="590550"/>
          </a:xfrm>
          <a:prstGeom prst="roundRect">
            <a:avLst>
              <a:gd name="adj" fmla="val 27419"/>
            </a:avLst>
          </a:prstGeom>
          <a:solidFill>
            <a:srgbClr val="EAF2FB"/>
          </a:solidFill>
          <a:ln/>
        </p:spPr>
      </p:sp>
      <p:sp>
        <p:nvSpPr>
          <p:cNvPr id="39" name="Text 37"/>
          <p:cNvSpPr/>
          <p:nvPr/>
        </p:nvSpPr>
        <p:spPr>
          <a:xfrm>
            <a:off x="9551670" y="4639628"/>
            <a:ext cx="666750" cy="628650"/>
          </a:xfrm>
          <a:prstGeom prst="rect">
            <a:avLst/>
          </a:prstGeom>
          <a:noFill/>
          <a:ln/>
        </p:spPr>
        <p:txBody>
          <a:bodyPr wrap="square" lIns="25400" tIns="25400" rIns="25400" bIns="25400" rtlCol="0" anchor="ctr">
            <a:normAutofit/>
          </a:bodyPr>
          <a:lstStyle/>
          <a:p>
            <a:pPr algn="ctr" indent="0" marL="0">
              <a:buNone/>
            </a:pPr>
            <a:r>
              <a:rPr lang="en-US" sz="1875" b="1" dirty="0">
                <a:solidFill>
                  <a:srgbClr val="2E8BE0"/>
                </a:solidFill>
                <a:latin typeface="Arial" pitchFamily="34" charset="0"/>
                <a:ea typeface="Arial" pitchFamily="34" charset="-122"/>
                <a:cs typeface="Arial" pitchFamily="34" charset="-120"/>
              </a:rPr>
              <a:t>심</a:t>
            </a:r>
            <a:endParaRPr lang="en-US" sz="1875" dirty="0"/>
          </a:p>
        </p:txBody>
      </p:sp>
      <p:sp>
        <p:nvSpPr>
          <p:cNvPr id="40" name="Text 38"/>
          <p:cNvSpPr/>
          <p:nvPr/>
        </p:nvSpPr>
        <p:spPr>
          <a:xfrm>
            <a:off x="9589770" y="5439728"/>
            <a:ext cx="822008" cy="434340"/>
          </a:xfrm>
          <a:prstGeom prst="rect">
            <a:avLst/>
          </a:prstGeom>
          <a:noFill/>
          <a:ln/>
        </p:spPr>
        <p:txBody>
          <a:bodyPr wrap="square" lIns="25400" tIns="25400" rIns="25400" bIns="25400" rtlCol="0" anchor="t">
            <a:normAutofit/>
          </a:bodyPr>
          <a:lstStyle/>
          <a:p>
            <a:pPr algn="l" indent="0" marL="0">
              <a:buNone/>
            </a:pPr>
            <a:r>
              <a:rPr lang="en-US" sz="2175" b="1" spc="-43" kern="0" dirty="0">
                <a:solidFill>
                  <a:srgbClr val="143257"/>
                </a:solidFill>
                <a:latin typeface="Arial" pitchFamily="34" charset="0"/>
                <a:ea typeface="Arial" pitchFamily="34" charset="-122"/>
                <a:cs typeface="Arial" pitchFamily="34" charset="-120"/>
              </a:rPr>
              <a:t>심기성</a:t>
            </a:r>
            <a:endParaRPr lang="en-US" sz="2175" dirty="0"/>
          </a:p>
        </p:txBody>
      </p:sp>
      <p:sp>
        <p:nvSpPr>
          <p:cNvPr id="41" name="Shape 39"/>
          <p:cNvSpPr/>
          <p:nvPr/>
        </p:nvSpPr>
        <p:spPr>
          <a:xfrm>
            <a:off x="9589770" y="6064568"/>
            <a:ext cx="3356610" cy="9525"/>
          </a:xfrm>
          <a:prstGeom prst="rect">
            <a:avLst/>
          </a:prstGeom>
          <a:solidFill>
            <a:srgbClr val="EEF3F8"/>
          </a:solidFill>
          <a:ln/>
        </p:spPr>
      </p:sp>
      <p:sp>
        <p:nvSpPr>
          <p:cNvPr id="42" name="Text 40"/>
          <p:cNvSpPr/>
          <p:nvPr/>
        </p:nvSpPr>
        <p:spPr>
          <a:xfrm>
            <a:off x="9589770" y="6264593"/>
            <a:ext cx="3692271" cy="228600"/>
          </a:xfrm>
          <a:prstGeom prst="rect">
            <a:avLst/>
          </a:prstGeom>
          <a:noFill/>
          <a:ln/>
        </p:spPr>
        <p:txBody>
          <a:bodyPr wrap="square" lIns="25400" tIns="25400" rIns="25400" bIns="25400" rtlCol="0" anchor="t">
            <a:normAutofit/>
          </a:bodyPr>
          <a:lstStyle/>
          <a:p>
            <a:pPr algn="l" indent="0" marL="0">
              <a:buNone/>
            </a:pPr>
            <a:r>
              <a:rPr lang="en-US" sz="1050" b="1" spc="63" kern="0" dirty="0">
                <a:solidFill>
                  <a:srgbClr val="A7B8CA"/>
                </a:solidFill>
                <a:latin typeface="Arial" pitchFamily="34" charset="0"/>
                <a:ea typeface="Arial" pitchFamily="34" charset="-122"/>
                <a:cs typeface="Arial" pitchFamily="34" charset="-120"/>
              </a:rPr>
              <a:t>담당 영역</a:t>
            </a:r>
            <a:endParaRPr lang="en-US" sz="1050" dirty="0"/>
          </a:p>
        </p:txBody>
      </p:sp>
      <p:sp>
        <p:nvSpPr>
          <p:cNvPr id="43" name="Shape 41"/>
          <p:cNvSpPr/>
          <p:nvPr/>
        </p:nvSpPr>
        <p:spPr>
          <a:xfrm>
            <a:off x="9589770" y="6588443"/>
            <a:ext cx="770811" cy="407670"/>
          </a:xfrm>
          <a:prstGeom prst="roundRect">
            <a:avLst>
              <a:gd name="adj" fmla="val 50000"/>
            </a:avLst>
          </a:prstGeom>
          <a:solidFill>
            <a:srgbClr val="FCEAF3"/>
          </a:solidFill>
          <a:ln/>
        </p:spPr>
      </p:sp>
      <p:sp>
        <p:nvSpPr>
          <p:cNvPr id="44" name="Text 42"/>
          <p:cNvSpPr/>
          <p:nvPr/>
        </p:nvSpPr>
        <p:spPr>
          <a:xfrm>
            <a:off x="9751695" y="6674168"/>
            <a:ext cx="523161" cy="274320"/>
          </a:xfrm>
          <a:prstGeom prst="rect">
            <a:avLst/>
          </a:prstGeom>
          <a:noFill/>
          <a:ln/>
        </p:spPr>
        <p:txBody>
          <a:bodyPr wrap="square" lIns="25400" tIns="25400" rIns="25400" bIns="25400" rtlCol="0" anchor="t">
            <a:normAutofit/>
          </a:bodyPr>
          <a:lstStyle/>
          <a:p>
            <a:pPr algn="l" indent="0" marL="0">
              <a:buNone/>
            </a:pPr>
            <a:r>
              <a:rPr lang="en-US" sz="1275" b="1" dirty="0">
                <a:solidFill>
                  <a:srgbClr val="D85C9A"/>
                </a:solidFill>
                <a:latin typeface="Arial" pitchFamily="34" charset="0"/>
                <a:ea typeface="Arial" pitchFamily="34" charset="-122"/>
                <a:cs typeface="Arial" pitchFamily="34" charset="-120"/>
              </a:rPr>
              <a:t>프론트</a:t>
            </a:r>
            <a:endParaRPr lang="en-US" sz="1275" dirty="0"/>
          </a:p>
        </p:txBody>
      </p:sp>
      <p:sp>
        <p:nvSpPr>
          <p:cNvPr id="45" name="Shape 43"/>
          <p:cNvSpPr/>
          <p:nvPr/>
        </p:nvSpPr>
        <p:spPr>
          <a:xfrm>
            <a:off x="10436780" y="6588443"/>
            <a:ext cx="621863" cy="407670"/>
          </a:xfrm>
          <a:prstGeom prst="roundRect">
            <a:avLst>
              <a:gd name="adj" fmla="val 50000"/>
            </a:avLst>
          </a:prstGeom>
          <a:solidFill>
            <a:srgbClr val="FDF0DD"/>
          </a:solidFill>
          <a:ln/>
        </p:spPr>
      </p:sp>
      <p:sp>
        <p:nvSpPr>
          <p:cNvPr id="46" name="Text 44"/>
          <p:cNvSpPr/>
          <p:nvPr/>
        </p:nvSpPr>
        <p:spPr>
          <a:xfrm>
            <a:off x="10598705" y="6674168"/>
            <a:ext cx="374213" cy="274320"/>
          </a:xfrm>
          <a:prstGeom prst="rect">
            <a:avLst/>
          </a:prstGeom>
          <a:noFill/>
          <a:ln/>
        </p:spPr>
        <p:txBody>
          <a:bodyPr wrap="square" lIns="25400" tIns="25400" rIns="25400" bIns="25400" rtlCol="0" anchor="t">
            <a:normAutofit/>
          </a:bodyPr>
          <a:lstStyle/>
          <a:p>
            <a:pPr algn="l" indent="0" marL="0">
              <a:buNone/>
            </a:pPr>
            <a:r>
              <a:rPr lang="en-US" sz="1275" b="1" dirty="0">
                <a:solidFill>
                  <a:srgbClr val="D98A2B"/>
                </a:solidFill>
                <a:latin typeface="Arial" pitchFamily="34" charset="0"/>
                <a:ea typeface="Arial" pitchFamily="34" charset="-122"/>
                <a:cs typeface="Arial" pitchFamily="34" charset="-120"/>
              </a:rPr>
              <a:t>배포</a:t>
            </a:r>
            <a:endParaRPr lang="en-US" sz="1275" dirty="0"/>
          </a:p>
        </p:txBody>
      </p:sp>
      <p:sp>
        <p:nvSpPr>
          <p:cNvPr id="47" name="Shape 45"/>
          <p:cNvSpPr/>
          <p:nvPr/>
        </p:nvSpPr>
        <p:spPr>
          <a:xfrm>
            <a:off x="13506450" y="4270058"/>
            <a:ext cx="4019550" cy="3095625"/>
          </a:xfrm>
          <a:prstGeom prst="roundRect">
            <a:avLst>
              <a:gd name="adj" fmla="val 7385"/>
            </a:avLst>
          </a:prstGeom>
          <a:solidFill>
            <a:srgbClr val="FFFFFF"/>
          </a:solidFill>
          <a:ln w="7620">
            <a:solidFill>
              <a:srgbClr val="E6EEF7"/>
            </a:solidFill>
            <a:prstDash val="solid"/>
          </a:ln>
          <a:effectLst>
            <a:outerShdw sx="100000" sy="100000" kx="0" ky="0" algn="bl" rotWithShape="0" blurRad="323850" dist="133350" dir="5400000">
              <a:srgbClr val="2E8BE0">
                <a:alpha val="10000"/>
              </a:srgbClr>
            </a:outerShdw>
          </a:effectLst>
        </p:spPr>
      </p:sp>
      <p:sp>
        <p:nvSpPr>
          <p:cNvPr id="48" name="Shape 46"/>
          <p:cNvSpPr/>
          <p:nvPr/>
        </p:nvSpPr>
        <p:spPr>
          <a:xfrm>
            <a:off x="13837920" y="4639628"/>
            <a:ext cx="590550" cy="590550"/>
          </a:xfrm>
          <a:prstGeom prst="roundRect">
            <a:avLst>
              <a:gd name="adj" fmla="val 27419"/>
            </a:avLst>
          </a:prstGeom>
          <a:solidFill>
            <a:srgbClr val="EAF2FB"/>
          </a:solidFill>
          <a:ln/>
        </p:spPr>
      </p:sp>
      <p:sp>
        <p:nvSpPr>
          <p:cNvPr id="49" name="Text 47"/>
          <p:cNvSpPr/>
          <p:nvPr/>
        </p:nvSpPr>
        <p:spPr>
          <a:xfrm>
            <a:off x="13799820" y="4639628"/>
            <a:ext cx="666750" cy="628650"/>
          </a:xfrm>
          <a:prstGeom prst="rect">
            <a:avLst/>
          </a:prstGeom>
          <a:noFill/>
          <a:ln/>
        </p:spPr>
        <p:txBody>
          <a:bodyPr wrap="square" lIns="25400" tIns="25400" rIns="25400" bIns="25400" rtlCol="0" anchor="ctr">
            <a:normAutofit/>
          </a:bodyPr>
          <a:lstStyle/>
          <a:p>
            <a:pPr algn="ctr" indent="0" marL="0">
              <a:buNone/>
            </a:pPr>
            <a:r>
              <a:rPr lang="en-US" sz="1875" b="1" dirty="0">
                <a:solidFill>
                  <a:srgbClr val="2E8BE0"/>
                </a:solidFill>
                <a:latin typeface="Arial" pitchFamily="34" charset="0"/>
                <a:ea typeface="Arial" pitchFamily="34" charset="-122"/>
                <a:cs typeface="Arial" pitchFamily="34" charset="-120"/>
              </a:rPr>
              <a:t>손</a:t>
            </a:r>
            <a:endParaRPr lang="en-US" sz="1875" dirty="0"/>
          </a:p>
        </p:txBody>
      </p:sp>
      <p:sp>
        <p:nvSpPr>
          <p:cNvPr id="50" name="Text 48"/>
          <p:cNvSpPr/>
          <p:nvPr/>
        </p:nvSpPr>
        <p:spPr>
          <a:xfrm>
            <a:off x="13837920" y="5439728"/>
            <a:ext cx="822008" cy="434340"/>
          </a:xfrm>
          <a:prstGeom prst="rect">
            <a:avLst/>
          </a:prstGeom>
          <a:noFill/>
          <a:ln/>
        </p:spPr>
        <p:txBody>
          <a:bodyPr wrap="square" lIns="25400" tIns="25400" rIns="25400" bIns="25400" rtlCol="0" anchor="t">
            <a:normAutofit/>
          </a:bodyPr>
          <a:lstStyle/>
          <a:p>
            <a:pPr algn="l" indent="0" marL="0">
              <a:buNone/>
            </a:pPr>
            <a:r>
              <a:rPr lang="en-US" sz="2175" b="1" spc="-43" kern="0" dirty="0">
                <a:solidFill>
                  <a:srgbClr val="143257"/>
                </a:solidFill>
                <a:latin typeface="Arial" pitchFamily="34" charset="0"/>
                <a:ea typeface="Arial" pitchFamily="34" charset="-122"/>
                <a:cs typeface="Arial" pitchFamily="34" charset="-120"/>
              </a:rPr>
              <a:t>손지은</a:t>
            </a:r>
            <a:endParaRPr lang="en-US" sz="2175" dirty="0"/>
          </a:p>
        </p:txBody>
      </p:sp>
      <p:sp>
        <p:nvSpPr>
          <p:cNvPr id="51" name="Shape 49"/>
          <p:cNvSpPr/>
          <p:nvPr/>
        </p:nvSpPr>
        <p:spPr>
          <a:xfrm>
            <a:off x="13837920" y="6064568"/>
            <a:ext cx="3356610" cy="9525"/>
          </a:xfrm>
          <a:prstGeom prst="rect">
            <a:avLst/>
          </a:prstGeom>
          <a:solidFill>
            <a:srgbClr val="EEF3F8"/>
          </a:solidFill>
          <a:ln/>
        </p:spPr>
      </p:sp>
      <p:sp>
        <p:nvSpPr>
          <p:cNvPr id="52" name="Text 50"/>
          <p:cNvSpPr/>
          <p:nvPr/>
        </p:nvSpPr>
        <p:spPr>
          <a:xfrm>
            <a:off x="13837920" y="6264593"/>
            <a:ext cx="3692271" cy="228600"/>
          </a:xfrm>
          <a:prstGeom prst="rect">
            <a:avLst/>
          </a:prstGeom>
          <a:noFill/>
          <a:ln/>
        </p:spPr>
        <p:txBody>
          <a:bodyPr wrap="square" lIns="25400" tIns="25400" rIns="25400" bIns="25400" rtlCol="0" anchor="t">
            <a:normAutofit/>
          </a:bodyPr>
          <a:lstStyle/>
          <a:p>
            <a:pPr algn="l" indent="0" marL="0">
              <a:buNone/>
            </a:pPr>
            <a:r>
              <a:rPr lang="en-US" sz="1050" b="1" spc="63" kern="0" dirty="0">
                <a:solidFill>
                  <a:srgbClr val="A7B8CA"/>
                </a:solidFill>
                <a:latin typeface="Arial" pitchFamily="34" charset="0"/>
                <a:ea typeface="Arial" pitchFamily="34" charset="-122"/>
                <a:cs typeface="Arial" pitchFamily="34" charset="-120"/>
              </a:rPr>
              <a:t>담당 영역</a:t>
            </a:r>
            <a:endParaRPr lang="en-US" sz="1050" dirty="0"/>
          </a:p>
        </p:txBody>
      </p:sp>
      <p:sp>
        <p:nvSpPr>
          <p:cNvPr id="53" name="Shape 51"/>
          <p:cNvSpPr/>
          <p:nvPr/>
        </p:nvSpPr>
        <p:spPr>
          <a:xfrm>
            <a:off x="13837920" y="6588443"/>
            <a:ext cx="770811" cy="407670"/>
          </a:xfrm>
          <a:prstGeom prst="roundRect">
            <a:avLst>
              <a:gd name="adj" fmla="val 50000"/>
            </a:avLst>
          </a:prstGeom>
          <a:solidFill>
            <a:srgbClr val="FCEAF3"/>
          </a:solidFill>
          <a:ln/>
        </p:spPr>
      </p:sp>
      <p:sp>
        <p:nvSpPr>
          <p:cNvPr id="54" name="Text 52"/>
          <p:cNvSpPr/>
          <p:nvPr/>
        </p:nvSpPr>
        <p:spPr>
          <a:xfrm>
            <a:off x="13999845" y="6674168"/>
            <a:ext cx="523161" cy="274320"/>
          </a:xfrm>
          <a:prstGeom prst="rect">
            <a:avLst/>
          </a:prstGeom>
          <a:noFill/>
          <a:ln/>
        </p:spPr>
        <p:txBody>
          <a:bodyPr wrap="square" lIns="25400" tIns="25400" rIns="25400" bIns="25400" rtlCol="0" anchor="t">
            <a:normAutofit/>
          </a:bodyPr>
          <a:lstStyle/>
          <a:p>
            <a:pPr algn="l" indent="0" marL="0">
              <a:buNone/>
            </a:pPr>
            <a:r>
              <a:rPr lang="en-US" sz="1275" b="1" dirty="0">
                <a:solidFill>
                  <a:srgbClr val="D85C9A"/>
                </a:solidFill>
                <a:latin typeface="Arial" pitchFamily="34" charset="0"/>
                <a:ea typeface="Arial" pitchFamily="34" charset="-122"/>
                <a:cs typeface="Arial" pitchFamily="34" charset="-120"/>
              </a:rPr>
              <a:t>프론트</a:t>
            </a:r>
            <a:endParaRPr lang="en-US" sz="1275" dirty="0"/>
          </a:p>
        </p:txBody>
      </p:sp>
      <p:sp>
        <p:nvSpPr>
          <p:cNvPr id="55" name="Shape 53"/>
          <p:cNvSpPr/>
          <p:nvPr/>
        </p:nvSpPr>
        <p:spPr>
          <a:xfrm>
            <a:off x="14684930" y="6588443"/>
            <a:ext cx="770811" cy="407670"/>
          </a:xfrm>
          <a:prstGeom prst="roundRect">
            <a:avLst>
              <a:gd name="adj" fmla="val 50000"/>
            </a:avLst>
          </a:prstGeom>
          <a:solidFill>
            <a:srgbClr val="E7F6EF"/>
          </a:solidFill>
          <a:ln/>
        </p:spPr>
      </p:sp>
      <p:sp>
        <p:nvSpPr>
          <p:cNvPr id="56" name="Text 54"/>
          <p:cNvSpPr/>
          <p:nvPr/>
        </p:nvSpPr>
        <p:spPr>
          <a:xfrm>
            <a:off x="14846855" y="6674168"/>
            <a:ext cx="523161" cy="274320"/>
          </a:xfrm>
          <a:prstGeom prst="rect">
            <a:avLst/>
          </a:prstGeom>
          <a:noFill/>
          <a:ln/>
        </p:spPr>
        <p:txBody>
          <a:bodyPr wrap="square" lIns="25400" tIns="25400" rIns="25400" bIns="25400" rtlCol="0" anchor="t">
            <a:normAutofit/>
          </a:bodyPr>
          <a:lstStyle/>
          <a:p>
            <a:pPr algn="l" indent="0" marL="0">
              <a:buNone/>
            </a:pPr>
            <a:r>
              <a:rPr lang="en-US" sz="1275" b="1" dirty="0">
                <a:solidFill>
                  <a:srgbClr val="22A06B"/>
                </a:solidFill>
                <a:latin typeface="Arial" pitchFamily="34" charset="0"/>
                <a:ea typeface="Arial" pitchFamily="34" charset="-122"/>
                <a:cs typeface="Arial" pitchFamily="34" charset="-120"/>
              </a:rPr>
              <a:t>데이터</a:t>
            </a:r>
            <a:endParaRPr lang="en-US" sz="127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8FC"/>
        </a:solidFill>
      </p:bgPr>
    </p:bg>
    <p:spTree>
      <p:nvGrpSpPr>
        <p:cNvPr id="1" name=""/>
        <p:cNvGrpSpPr/>
        <p:nvPr/>
      </p:nvGrpSpPr>
      <p:grpSpPr>
        <a:xfrm>
          <a:off x="0" y="0"/>
          <a:ext cx="0" cy="0"/>
          <a:chOff x="0" y="0"/>
          <a:chExt cx="0" cy="0"/>
        </a:xfrm>
      </p:grpSpPr>
      <p:sp>
        <p:nvSpPr>
          <p:cNvPr id="2" name="Text 0"/>
          <p:cNvSpPr/>
          <p:nvPr/>
        </p:nvSpPr>
        <p:spPr>
          <a:xfrm>
            <a:off x="762000" y="609600"/>
            <a:ext cx="18440400" cy="259080"/>
          </a:xfrm>
          <a:prstGeom prst="rect">
            <a:avLst/>
          </a:prstGeom>
          <a:noFill/>
          <a:ln/>
        </p:spPr>
        <p:txBody>
          <a:bodyPr wrap="square" lIns="25400" tIns="25400" rIns="25400" bIns="25400" rtlCol="0" anchor="t">
            <a:normAutofit/>
          </a:bodyPr>
          <a:lstStyle/>
          <a:p>
            <a:pPr algn="l" indent="0" marL="0">
              <a:buNone/>
            </a:pPr>
            <a:r>
              <a:rPr lang="en-US" sz="1200" b="1" spc="48" kern="0" dirty="0">
                <a:solidFill>
                  <a:srgbClr val="2E8BE0"/>
                </a:solidFill>
                <a:latin typeface="Arial" pitchFamily="34" charset="0"/>
                <a:ea typeface="Arial" pitchFamily="34" charset="-122"/>
                <a:cs typeface="Arial" pitchFamily="34" charset="-120"/>
              </a:rPr>
              <a:t>04 · 배경 / 문제 정의</a:t>
            </a:r>
            <a:endParaRPr lang="en-US" sz="1200" dirty="0"/>
          </a:p>
        </p:txBody>
      </p:sp>
      <p:sp>
        <p:nvSpPr>
          <p:cNvPr id="3" name="Text 1"/>
          <p:cNvSpPr/>
          <p:nvPr/>
        </p:nvSpPr>
        <p:spPr>
          <a:xfrm>
            <a:off x="762000" y="925830"/>
            <a:ext cx="18440400" cy="647700"/>
          </a:xfrm>
          <a:prstGeom prst="rect">
            <a:avLst/>
          </a:prstGeom>
          <a:noFill/>
          <a:ln/>
        </p:spPr>
        <p:txBody>
          <a:bodyPr wrap="square" lIns="25400" tIns="25400" rIns="25400" bIns="25400" rtlCol="0" anchor="t">
            <a:normAutofit/>
          </a:bodyPr>
          <a:lstStyle/>
          <a:p>
            <a:pPr algn="l" indent="0" marL="0">
              <a:buNone/>
            </a:pPr>
            <a:r>
              <a:rPr lang="en-US" sz="3300" b="1" spc="-99" kern="0" dirty="0">
                <a:solidFill>
                  <a:srgbClr val="143257"/>
                </a:solidFill>
                <a:latin typeface="Arial" pitchFamily="34" charset="0"/>
                <a:ea typeface="Arial" pitchFamily="34" charset="-122"/>
                <a:cs typeface="Arial" pitchFamily="34" charset="-120"/>
              </a:rPr>
              <a:t>왜 만들었나 — 흩어진 정보를 한 곳으로</a:t>
            </a:r>
            <a:endParaRPr lang="en-US" sz="3300" dirty="0"/>
          </a:p>
        </p:txBody>
      </p:sp>
      <p:sp>
        <p:nvSpPr>
          <p:cNvPr id="4" name="Shape 2"/>
          <p:cNvSpPr/>
          <p:nvPr/>
        </p:nvSpPr>
        <p:spPr>
          <a:xfrm>
            <a:off x="762000" y="1764030"/>
            <a:ext cx="7846695" cy="7913370"/>
          </a:xfrm>
          <a:prstGeom prst="roundRect">
            <a:avLst>
              <a:gd name="adj" fmla="val 2913"/>
            </a:avLst>
          </a:prstGeom>
          <a:solidFill>
            <a:srgbClr val="FFFFFF"/>
          </a:solidFill>
          <a:ln w="7620">
            <a:solidFill>
              <a:srgbClr val="F0DECB"/>
            </a:solidFill>
            <a:prstDash val="solid"/>
          </a:ln>
          <a:effectLst>
            <a:outerShdw sx="100000" sy="100000" kx="0" ky="0" algn="bl" rotWithShape="0" blurRad="323850" dist="133350" dir="5400000">
              <a:srgbClr val="E07A3C">
                <a:alpha val="8000"/>
              </a:srgbClr>
            </a:outerShdw>
          </a:effectLst>
        </p:spPr>
      </p:sp>
      <p:sp>
        <p:nvSpPr>
          <p:cNvPr id="5" name="Shape 3"/>
          <p:cNvSpPr/>
          <p:nvPr/>
        </p:nvSpPr>
        <p:spPr>
          <a:xfrm>
            <a:off x="1188720" y="2152650"/>
            <a:ext cx="674132" cy="274320"/>
          </a:xfrm>
          <a:prstGeom prst="roundRect">
            <a:avLst>
              <a:gd name="adj" fmla="val 50000"/>
            </a:avLst>
          </a:prstGeom>
          <a:solidFill>
            <a:srgbClr val="E07A3C"/>
          </a:solidFill>
          <a:ln/>
        </p:spPr>
      </p:sp>
      <p:sp>
        <p:nvSpPr>
          <p:cNvPr id="6" name="Text 4"/>
          <p:cNvSpPr/>
          <p:nvPr/>
        </p:nvSpPr>
        <p:spPr>
          <a:xfrm>
            <a:off x="1331595" y="2209800"/>
            <a:ext cx="464582" cy="198120"/>
          </a:xfrm>
          <a:prstGeom prst="rect">
            <a:avLst/>
          </a:prstGeom>
          <a:noFill/>
          <a:ln/>
        </p:spPr>
        <p:txBody>
          <a:bodyPr wrap="square" lIns="25400" tIns="25400" rIns="25400" bIns="25400" rtlCol="0" anchor="t">
            <a:normAutofit/>
          </a:bodyPr>
          <a:lstStyle/>
          <a:p>
            <a:pPr algn="l" indent="0" marL="0">
              <a:buNone/>
            </a:pPr>
            <a:r>
              <a:rPr lang="en-US" sz="1050" b="1" spc="63" kern="0" dirty="0">
                <a:solidFill>
                  <a:srgbClr val="FFFFFF"/>
                </a:solidFill>
                <a:latin typeface="Arial" pitchFamily="34" charset="0"/>
                <a:ea typeface="Arial" pitchFamily="34" charset="-122"/>
                <a:cs typeface="Arial" pitchFamily="34" charset="-120"/>
              </a:rPr>
              <a:t>AS-IS</a:t>
            </a:r>
            <a:endParaRPr lang="en-US" sz="1050" dirty="0"/>
          </a:p>
        </p:txBody>
      </p:sp>
      <p:sp>
        <p:nvSpPr>
          <p:cNvPr id="7" name="Text 5"/>
          <p:cNvSpPr/>
          <p:nvPr/>
        </p:nvSpPr>
        <p:spPr>
          <a:xfrm>
            <a:off x="1967627" y="2156460"/>
            <a:ext cx="416481" cy="304800"/>
          </a:xfrm>
          <a:prstGeom prst="rect">
            <a:avLst/>
          </a:prstGeom>
          <a:noFill/>
          <a:ln/>
        </p:spPr>
        <p:txBody>
          <a:bodyPr wrap="square" lIns="25400" tIns="25400" rIns="25400" bIns="25400" rtlCol="0" anchor="t">
            <a:normAutofit/>
          </a:bodyPr>
          <a:lstStyle/>
          <a:p>
            <a:pPr algn="l" indent="0" marL="0">
              <a:buNone/>
            </a:pPr>
            <a:r>
              <a:rPr lang="en-US" sz="1425" b="1" spc="29" kern="0" dirty="0">
                <a:solidFill>
                  <a:srgbClr val="E07A3C"/>
                </a:solidFill>
                <a:latin typeface="Arial" pitchFamily="34" charset="0"/>
                <a:ea typeface="Arial" pitchFamily="34" charset="-122"/>
                <a:cs typeface="Arial" pitchFamily="34" charset="-120"/>
              </a:rPr>
              <a:t>지금</a:t>
            </a:r>
            <a:endParaRPr lang="en-US" sz="1425" dirty="0"/>
          </a:p>
        </p:txBody>
      </p:sp>
      <p:sp>
        <p:nvSpPr>
          <p:cNvPr id="8" name="Text 6"/>
          <p:cNvSpPr/>
          <p:nvPr/>
        </p:nvSpPr>
        <p:spPr>
          <a:xfrm>
            <a:off x="1188720" y="2617470"/>
            <a:ext cx="7203053" cy="1013460"/>
          </a:xfrm>
          <a:prstGeom prst="rect">
            <a:avLst/>
          </a:prstGeom>
          <a:noFill/>
          <a:ln/>
        </p:spPr>
        <p:txBody>
          <a:bodyPr wrap="square" lIns="25400" tIns="25400" rIns="25400" bIns="25400" rtlCol="0" anchor="t">
            <a:normAutofit/>
          </a:bodyPr>
          <a:lstStyle/>
          <a:p>
            <a:pPr algn="l" indent="0" marL="0">
              <a:lnSpc>
                <a:spcPct val="128000"/>
              </a:lnSpc>
              <a:buNone/>
            </a:pPr>
            <a:r>
              <a:rPr lang="en-US" sz="3000" b="1" spc="-90" kern="0" dirty="0">
                <a:solidFill>
                  <a:srgbClr val="143257"/>
                </a:solidFill>
                <a:latin typeface="Arial" pitchFamily="34" charset="0"/>
                <a:ea typeface="Arial" pitchFamily="34" charset="-122"/>
                <a:cs typeface="Arial" pitchFamily="34" charset="-120"/>
              </a:rPr>
              <a:t>3개 단과대 정보가 여러 곳에 흩어져 있다</a:t>
            </a:r>
            <a:endParaRPr lang="en-US" sz="3000" dirty="0"/>
          </a:p>
        </p:txBody>
      </p:sp>
      <p:sp>
        <p:nvSpPr>
          <p:cNvPr id="9" name="Text 7"/>
          <p:cNvSpPr/>
          <p:nvPr/>
        </p:nvSpPr>
        <p:spPr>
          <a:xfrm>
            <a:off x="1188720" y="3764280"/>
            <a:ext cx="7203053" cy="708660"/>
          </a:xfrm>
          <a:prstGeom prst="rect">
            <a:avLst/>
          </a:prstGeom>
          <a:noFill/>
          <a:ln/>
        </p:spPr>
        <p:txBody>
          <a:bodyPr wrap="square" lIns="25400" tIns="25400" rIns="25400" bIns="25400" rtlCol="0" anchor="t">
            <a:normAutofit/>
          </a:bodyPr>
          <a:lstStyle/>
          <a:p>
            <a:pPr algn="l" indent="0" marL="0">
              <a:lnSpc>
                <a:spcPct val="160000"/>
              </a:lnSpc>
              <a:buNone/>
            </a:pPr>
            <a:r>
              <a:rPr lang="en-US" sz="1650" b="1" dirty="0">
                <a:solidFill>
                  <a:srgbClr val="51657B"/>
                </a:solidFill>
                <a:latin typeface="Arial" pitchFamily="34" charset="0"/>
                <a:ea typeface="Arial" pitchFamily="34" charset="-122"/>
                <a:cs typeface="Arial" pitchFamily="34" charset="-120"/>
              </a:rPr>
              <a:t>공식 페이지·학사요람·PDF·공지마다 정보가 분산 → 학생이 한 번에 찾기 어려움</a:t>
            </a:r>
            <a:endParaRPr lang="en-US" sz="1650" dirty="0"/>
          </a:p>
        </p:txBody>
      </p:sp>
      <p:sp>
        <p:nvSpPr>
          <p:cNvPr id="10" name="Shape 8"/>
          <p:cNvSpPr/>
          <p:nvPr/>
        </p:nvSpPr>
        <p:spPr>
          <a:xfrm>
            <a:off x="1188720" y="8115300"/>
            <a:ext cx="3439478" cy="529590"/>
          </a:xfrm>
          <a:prstGeom prst="roundRect">
            <a:avLst>
              <a:gd name="adj" fmla="val 23381"/>
            </a:avLst>
          </a:prstGeom>
          <a:solidFill>
            <a:srgbClr val="FBF4EC"/>
          </a:solidFill>
          <a:ln w="7620">
            <a:solidFill>
              <a:srgbClr val="F0E0CE"/>
            </a:solidFill>
            <a:prstDash val="solid"/>
          </a:ln>
        </p:spPr>
      </p:sp>
      <p:sp>
        <p:nvSpPr>
          <p:cNvPr id="11" name="Text 9"/>
          <p:cNvSpPr/>
          <p:nvPr/>
        </p:nvSpPr>
        <p:spPr>
          <a:xfrm>
            <a:off x="1367790" y="8246745"/>
            <a:ext cx="3184522" cy="304800"/>
          </a:xfrm>
          <a:prstGeom prst="rect">
            <a:avLst/>
          </a:prstGeom>
          <a:noFill/>
          <a:ln/>
        </p:spPr>
        <p:txBody>
          <a:bodyPr wrap="square" lIns="25400" tIns="25400" rIns="25400" bIns="25400" rtlCol="0" anchor="t">
            <a:normAutofit/>
          </a:bodyPr>
          <a:lstStyle/>
          <a:p>
            <a:pPr algn="l" indent="0" marL="0">
              <a:buNone/>
            </a:pPr>
            <a:r>
              <a:rPr lang="en-US" sz="1425" b="1" dirty="0">
                <a:solidFill>
                  <a:srgbClr val="9A6B3C"/>
                </a:solidFill>
                <a:latin typeface="Arial" pitchFamily="34" charset="0"/>
                <a:ea typeface="Arial" pitchFamily="34" charset="-122"/>
                <a:cs typeface="Arial" pitchFamily="34" charset="-120"/>
              </a:rPr>
              <a:t>학과 홈페이지</a:t>
            </a:r>
            <a:endParaRPr lang="en-US" sz="1425" dirty="0"/>
          </a:p>
        </p:txBody>
      </p:sp>
      <p:sp>
        <p:nvSpPr>
          <p:cNvPr id="12" name="Shape 10"/>
          <p:cNvSpPr/>
          <p:nvPr/>
        </p:nvSpPr>
        <p:spPr>
          <a:xfrm>
            <a:off x="4742497" y="8115300"/>
            <a:ext cx="3439478" cy="529590"/>
          </a:xfrm>
          <a:prstGeom prst="roundRect">
            <a:avLst>
              <a:gd name="adj" fmla="val 23381"/>
            </a:avLst>
          </a:prstGeom>
          <a:solidFill>
            <a:srgbClr val="FBF4EC"/>
          </a:solidFill>
          <a:ln w="7620">
            <a:solidFill>
              <a:srgbClr val="F0E0CE"/>
            </a:solidFill>
            <a:prstDash val="solid"/>
          </a:ln>
        </p:spPr>
      </p:sp>
      <p:sp>
        <p:nvSpPr>
          <p:cNvPr id="13" name="Text 11"/>
          <p:cNvSpPr/>
          <p:nvPr/>
        </p:nvSpPr>
        <p:spPr>
          <a:xfrm>
            <a:off x="4921567" y="8246745"/>
            <a:ext cx="3184522" cy="304800"/>
          </a:xfrm>
          <a:prstGeom prst="rect">
            <a:avLst/>
          </a:prstGeom>
          <a:noFill/>
          <a:ln/>
        </p:spPr>
        <p:txBody>
          <a:bodyPr wrap="square" lIns="25400" tIns="25400" rIns="25400" bIns="25400" rtlCol="0" anchor="t">
            <a:normAutofit/>
          </a:bodyPr>
          <a:lstStyle/>
          <a:p>
            <a:pPr algn="l" indent="0" marL="0">
              <a:buNone/>
            </a:pPr>
            <a:r>
              <a:rPr lang="en-US" sz="1425" b="1" dirty="0">
                <a:solidFill>
                  <a:srgbClr val="9A6B3C"/>
                </a:solidFill>
                <a:latin typeface="Arial" pitchFamily="34" charset="0"/>
                <a:ea typeface="Arial" pitchFamily="34" charset="-122"/>
                <a:cs typeface="Arial" pitchFamily="34" charset="-120"/>
              </a:rPr>
              <a:t>학사요람 PDF</a:t>
            </a:r>
            <a:endParaRPr lang="en-US" sz="1425" dirty="0"/>
          </a:p>
        </p:txBody>
      </p:sp>
      <p:sp>
        <p:nvSpPr>
          <p:cNvPr id="14" name="Shape 12"/>
          <p:cNvSpPr/>
          <p:nvPr/>
        </p:nvSpPr>
        <p:spPr>
          <a:xfrm>
            <a:off x="1188720" y="8759190"/>
            <a:ext cx="3439478" cy="529590"/>
          </a:xfrm>
          <a:prstGeom prst="roundRect">
            <a:avLst>
              <a:gd name="adj" fmla="val 23381"/>
            </a:avLst>
          </a:prstGeom>
          <a:solidFill>
            <a:srgbClr val="FBF4EC"/>
          </a:solidFill>
          <a:ln w="7620">
            <a:solidFill>
              <a:srgbClr val="F0E0CE"/>
            </a:solidFill>
            <a:prstDash val="solid"/>
          </a:ln>
        </p:spPr>
      </p:sp>
      <p:sp>
        <p:nvSpPr>
          <p:cNvPr id="15" name="Text 13"/>
          <p:cNvSpPr/>
          <p:nvPr/>
        </p:nvSpPr>
        <p:spPr>
          <a:xfrm>
            <a:off x="1367790" y="8890635"/>
            <a:ext cx="3184522" cy="304800"/>
          </a:xfrm>
          <a:prstGeom prst="rect">
            <a:avLst/>
          </a:prstGeom>
          <a:noFill/>
          <a:ln/>
        </p:spPr>
        <p:txBody>
          <a:bodyPr wrap="square" lIns="25400" tIns="25400" rIns="25400" bIns="25400" rtlCol="0" anchor="t">
            <a:normAutofit/>
          </a:bodyPr>
          <a:lstStyle/>
          <a:p>
            <a:pPr algn="l" indent="0" marL="0">
              <a:buNone/>
            </a:pPr>
            <a:r>
              <a:rPr lang="en-US" sz="1425" b="1" dirty="0">
                <a:solidFill>
                  <a:srgbClr val="9A6B3C"/>
                </a:solidFill>
                <a:latin typeface="Arial" pitchFamily="34" charset="0"/>
                <a:ea typeface="Arial" pitchFamily="34" charset="-122"/>
                <a:cs typeface="Arial" pitchFamily="34" charset="-120"/>
              </a:rPr>
              <a:t>공지·게시판</a:t>
            </a:r>
            <a:endParaRPr lang="en-US" sz="1425" dirty="0"/>
          </a:p>
        </p:txBody>
      </p:sp>
      <p:sp>
        <p:nvSpPr>
          <p:cNvPr id="16" name="Shape 14"/>
          <p:cNvSpPr/>
          <p:nvPr/>
        </p:nvSpPr>
        <p:spPr>
          <a:xfrm>
            <a:off x="4742497" y="8759190"/>
            <a:ext cx="3439478" cy="529590"/>
          </a:xfrm>
          <a:prstGeom prst="roundRect">
            <a:avLst>
              <a:gd name="adj" fmla="val 23381"/>
            </a:avLst>
          </a:prstGeom>
          <a:solidFill>
            <a:srgbClr val="FBF4EC"/>
          </a:solidFill>
          <a:ln w="7620">
            <a:solidFill>
              <a:srgbClr val="F0E0CE"/>
            </a:solidFill>
            <a:prstDash val="solid"/>
          </a:ln>
        </p:spPr>
      </p:sp>
      <p:sp>
        <p:nvSpPr>
          <p:cNvPr id="17" name="Text 15"/>
          <p:cNvSpPr/>
          <p:nvPr/>
        </p:nvSpPr>
        <p:spPr>
          <a:xfrm>
            <a:off x="4921567" y="8890635"/>
            <a:ext cx="3184522" cy="304800"/>
          </a:xfrm>
          <a:prstGeom prst="rect">
            <a:avLst/>
          </a:prstGeom>
          <a:noFill/>
          <a:ln/>
        </p:spPr>
        <p:txBody>
          <a:bodyPr wrap="square" lIns="25400" tIns="25400" rIns="25400" bIns="25400" rtlCol="0" anchor="t">
            <a:normAutofit/>
          </a:bodyPr>
          <a:lstStyle/>
          <a:p>
            <a:pPr algn="l" indent="0" marL="0">
              <a:buNone/>
            </a:pPr>
            <a:r>
              <a:rPr lang="en-US" sz="1425" b="1" dirty="0">
                <a:solidFill>
                  <a:srgbClr val="9A6B3C"/>
                </a:solidFill>
                <a:latin typeface="Arial" pitchFamily="34" charset="0"/>
                <a:ea typeface="Arial" pitchFamily="34" charset="-122"/>
                <a:cs typeface="Arial" pitchFamily="34" charset="-120"/>
              </a:rPr>
              <a:t>교수·교과목 안내</a:t>
            </a:r>
            <a:endParaRPr lang="en-US" sz="1425" dirty="0"/>
          </a:p>
        </p:txBody>
      </p:sp>
      <p:sp>
        <p:nvSpPr>
          <p:cNvPr id="18" name="Shape 16"/>
          <p:cNvSpPr/>
          <p:nvPr/>
        </p:nvSpPr>
        <p:spPr>
          <a:xfrm>
            <a:off x="8875395" y="5444490"/>
            <a:ext cx="552450" cy="552450"/>
          </a:xfrm>
          <a:prstGeom prst="ellipse">
            <a:avLst/>
          </a:prstGeom>
          <a:solidFill>
            <a:srgbClr val="FFFFFF"/>
          </a:solidFill>
          <a:ln w="7620">
            <a:solidFill>
              <a:srgbClr val="E6EEF7"/>
            </a:solidFill>
            <a:prstDash val="solid"/>
          </a:ln>
          <a:effectLst>
            <a:outerShdw sx="100000" sy="100000" kx="0" ky="0" algn="bl" rotWithShape="0" blurRad="190500" dist="76200" dir="5400000">
              <a:srgbClr val="2E8BE0">
                <a:alpha val="12000"/>
              </a:srgbClr>
            </a:outerShdw>
          </a:effectLst>
        </p:spPr>
      </p:sp>
      <p:sp>
        <p:nvSpPr>
          <p:cNvPr id="19" name="Text 17"/>
          <p:cNvSpPr/>
          <p:nvPr/>
        </p:nvSpPr>
        <p:spPr>
          <a:xfrm>
            <a:off x="8844915" y="5452110"/>
            <a:ext cx="613410" cy="575310"/>
          </a:xfrm>
          <a:prstGeom prst="rect">
            <a:avLst/>
          </a:prstGeom>
          <a:noFill/>
          <a:ln/>
        </p:spPr>
        <p:txBody>
          <a:bodyPr wrap="square" lIns="25400" tIns="25400" rIns="25400" bIns="25400" rtlCol="0" anchor="ctr">
            <a:normAutofit/>
          </a:bodyPr>
          <a:lstStyle/>
          <a:p>
            <a:pPr algn="ctr" indent="0" marL="0">
              <a:buNone/>
            </a:pPr>
            <a:r>
              <a:rPr lang="en-US" sz="2250" dirty="0">
                <a:solidFill>
                  <a:srgbClr val="2E8BE0"/>
                </a:solidFill>
                <a:latin typeface="Arial" pitchFamily="34" charset="0"/>
                <a:ea typeface="Arial" pitchFamily="34" charset="-122"/>
                <a:cs typeface="Arial" pitchFamily="34" charset="-120"/>
              </a:rPr>
              <a:t>→</a:t>
            </a:r>
            <a:endParaRPr lang="en-US" sz="2250" dirty="0"/>
          </a:p>
        </p:txBody>
      </p:sp>
      <p:sp>
        <p:nvSpPr>
          <p:cNvPr id="20" name="Shape 18"/>
          <p:cNvSpPr/>
          <p:nvPr/>
        </p:nvSpPr>
        <p:spPr>
          <a:xfrm>
            <a:off x="9694545" y="1764030"/>
            <a:ext cx="7831455" cy="7913370"/>
          </a:xfrm>
          <a:prstGeom prst="roundRect">
            <a:avLst>
              <a:gd name="adj" fmla="val 2919"/>
            </a:avLst>
          </a:prstGeom>
          <a:gradFill rotWithShape="1">
            <a:gsLst>
              <a:gs pos="0">
                <a:srgbClr val="2E86DD">
                  <a:alpha val="100000"/>
                </a:srgbClr>
              </a:gs>
              <a:gs pos="100000">
                <a:srgbClr val="1E63B5">
                  <a:alpha val="100000"/>
                </a:srgbClr>
              </a:gs>
            </a:gsLst>
            <a:lin ang="3900000" scaled="0"/>
          </a:gradFill>
          <a:ln/>
          <a:effectLst>
            <a:outerShdw sx="100000" sy="100000" kx="0" ky="0" algn="bl" rotWithShape="0" blurRad="457200" dist="190500" dir="5400000">
              <a:srgbClr val="1E63B5">
                <a:alpha val="30000"/>
              </a:srgbClr>
            </a:outerShdw>
          </a:effectLst>
        </p:spPr>
      </p:sp>
      <p:sp>
        <p:nvSpPr>
          <p:cNvPr id="21" name="Shape 19"/>
          <p:cNvSpPr/>
          <p:nvPr/>
        </p:nvSpPr>
        <p:spPr>
          <a:xfrm>
            <a:off x="10113645" y="2145030"/>
            <a:ext cx="730925" cy="274320"/>
          </a:xfrm>
          <a:prstGeom prst="roundRect">
            <a:avLst>
              <a:gd name="adj" fmla="val 50000"/>
            </a:avLst>
          </a:prstGeom>
          <a:solidFill>
            <a:srgbClr val="FFFFFF"/>
          </a:solidFill>
          <a:ln/>
        </p:spPr>
      </p:sp>
      <p:sp>
        <p:nvSpPr>
          <p:cNvPr id="22" name="Text 20"/>
          <p:cNvSpPr/>
          <p:nvPr/>
        </p:nvSpPr>
        <p:spPr>
          <a:xfrm>
            <a:off x="10256520" y="2202180"/>
            <a:ext cx="521375" cy="198120"/>
          </a:xfrm>
          <a:prstGeom prst="rect">
            <a:avLst/>
          </a:prstGeom>
          <a:noFill/>
          <a:ln/>
        </p:spPr>
        <p:txBody>
          <a:bodyPr wrap="square" lIns="25400" tIns="25400" rIns="25400" bIns="25400" rtlCol="0" anchor="t">
            <a:normAutofit/>
          </a:bodyPr>
          <a:lstStyle/>
          <a:p>
            <a:pPr algn="l" indent="0" marL="0">
              <a:buNone/>
            </a:pPr>
            <a:r>
              <a:rPr lang="en-US" sz="1050" b="1" spc="63" kern="0" dirty="0">
                <a:solidFill>
                  <a:srgbClr val="1E63B5"/>
                </a:solidFill>
                <a:latin typeface="Arial" pitchFamily="34" charset="0"/>
                <a:ea typeface="Arial" pitchFamily="34" charset="-122"/>
                <a:cs typeface="Arial" pitchFamily="34" charset="-120"/>
              </a:rPr>
              <a:t>TO-BE</a:t>
            </a:r>
            <a:endParaRPr lang="en-US" sz="1050" dirty="0"/>
          </a:p>
        </p:txBody>
      </p:sp>
      <p:sp>
        <p:nvSpPr>
          <p:cNvPr id="23" name="Text 21"/>
          <p:cNvSpPr/>
          <p:nvPr/>
        </p:nvSpPr>
        <p:spPr>
          <a:xfrm>
            <a:off x="10949344" y="2148840"/>
            <a:ext cx="586621" cy="304800"/>
          </a:xfrm>
          <a:prstGeom prst="rect">
            <a:avLst/>
          </a:prstGeom>
          <a:noFill/>
          <a:ln/>
        </p:spPr>
        <p:txBody>
          <a:bodyPr wrap="square" lIns="25400" tIns="25400" rIns="25400" bIns="25400" rtlCol="0" anchor="t">
            <a:normAutofit/>
          </a:bodyPr>
          <a:lstStyle/>
          <a:p>
            <a:pPr algn="l" indent="0" marL="0">
              <a:buNone/>
            </a:pPr>
            <a:r>
              <a:rPr lang="en-US" sz="1425" b="1" spc="29" kern="0" dirty="0">
                <a:solidFill>
                  <a:srgbClr val="FFFFFF">
                    <a:alpha val="85000"/>
                  </a:srgbClr>
                </a:solidFill>
                <a:latin typeface="Arial" pitchFamily="34" charset="0"/>
                <a:ea typeface="Arial" pitchFamily="34" charset="-122"/>
                <a:cs typeface="Arial" pitchFamily="34" charset="-120"/>
              </a:rPr>
              <a:t>넙죽이</a:t>
            </a:r>
            <a:endParaRPr lang="en-US" sz="1425" dirty="0"/>
          </a:p>
        </p:txBody>
      </p:sp>
      <p:sp>
        <p:nvSpPr>
          <p:cNvPr id="24" name="Text 22"/>
          <p:cNvSpPr/>
          <p:nvPr/>
        </p:nvSpPr>
        <p:spPr>
          <a:xfrm>
            <a:off x="10113645" y="2609850"/>
            <a:ext cx="7203053" cy="1013460"/>
          </a:xfrm>
          <a:prstGeom prst="rect">
            <a:avLst/>
          </a:prstGeom>
          <a:noFill/>
          <a:ln/>
        </p:spPr>
        <p:txBody>
          <a:bodyPr wrap="square" lIns="25400" tIns="25400" rIns="25400" bIns="25400" rtlCol="0" anchor="t">
            <a:normAutofit/>
          </a:bodyPr>
          <a:lstStyle/>
          <a:p>
            <a:pPr algn="l" indent="0" marL="0">
              <a:lnSpc>
                <a:spcPct val="128000"/>
              </a:lnSpc>
              <a:buNone/>
            </a:pPr>
            <a:r>
              <a:rPr lang="en-US" sz="3000" b="1" spc="-90" kern="0" dirty="0">
                <a:solidFill>
                  <a:srgbClr val="FFFFFF"/>
                </a:solidFill>
                <a:latin typeface="Arial" pitchFamily="34" charset="0"/>
                <a:ea typeface="Arial" pitchFamily="34" charset="-122"/>
                <a:cs typeface="Arial" pitchFamily="34" charset="-120"/>
              </a:rPr>
              <a:t>자연어로 묻고 근거 있는 답을 받는다</a:t>
            </a:r>
            <a:endParaRPr lang="en-US" sz="3000" dirty="0"/>
          </a:p>
        </p:txBody>
      </p:sp>
      <p:sp>
        <p:nvSpPr>
          <p:cNvPr id="25" name="Text 23"/>
          <p:cNvSpPr/>
          <p:nvPr/>
        </p:nvSpPr>
        <p:spPr>
          <a:xfrm>
            <a:off x="10113645" y="3756660"/>
            <a:ext cx="7203053" cy="373380"/>
          </a:xfrm>
          <a:prstGeom prst="rect">
            <a:avLst/>
          </a:prstGeom>
          <a:noFill/>
          <a:ln/>
        </p:spPr>
        <p:txBody>
          <a:bodyPr wrap="square" lIns="25400" tIns="25400" rIns="25400" bIns="25400" rtlCol="0" anchor="t">
            <a:normAutofit/>
          </a:bodyPr>
          <a:lstStyle/>
          <a:p>
            <a:pPr algn="l" indent="0" marL="0">
              <a:lnSpc>
                <a:spcPct val="160000"/>
              </a:lnSpc>
              <a:buNone/>
            </a:pPr>
            <a:r>
              <a:rPr lang="en-US" sz="1650" b="1" dirty="0">
                <a:solidFill>
                  <a:srgbClr val="FFFFFF">
                    <a:alpha val="90000"/>
                  </a:srgbClr>
                </a:solidFill>
                <a:latin typeface="Arial" pitchFamily="34" charset="0"/>
                <a:ea typeface="Arial" pitchFamily="34" charset="-122"/>
                <a:cs typeface="Arial" pitchFamily="34" charset="-120"/>
              </a:rPr>
              <a:t>질문 한 번이면 답변과 함께 출처까지 같이 제시</a:t>
            </a:r>
            <a:endParaRPr lang="en-US" sz="1650" dirty="0"/>
          </a:p>
        </p:txBody>
      </p:sp>
      <p:sp>
        <p:nvSpPr>
          <p:cNvPr id="26" name="Shape 24"/>
          <p:cNvSpPr/>
          <p:nvPr/>
        </p:nvSpPr>
        <p:spPr>
          <a:xfrm>
            <a:off x="10113645" y="8100060"/>
            <a:ext cx="6993255" cy="541020"/>
          </a:xfrm>
          <a:prstGeom prst="roundRect">
            <a:avLst>
              <a:gd name="adj" fmla="val 22887"/>
            </a:avLst>
          </a:prstGeom>
          <a:solidFill>
            <a:srgbClr val="FFFFFF">
              <a:alpha val="13000"/>
            </a:srgbClr>
          </a:solidFill>
          <a:ln/>
        </p:spPr>
      </p:sp>
      <p:sp>
        <p:nvSpPr>
          <p:cNvPr id="27" name="Text 25"/>
          <p:cNvSpPr/>
          <p:nvPr/>
        </p:nvSpPr>
        <p:spPr>
          <a:xfrm>
            <a:off x="10285095" y="8244840"/>
            <a:ext cx="337780" cy="289560"/>
          </a:xfrm>
          <a:prstGeom prst="rect">
            <a:avLst/>
          </a:prstGeom>
          <a:noFill/>
          <a:ln/>
        </p:spPr>
        <p:txBody>
          <a:bodyPr wrap="square" lIns="25400" tIns="25400" rIns="25400" bIns="25400" rtlCol="0" anchor="t">
            <a:normAutofit/>
          </a:bodyPr>
          <a:lstStyle/>
          <a:p>
            <a:pPr algn="l" indent="0" marL="0">
              <a:buNone/>
            </a:pPr>
            <a:r>
              <a:rPr lang="en-US" sz="1500" dirty="0">
                <a:solidFill>
                  <a:srgbClr val="FFFFFF"/>
                </a:solidFill>
                <a:latin typeface="Arial" pitchFamily="34" charset="0"/>
                <a:ea typeface="Arial" pitchFamily="34" charset="-122"/>
                <a:cs typeface="Arial" pitchFamily="34" charset="-120"/>
              </a:rPr>
              <a:t>💬</a:t>
            </a:r>
            <a:endParaRPr lang="en-US" sz="1500" dirty="0"/>
          </a:p>
        </p:txBody>
      </p:sp>
      <p:sp>
        <p:nvSpPr>
          <p:cNvPr id="28" name="Text 26"/>
          <p:cNvSpPr/>
          <p:nvPr/>
        </p:nvSpPr>
        <p:spPr>
          <a:xfrm>
            <a:off x="10670501" y="8233410"/>
            <a:ext cx="1968068" cy="312420"/>
          </a:xfrm>
          <a:prstGeom prst="rect">
            <a:avLst/>
          </a:prstGeom>
          <a:noFill/>
          <a:ln/>
        </p:spPr>
        <p:txBody>
          <a:bodyPr wrap="square" lIns="25400" tIns="25400" rIns="25400" bIns="25400" rtlCol="0" anchor="t">
            <a:normAutofit/>
          </a:bodyPr>
          <a:lstStyle/>
          <a:p>
            <a:pPr algn="l" indent="0" marL="0">
              <a:buNone/>
            </a:pPr>
            <a:r>
              <a:rPr lang="en-US" sz="1500" b="1" dirty="0">
                <a:solidFill>
                  <a:srgbClr val="FFFFFF"/>
                </a:solidFill>
                <a:latin typeface="Arial" pitchFamily="34" charset="0"/>
                <a:ea typeface="Arial" pitchFamily="34" charset="-122"/>
                <a:cs typeface="Arial" pitchFamily="34" charset="-120"/>
              </a:rPr>
              <a:t>대화 한 번으로 검색 끝</a:t>
            </a:r>
            <a:endParaRPr lang="en-US" sz="1500" dirty="0"/>
          </a:p>
        </p:txBody>
      </p:sp>
      <p:sp>
        <p:nvSpPr>
          <p:cNvPr id="29" name="Shape 27"/>
          <p:cNvSpPr/>
          <p:nvPr/>
        </p:nvSpPr>
        <p:spPr>
          <a:xfrm>
            <a:off x="10113645" y="8755380"/>
            <a:ext cx="6993255" cy="541020"/>
          </a:xfrm>
          <a:prstGeom prst="roundRect">
            <a:avLst>
              <a:gd name="adj" fmla="val 22887"/>
            </a:avLst>
          </a:prstGeom>
          <a:solidFill>
            <a:srgbClr val="FFFFFF">
              <a:alpha val="13000"/>
            </a:srgbClr>
          </a:solidFill>
          <a:ln/>
        </p:spPr>
      </p:sp>
      <p:sp>
        <p:nvSpPr>
          <p:cNvPr id="30" name="Text 28"/>
          <p:cNvSpPr/>
          <p:nvPr/>
        </p:nvSpPr>
        <p:spPr>
          <a:xfrm>
            <a:off x="10285095" y="8900160"/>
            <a:ext cx="337780" cy="289560"/>
          </a:xfrm>
          <a:prstGeom prst="rect">
            <a:avLst/>
          </a:prstGeom>
          <a:noFill/>
          <a:ln/>
        </p:spPr>
        <p:txBody>
          <a:bodyPr wrap="square" lIns="25400" tIns="25400" rIns="25400" bIns="25400" rtlCol="0" anchor="t">
            <a:normAutofit/>
          </a:bodyPr>
          <a:lstStyle/>
          <a:p>
            <a:pPr algn="l" indent="0" marL="0">
              <a:buNone/>
            </a:pPr>
            <a:r>
              <a:rPr lang="en-US" sz="1500" dirty="0">
                <a:solidFill>
                  <a:srgbClr val="FFFFFF"/>
                </a:solidFill>
                <a:latin typeface="Arial" pitchFamily="34" charset="0"/>
                <a:ea typeface="Arial" pitchFamily="34" charset="-122"/>
                <a:cs typeface="Arial" pitchFamily="34" charset="-120"/>
              </a:rPr>
              <a:t>🔖</a:t>
            </a:r>
            <a:endParaRPr lang="en-US" sz="1500" dirty="0"/>
          </a:p>
        </p:txBody>
      </p:sp>
      <p:sp>
        <p:nvSpPr>
          <p:cNvPr id="31" name="Text 29"/>
          <p:cNvSpPr/>
          <p:nvPr/>
        </p:nvSpPr>
        <p:spPr>
          <a:xfrm>
            <a:off x="10670501" y="8888730"/>
            <a:ext cx="1909786" cy="312420"/>
          </a:xfrm>
          <a:prstGeom prst="rect">
            <a:avLst/>
          </a:prstGeom>
          <a:noFill/>
          <a:ln/>
        </p:spPr>
        <p:txBody>
          <a:bodyPr wrap="square" lIns="25400" tIns="25400" rIns="25400" bIns="25400" rtlCol="0" anchor="t">
            <a:normAutofit/>
          </a:bodyPr>
          <a:lstStyle/>
          <a:p>
            <a:pPr algn="l" indent="0" marL="0">
              <a:buNone/>
            </a:pPr>
            <a:r>
              <a:rPr lang="en-US" sz="1500" b="1" dirty="0">
                <a:solidFill>
                  <a:srgbClr val="FFFFFF"/>
                </a:solidFill>
                <a:latin typeface="Arial" pitchFamily="34" charset="0"/>
                <a:ea typeface="Arial" pitchFamily="34" charset="-122"/>
                <a:cs typeface="Arial" pitchFamily="34" charset="-120"/>
              </a:rPr>
              <a:t>출처 카드로 신뢰 확보</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8FC"/>
        </a:solidFill>
      </p:bgPr>
    </p:bg>
    <p:spTree>
      <p:nvGrpSpPr>
        <p:cNvPr id="1" name=""/>
        <p:cNvGrpSpPr/>
        <p:nvPr/>
      </p:nvGrpSpPr>
      <p:grpSpPr>
        <a:xfrm>
          <a:off x="0" y="0"/>
          <a:ext cx="0" cy="0"/>
          <a:chOff x="0" y="0"/>
          <a:chExt cx="0" cy="0"/>
        </a:xfrm>
      </p:grpSpPr>
      <p:sp>
        <p:nvSpPr>
          <p:cNvPr id="2" name="Shape 0"/>
          <p:cNvSpPr/>
          <p:nvPr/>
        </p:nvSpPr>
        <p:spPr>
          <a:xfrm>
            <a:off x="15738038" y="361950"/>
            <a:ext cx="1787962" cy="358140"/>
          </a:xfrm>
          <a:prstGeom prst="roundRect">
            <a:avLst>
              <a:gd name="adj" fmla="val 50000"/>
            </a:avLst>
          </a:prstGeom>
          <a:solidFill>
            <a:srgbClr val="FDF0DD"/>
          </a:solidFill>
          <a:ln/>
        </p:spPr>
      </p:sp>
      <p:sp>
        <p:nvSpPr>
          <p:cNvPr id="3" name="Text 1"/>
          <p:cNvSpPr/>
          <p:nvPr/>
        </p:nvSpPr>
        <p:spPr>
          <a:xfrm>
            <a:off x="15909488" y="438150"/>
            <a:ext cx="1521262" cy="243840"/>
          </a:xfrm>
          <a:prstGeom prst="rect">
            <a:avLst/>
          </a:prstGeom>
          <a:noFill/>
          <a:ln/>
        </p:spPr>
        <p:txBody>
          <a:bodyPr wrap="square" lIns="25400" tIns="25400" rIns="25400" bIns="25400" rtlCol="0" anchor="t">
            <a:normAutofit/>
          </a:bodyPr>
          <a:lstStyle/>
          <a:p>
            <a:pPr algn="l" indent="0" marL="0">
              <a:buNone/>
            </a:pPr>
            <a:r>
              <a:rPr lang="en-US" sz="1125" b="1" dirty="0">
                <a:solidFill>
                  <a:srgbClr val="C77E1E"/>
                </a:solidFill>
                <a:latin typeface="Arial" pitchFamily="34" charset="0"/>
                <a:ea typeface="Arial" pitchFamily="34" charset="-122"/>
                <a:cs typeface="Arial" pitchFamily="34" charset="-120"/>
              </a:rPr>
              <a:t>평가 ① 요구사항 정의서</a:t>
            </a:r>
            <a:endParaRPr lang="en-US" sz="1125" dirty="0"/>
          </a:p>
        </p:txBody>
      </p:sp>
      <p:sp>
        <p:nvSpPr>
          <p:cNvPr id="4" name="Text 2"/>
          <p:cNvSpPr/>
          <p:nvPr/>
        </p:nvSpPr>
        <p:spPr>
          <a:xfrm>
            <a:off x="762000" y="609600"/>
            <a:ext cx="18440400" cy="259080"/>
          </a:xfrm>
          <a:prstGeom prst="rect">
            <a:avLst/>
          </a:prstGeom>
          <a:noFill/>
          <a:ln/>
        </p:spPr>
        <p:txBody>
          <a:bodyPr wrap="square" lIns="25400" tIns="25400" rIns="25400" bIns="25400" rtlCol="0" anchor="t">
            <a:normAutofit/>
          </a:bodyPr>
          <a:lstStyle/>
          <a:p>
            <a:pPr algn="l" indent="0" marL="0">
              <a:buNone/>
            </a:pPr>
            <a:r>
              <a:rPr lang="en-US" sz="1200" b="1" spc="48" kern="0" dirty="0">
                <a:solidFill>
                  <a:srgbClr val="2E8BE0"/>
                </a:solidFill>
                <a:latin typeface="Arial" pitchFamily="34" charset="0"/>
                <a:ea typeface="Arial" pitchFamily="34" charset="-122"/>
                <a:cs typeface="Arial" pitchFamily="34" charset="-120"/>
              </a:rPr>
              <a:t>05 · 요구사항 정의서</a:t>
            </a:r>
            <a:endParaRPr lang="en-US" sz="1200" dirty="0"/>
          </a:p>
        </p:txBody>
      </p:sp>
      <p:sp>
        <p:nvSpPr>
          <p:cNvPr id="5" name="Text 3"/>
          <p:cNvSpPr/>
          <p:nvPr/>
        </p:nvSpPr>
        <p:spPr>
          <a:xfrm>
            <a:off x="762000" y="963930"/>
            <a:ext cx="18440400" cy="731520"/>
          </a:xfrm>
          <a:prstGeom prst="rect">
            <a:avLst/>
          </a:prstGeom>
          <a:noFill/>
          <a:ln/>
        </p:spPr>
        <p:txBody>
          <a:bodyPr wrap="square" lIns="25400" tIns="25400" rIns="25400" bIns="25400" rtlCol="0" anchor="t">
            <a:normAutofit/>
          </a:bodyPr>
          <a:lstStyle/>
          <a:p>
            <a:pPr algn="l" indent="0" marL="0">
              <a:buNone/>
            </a:pPr>
            <a:r>
              <a:rPr lang="en-US" sz="3750" b="1" spc="-112" kern="0" dirty="0">
                <a:solidFill>
                  <a:srgbClr val="143257"/>
                </a:solidFill>
                <a:latin typeface="Arial" pitchFamily="34" charset="0"/>
                <a:ea typeface="Arial" pitchFamily="34" charset="-122"/>
                <a:cs typeface="Arial" pitchFamily="34" charset="-120"/>
              </a:rPr>
              <a:t>무엇을, 어디까지 만들지 먼저 정의했습니다</a:t>
            </a:r>
            <a:endParaRPr lang="en-US" sz="3750" dirty="0"/>
          </a:p>
        </p:txBody>
      </p:sp>
      <p:sp>
        <p:nvSpPr>
          <p:cNvPr id="6" name="Shape 4"/>
          <p:cNvSpPr/>
          <p:nvPr/>
        </p:nvSpPr>
        <p:spPr>
          <a:xfrm>
            <a:off x="762000" y="1981200"/>
            <a:ext cx="16764000" cy="1047750"/>
          </a:xfrm>
          <a:prstGeom prst="roundRect">
            <a:avLst>
              <a:gd name="adj" fmla="val 18182"/>
            </a:avLst>
          </a:prstGeom>
          <a:solidFill>
            <a:srgbClr val="FFFFFF"/>
          </a:solidFill>
          <a:ln w="7620">
            <a:solidFill>
              <a:srgbClr val="E6EEF7"/>
            </a:solidFill>
            <a:prstDash val="solid"/>
          </a:ln>
          <a:effectLst>
            <a:outerShdw sx="100000" sy="100000" kx="0" ky="0" algn="bl" rotWithShape="0" blurRad="285750" dist="114300" dir="5400000">
              <a:srgbClr val="2E8BE0">
                <a:alpha val="8000"/>
              </a:srgbClr>
            </a:outerShdw>
          </a:effectLst>
        </p:spPr>
      </p:sp>
      <p:sp>
        <p:nvSpPr>
          <p:cNvPr id="7" name="Text 5"/>
          <p:cNvSpPr/>
          <p:nvPr/>
        </p:nvSpPr>
        <p:spPr>
          <a:xfrm>
            <a:off x="1093470" y="2402205"/>
            <a:ext cx="798909" cy="243840"/>
          </a:xfrm>
          <a:prstGeom prst="rect">
            <a:avLst/>
          </a:prstGeom>
          <a:noFill/>
          <a:ln/>
        </p:spPr>
        <p:txBody>
          <a:bodyPr wrap="square" lIns="25400" tIns="25400" rIns="25400" bIns="25400" rtlCol="0" anchor="t">
            <a:normAutofit/>
          </a:bodyPr>
          <a:lstStyle/>
          <a:p>
            <a:pPr algn="l" indent="0" marL="0">
              <a:buNone/>
            </a:pPr>
            <a:r>
              <a:rPr lang="en-US" sz="1125" b="1" spc="34" kern="0" dirty="0">
                <a:solidFill>
                  <a:srgbClr val="6E8197"/>
                </a:solidFill>
                <a:latin typeface="Arial" pitchFamily="34" charset="0"/>
                <a:ea typeface="Arial" pitchFamily="34" charset="-122"/>
                <a:cs typeface="Arial" pitchFamily="34" charset="-120"/>
              </a:rPr>
              <a:t>서비스 흐름</a:t>
            </a:r>
            <a:endParaRPr lang="en-US" sz="1125" dirty="0"/>
          </a:p>
        </p:txBody>
      </p:sp>
      <p:sp>
        <p:nvSpPr>
          <p:cNvPr id="8" name="Shape 6"/>
          <p:cNvSpPr/>
          <p:nvPr/>
        </p:nvSpPr>
        <p:spPr>
          <a:xfrm>
            <a:off x="2006679" y="2236470"/>
            <a:ext cx="971193" cy="537210"/>
          </a:xfrm>
          <a:prstGeom prst="roundRect">
            <a:avLst>
              <a:gd name="adj" fmla="val 23050"/>
            </a:avLst>
          </a:prstGeom>
          <a:solidFill>
            <a:srgbClr val="EAF2FB"/>
          </a:solidFill>
          <a:ln/>
        </p:spPr>
      </p:sp>
      <p:sp>
        <p:nvSpPr>
          <p:cNvPr id="9" name="Text 7"/>
          <p:cNvSpPr/>
          <p:nvPr/>
        </p:nvSpPr>
        <p:spPr>
          <a:xfrm>
            <a:off x="2216229" y="2360295"/>
            <a:ext cx="628293" cy="327660"/>
          </a:xfrm>
          <a:prstGeom prst="rect">
            <a:avLst/>
          </a:prstGeom>
          <a:noFill/>
          <a:ln/>
        </p:spPr>
        <p:txBody>
          <a:bodyPr wrap="square" lIns="25400" tIns="25400" rIns="25400" bIns="25400" rtlCol="0" anchor="t">
            <a:normAutofit/>
          </a:bodyPr>
          <a:lstStyle/>
          <a:p>
            <a:pPr algn="l" indent="0" marL="0">
              <a:buNone/>
            </a:pPr>
            <a:r>
              <a:rPr lang="en-US" sz="1575" b="1" dirty="0">
                <a:solidFill>
                  <a:srgbClr val="2E8BE0"/>
                </a:solidFill>
                <a:latin typeface="Arial" pitchFamily="34" charset="0"/>
                <a:ea typeface="Arial" pitchFamily="34" charset="-122"/>
                <a:cs typeface="Arial" pitchFamily="34" charset="-120"/>
              </a:rPr>
              <a:t>로그인</a:t>
            </a:r>
            <a:endParaRPr lang="en-US" sz="1575" dirty="0"/>
          </a:p>
        </p:txBody>
      </p:sp>
      <p:sp>
        <p:nvSpPr>
          <p:cNvPr id="10" name="Text 8"/>
          <p:cNvSpPr/>
          <p:nvPr/>
        </p:nvSpPr>
        <p:spPr>
          <a:xfrm>
            <a:off x="3035022" y="2375535"/>
            <a:ext cx="304800" cy="297180"/>
          </a:xfrm>
          <a:prstGeom prst="rect">
            <a:avLst/>
          </a:prstGeom>
          <a:noFill/>
          <a:ln/>
        </p:spPr>
        <p:txBody>
          <a:bodyPr wrap="square" lIns="25400" tIns="25400" rIns="25400" bIns="25400" rtlCol="0" anchor="t">
            <a:normAutofit/>
          </a:bodyPr>
          <a:lstStyle/>
          <a:p>
            <a:pPr algn="l" indent="0" marL="0">
              <a:buNone/>
            </a:pPr>
            <a:r>
              <a:rPr lang="en-US" sz="1800" dirty="0">
                <a:solidFill>
                  <a:srgbClr val="B8C8D8"/>
                </a:solidFill>
                <a:latin typeface="Arial" pitchFamily="34" charset="0"/>
                <a:ea typeface="Arial" pitchFamily="34" charset="-122"/>
                <a:cs typeface="Arial" pitchFamily="34" charset="-120"/>
              </a:rPr>
              <a:t>→</a:t>
            </a:r>
            <a:endParaRPr lang="en-US" sz="1800" dirty="0"/>
          </a:p>
        </p:txBody>
      </p:sp>
      <p:sp>
        <p:nvSpPr>
          <p:cNvPr id="11" name="Shape 9"/>
          <p:cNvSpPr/>
          <p:nvPr/>
        </p:nvSpPr>
        <p:spPr>
          <a:xfrm>
            <a:off x="3320772" y="2236470"/>
            <a:ext cx="787241" cy="537210"/>
          </a:xfrm>
          <a:prstGeom prst="roundRect">
            <a:avLst>
              <a:gd name="adj" fmla="val 23050"/>
            </a:avLst>
          </a:prstGeom>
          <a:solidFill>
            <a:srgbClr val="EAF2FB"/>
          </a:solidFill>
          <a:ln/>
        </p:spPr>
      </p:sp>
      <p:sp>
        <p:nvSpPr>
          <p:cNvPr id="12" name="Text 10"/>
          <p:cNvSpPr/>
          <p:nvPr/>
        </p:nvSpPr>
        <p:spPr>
          <a:xfrm>
            <a:off x="3530322" y="2360295"/>
            <a:ext cx="444341" cy="327660"/>
          </a:xfrm>
          <a:prstGeom prst="rect">
            <a:avLst/>
          </a:prstGeom>
          <a:noFill/>
          <a:ln/>
        </p:spPr>
        <p:txBody>
          <a:bodyPr wrap="square" lIns="25400" tIns="25400" rIns="25400" bIns="25400" rtlCol="0" anchor="t">
            <a:normAutofit/>
          </a:bodyPr>
          <a:lstStyle/>
          <a:p>
            <a:pPr algn="l" indent="0" marL="0">
              <a:buNone/>
            </a:pPr>
            <a:r>
              <a:rPr lang="en-US" sz="1575" b="1" dirty="0">
                <a:solidFill>
                  <a:srgbClr val="2E8BE0"/>
                </a:solidFill>
                <a:latin typeface="Arial" pitchFamily="34" charset="0"/>
                <a:ea typeface="Arial" pitchFamily="34" charset="-122"/>
                <a:cs typeface="Arial" pitchFamily="34" charset="-120"/>
              </a:rPr>
              <a:t>질문</a:t>
            </a:r>
            <a:endParaRPr lang="en-US" sz="1575" dirty="0"/>
          </a:p>
        </p:txBody>
      </p:sp>
      <p:sp>
        <p:nvSpPr>
          <p:cNvPr id="13" name="Text 11"/>
          <p:cNvSpPr/>
          <p:nvPr/>
        </p:nvSpPr>
        <p:spPr>
          <a:xfrm>
            <a:off x="4165163" y="2375535"/>
            <a:ext cx="304800" cy="297180"/>
          </a:xfrm>
          <a:prstGeom prst="rect">
            <a:avLst/>
          </a:prstGeom>
          <a:noFill/>
          <a:ln/>
        </p:spPr>
        <p:txBody>
          <a:bodyPr wrap="square" lIns="25400" tIns="25400" rIns="25400" bIns="25400" rtlCol="0" anchor="t">
            <a:normAutofit/>
          </a:bodyPr>
          <a:lstStyle/>
          <a:p>
            <a:pPr algn="l" indent="0" marL="0">
              <a:buNone/>
            </a:pPr>
            <a:r>
              <a:rPr lang="en-US" sz="1800" dirty="0">
                <a:solidFill>
                  <a:srgbClr val="B8C8D8"/>
                </a:solidFill>
                <a:latin typeface="Arial" pitchFamily="34" charset="0"/>
                <a:ea typeface="Arial" pitchFamily="34" charset="-122"/>
                <a:cs typeface="Arial" pitchFamily="34" charset="-120"/>
              </a:rPr>
              <a:t>→</a:t>
            </a:r>
            <a:endParaRPr lang="en-US" sz="1800" dirty="0"/>
          </a:p>
        </p:txBody>
      </p:sp>
      <p:sp>
        <p:nvSpPr>
          <p:cNvPr id="14" name="Shape 12"/>
          <p:cNvSpPr/>
          <p:nvPr/>
        </p:nvSpPr>
        <p:spPr>
          <a:xfrm>
            <a:off x="4450913" y="2236470"/>
            <a:ext cx="1210866" cy="537210"/>
          </a:xfrm>
          <a:prstGeom prst="roundRect">
            <a:avLst>
              <a:gd name="adj" fmla="val 23050"/>
            </a:avLst>
          </a:prstGeom>
          <a:solidFill>
            <a:srgbClr val="2E8BE0"/>
          </a:solidFill>
          <a:ln/>
        </p:spPr>
      </p:sp>
      <p:sp>
        <p:nvSpPr>
          <p:cNvPr id="15" name="Text 13"/>
          <p:cNvSpPr/>
          <p:nvPr/>
        </p:nvSpPr>
        <p:spPr>
          <a:xfrm>
            <a:off x="4660463" y="2360295"/>
            <a:ext cx="867966" cy="327660"/>
          </a:xfrm>
          <a:prstGeom prst="rect">
            <a:avLst/>
          </a:prstGeom>
          <a:noFill/>
          <a:ln/>
        </p:spPr>
        <p:txBody>
          <a:bodyPr wrap="square" lIns="25400" tIns="25400" rIns="25400" bIns="25400" rtlCol="0" anchor="t">
            <a:normAutofit/>
          </a:bodyPr>
          <a:lstStyle/>
          <a:p>
            <a:pPr algn="l" indent="0" marL="0">
              <a:buNone/>
            </a:pPr>
            <a:r>
              <a:rPr lang="en-US" sz="1575" b="1" dirty="0">
                <a:solidFill>
                  <a:srgbClr val="FFFFFF"/>
                </a:solidFill>
                <a:latin typeface="Arial" pitchFamily="34" charset="0"/>
                <a:ea typeface="Arial" pitchFamily="34" charset="-122"/>
                <a:cs typeface="Arial" pitchFamily="34" charset="-120"/>
              </a:rPr>
              <a:t>출처 답변</a:t>
            </a:r>
            <a:endParaRPr lang="en-US" sz="1575" dirty="0"/>
          </a:p>
        </p:txBody>
      </p:sp>
      <p:sp>
        <p:nvSpPr>
          <p:cNvPr id="16" name="Text 14"/>
          <p:cNvSpPr/>
          <p:nvPr/>
        </p:nvSpPr>
        <p:spPr>
          <a:xfrm>
            <a:off x="5718929" y="2375535"/>
            <a:ext cx="304800" cy="297180"/>
          </a:xfrm>
          <a:prstGeom prst="rect">
            <a:avLst/>
          </a:prstGeom>
          <a:noFill/>
          <a:ln/>
        </p:spPr>
        <p:txBody>
          <a:bodyPr wrap="square" lIns="25400" tIns="25400" rIns="25400" bIns="25400" rtlCol="0" anchor="t">
            <a:normAutofit/>
          </a:bodyPr>
          <a:lstStyle/>
          <a:p>
            <a:pPr algn="l" indent="0" marL="0">
              <a:buNone/>
            </a:pPr>
            <a:r>
              <a:rPr lang="en-US" sz="1800" dirty="0">
                <a:solidFill>
                  <a:srgbClr val="B8C8D8"/>
                </a:solidFill>
                <a:latin typeface="Arial" pitchFamily="34" charset="0"/>
                <a:ea typeface="Arial" pitchFamily="34" charset="-122"/>
                <a:cs typeface="Arial" pitchFamily="34" charset="-120"/>
              </a:rPr>
              <a:t>→</a:t>
            </a:r>
            <a:endParaRPr lang="en-US" sz="1800" dirty="0"/>
          </a:p>
        </p:txBody>
      </p:sp>
      <p:sp>
        <p:nvSpPr>
          <p:cNvPr id="17" name="Shape 15"/>
          <p:cNvSpPr/>
          <p:nvPr/>
        </p:nvSpPr>
        <p:spPr>
          <a:xfrm>
            <a:off x="6004679" y="2236470"/>
            <a:ext cx="1405890" cy="537210"/>
          </a:xfrm>
          <a:prstGeom prst="roundRect">
            <a:avLst>
              <a:gd name="adj" fmla="val 23050"/>
            </a:avLst>
          </a:prstGeom>
          <a:solidFill>
            <a:srgbClr val="EAF2FB"/>
          </a:solidFill>
          <a:ln/>
        </p:spPr>
      </p:sp>
      <p:sp>
        <p:nvSpPr>
          <p:cNvPr id="18" name="Text 16"/>
          <p:cNvSpPr/>
          <p:nvPr/>
        </p:nvSpPr>
        <p:spPr>
          <a:xfrm>
            <a:off x="6214229" y="2360295"/>
            <a:ext cx="1062990" cy="327660"/>
          </a:xfrm>
          <a:prstGeom prst="rect">
            <a:avLst/>
          </a:prstGeom>
          <a:noFill/>
          <a:ln/>
        </p:spPr>
        <p:txBody>
          <a:bodyPr wrap="square" lIns="25400" tIns="25400" rIns="25400" bIns="25400" rtlCol="0" anchor="t">
            <a:normAutofit/>
          </a:bodyPr>
          <a:lstStyle/>
          <a:p>
            <a:pPr algn="l" indent="0" marL="0">
              <a:buNone/>
            </a:pPr>
            <a:r>
              <a:rPr lang="en-US" sz="1575" b="1" dirty="0">
                <a:solidFill>
                  <a:srgbClr val="2E8BE0"/>
                </a:solidFill>
                <a:latin typeface="Arial" pitchFamily="34" charset="0"/>
                <a:ea typeface="Arial" pitchFamily="34" charset="-122"/>
                <a:cs typeface="Arial" pitchFamily="34" charset="-120"/>
              </a:rPr>
              <a:t>게시판·문의</a:t>
            </a:r>
            <a:endParaRPr lang="en-US" sz="1575" dirty="0"/>
          </a:p>
        </p:txBody>
      </p:sp>
      <p:sp>
        <p:nvSpPr>
          <p:cNvPr id="19" name="Text 17"/>
          <p:cNvSpPr/>
          <p:nvPr/>
        </p:nvSpPr>
        <p:spPr>
          <a:xfrm>
            <a:off x="7467719" y="2375535"/>
            <a:ext cx="304800" cy="297180"/>
          </a:xfrm>
          <a:prstGeom prst="rect">
            <a:avLst/>
          </a:prstGeom>
          <a:noFill/>
          <a:ln/>
        </p:spPr>
        <p:txBody>
          <a:bodyPr wrap="square" lIns="25400" tIns="25400" rIns="25400" bIns="25400" rtlCol="0" anchor="t">
            <a:normAutofit/>
          </a:bodyPr>
          <a:lstStyle/>
          <a:p>
            <a:pPr algn="l" indent="0" marL="0">
              <a:buNone/>
            </a:pPr>
            <a:r>
              <a:rPr lang="en-US" sz="1800" dirty="0">
                <a:solidFill>
                  <a:srgbClr val="B8C8D8"/>
                </a:solidFill>
                <a:latin typeface="Arial" pitchFamily="34" charset="0"/>
                <a:ea typeface="Arial" pitchFamily="34" charset="-122"/>
                <a:cs typeface="Arial" pitchFamily="34" charset="-120"/>
              </a:rPr>
              <a:t>→</a:t>
            </a:r>
            <a:endParaRPr lang="en-US" sz="1800" dirty="0"/>
          </a:p>
        </p:txBody>
      </p:sp>
      <p:sp>
        <p:nvSpPr>
          <p:cNvPr id="20" name="Shape 18"/>
          <p:cNvSpPr/>
          <p:nvPr/>
        </p:nvSpPr>
        <p:spPr>
          <a:xfrm>
            <a:off x="7753469" y="2236470"/>
            <a:ext cx="971193" cy="537210"/>
          </a:xfrm>
          <a:prstGeom prst="roundRect">
            <a:avLst>
              <a:gd name="adj" fmla="val 23050"/>
            </a:avLst>
          </a:prstGeom>
          <a:solidFill>
            <a:srgbClr val="EAF2FB"/>
          </a:solidFill>
          <a:ln/>
        </p:spPr>
      </p:sp>
      <p:sp>
        <p:nvSpPr>
          <p:cNvPr id="21" name="Text 19"/>
          <p:cNvSpPr/>
          <p:nvPr/>
        </p:nvSpPr>
        <p:spPr>
          <a:xfrm>
            <a:off x="7963019" y="2360295"/>
            <a:ext cx="628293" cy="327660"/>
          </a:xfrm>
          <a:prstGeom prst="rect">
            <a:avLst/>
          </a:prstGeom>
          <a:noFill/>
          <a:ln/>
        </p:spPr>
        <p:txBody>
          <a:bodyPr wrap="square" lIns="25400" tIns="25400" rIns="25400" bIns="25400" rtlCol="0" anchor="t">
            <a:normAutofit/>
          </a:bodyPr>
          <a:lstStyle/>
          <a:p>
            <a:pPr algn="l" indent="0" marL="0">
              <a:buNone/>
            </a:pPr>
            <a:r>
              <a:rPr lang="en-US" sz="1575" b="1" dirty="0">
                <a:solidFill>
                  <a:srgbClr val="2E8BE0"/>
                </a:solidFill>
                <a:latin typeface="Arial" pitchFamily="34" charset="0"/>
                <a:ea typeface="Arial" pitchFamily="34" charset="-122"/>
                <a:cs typeface="Arial" pitchFamily="34" charset="-120"/>
              </a:rPr>
              <a:t>관리자</a:t>
            </a:r>
            <a:endParaRPr lang="en-US" sz="1575" dirty="0"/>
          </a:p>
        </p:txBody>
      </p:sp>
      <p:sp>
        <p:nvSpPr>
          <p:cNvPr id="22" name="Shape 20"/>
          <p:cNvSpPr/>
          <p:nvPr/>
        </p:nvSpPr>
        <p:spPr>
          <a:xfrm>
            <a:off x="762000" y="3276600"/>
            <a:ext cx="8267700" cy="6400800"/>
          </a:xfrm>
          <a:prstGeom prst="roundRect">
            <a:avLst>
              <a:gd name="adj" fmla="val 2976"/>
            </a:avLst>
          </a:prstGeom>
          <a:solidFill>
            <a:srgbClr val="FFFFFF"/>
          </a:solidFill>
          <a:ln w="7620">
            <a:solidFill>
              <a:srgbClr val="E6EEF7"/>
            </a:solidFill>
            <a:prstDash val="solid"/>
          </a:ln>
          <a:effectLst>
            <a:outerShdw sx="100000" sy="100000" kx="0" ky="0" algn="bl" rotWithShape="0" blurRad="285750" dist="114300" dir="5400000">
              <a:srgbClr val="2E8BE0">
                <a:alpha val="8000"/>
              </a:srgbClr>
            </a:outerShdw>
          </a:effectLst>
        </p:spPr>
      </p:sp>
      <p:sp>
        <p:nvSpPr>
          <p:cNvPr id="23" name="Shape 21"/>
          <p:cNvSpPr/>
          <p:nvPr/>
        </p:nvSpPr>
        <p:spPr>
          <a:xfrm>
            <a:off x="1131570" y="3718560"/>
            <a:ext cx="114300" cy="114300"/>
          </a:xfrm>
          <a:prstGeom prst="ellipse">
            <a:avLst/>
          </a:prstGeom>
          <a:solidFill>
            <a:srgbClr val="2E8BE0"/>
          </a:solidFill>
          <a:ln/>
        </p:spPr>
      </p:sp>
      <p:sp>
        <p:nvSpPr>
          <p:cNvPr id="24" name="Text 22"/>
          <p:cNvSpPr/>
          <p:nvPr/>
        </p:nvSpPr>
        <p:spPr>
          <a:xfrm>
            <a:off x="1360170" y="3608070"/>
            <a:ext cx="1457944" cy="373380"/>
          </a:xfrm>
          <a:prstGeom prst="rect">
            <a:avLst/>
          </a:prstGeom>
          <a:noFill/>
          <a:ln/>
        </p:spPr>
        <p:txBody>
          <a:bodyPr wrap="square" lIns="25400" tIns="25400" rIns="25400" bIns="25400" rtlCol="0" anchor="t">
            <a:normAutofit/>
          </a:bodyPr>
          <a:lstStyle/>
          <a:p>
            <a:pPr algn="l" indent="0" marL="0">
              <a:buNone/>
            </a:pPr>
            <a:r>
              <a:rPr lang="en-US" sz="1800" b="1" dirty="0">
                <a:solidFill>
                  <a:srgbClr val="143257"/>
                </a:solidFill>
                <a:latin typeface="Arial" pitchFamily="34" charset="0"/>
                <a:ea typeface="Arial" pitchFamily="34" charset="-122"/>
                <a:cs typeface="Arial" pitchFamily="34" charset="-120"/>
              </a:rPr>
              <a:t>기능 요구사항</a:t>
            </a:r>
            <a:endParaRPr lang="en-US" sz="1800" dirty="0"/>
          </a:p>
        </p:txBody>
      </p:sp>
      <p:sp>
        <p:nvSpPr>
          <p:cNvPr id="25" name="Shape 23"/>
          <p:cNvSpPr/>
          <p:nvPr/>
        </p:nvSpPr>
        <p:spPr>
          <a:xfrm>
            <a:off x="1131570" y="4152900"/>
            <a:ext cx="7528560" cy="502920"/>
          </a:xfrm>
          <a:prstGeom prst="roundRect">
            <a:avLst>
              <a:gd name="adj" fmla="val 22727"/>
            </a:avLst>
          </a:prstGeom>
          <a:solidFill>
            <a:srgbClr val="F6FAFE"/>
          </a:solidFill>
          <a:ln/>
        </p:spPr>
      </p:sp>
      <p:sp>
        <p:nvSpPr>
          <p:cNvPr id="26" name="Shape 24"/>
          <p:cNvSpPr/>
          <p:nvPr/>
        </p:nvSpPr>
        <p:spPr>
          <a:xfrm>
            <a:off x="1131570" y="4152900"/>
            <a:ext cx="38100" cy="502920"/>
          </a:xfrm>
          <a:prstGeom prst="rect">
            <a:avLst/>
          </a:prstGeom>
          <a:solidFill>
            <a:srgbClr val="2E8BE0"/>
          </a:solidFill>
          <a:ln/>
        </p:spPr>
      </p:sp>
      <p:sp>
        <p:nvSpPr>
          <p:cNvPr id="27" name="Text 25"/>
          <p:cNvSpPr/>
          <p:nvPr/>
        </p:nvSpPr>
        <p:spPr>
          <a:xfrm>
            <a:off x="1341120" y="4286250"/>
            <a:ext cx="7373417" cy="274320"/>
          </a:xfrm>
          <a:prstGeom prst="rect">
            <a:avLst/>
          </a:prstGeom>
          <a:noFill/>
          <a:ln/>
        </p:spPr>
        <p:txBody>
          <a:bodyPr wrap="square" lIns="25400" tIns="25400" rIns="25400" bIns="25400" rtlCol="0" anchor="t">
            <a:normAutofit/>
          </a:bodyPr>
          <a:lstStyle/>
          <a:p>
            <a:pPr algn="l" indent="0" marL="0">
              <a:buNone/>
            </a:pPr>
            <a:r>
              <a:rPr lang="en-US" sz="1575" b="1" dirty="0">
                <a:solidFill>
                  <a:srgbClr val="3C5066"/>
                </a:solidFill>
                <a:latin typeface="Arial" pitchFamily="34" charset="0"/>
                <a:ea typeface="Arial" pitchFamily="34" charset="-122"/>
                <a:cs typeface="Arial" pitchFamily="34" charset="-120"/>
              </a:rPr>
              <a:t>인증 — 회원가입·로그인·세션</a:t>
            </a:r>
            <a:endParaRPr lang="en-US" sz="1575" dirty="0"/>
          </a:p>
        </p:txBody>
      </p:sp>
      <p:sp>
        <p:nvSpPr>
          <p:cNvPr id="28" name="Shape 26"/>
          <p:cNvSpPr/>
          <p:nvPr/>
        </p:nvSpPr>
        <p:spPr>
          <a:xfrm>
            <a:off x="1131570" y="4789170"/>
            <a:ext cx="7528560" cy="502920"/>
          </a:xfrm>
          <a:prstGeom prst="roundRect">
            <a:avLst>
              <a:gd name="adj" fmla="val 22727"/>
            </a:avLst>
          </a:prstGeom>
          <a:solidFill>
            <a:srgbClr val="F6FAFE"/>
          </a:solidFill>
          <a:ln/>
        </p:spPr>
      </p:sp>
      <p:sp>
        <p:nvSpPr>
          <p:cNvPr id="29" name="Shape 27"/>
          <p:cNvSpPr/>
          <p:nvPr/>
        </p:nvSpPr>
        <p:spPr>
          <a:xfrm>
            <a:off x="1131570" y="4789170"/>
            <a:ext cx="38100" cy="502920"/>
          </a:xfrm>
          <a:prstGeom prst="rect">
            <a:avLst/>
          </a:prstGeom>
          <a:solidFill>
            <a:srgbClr val="2E8BE0"/>
          </a:solidFill>
          <a:ln/>
        </p:spPr>
      </p:sp>
      <p:sp>
        <p:nvSpPr>
          <p:cNvPr id="30" name="Text 28"/>
          <p:cNvSpPr/>
          <p:nvPr/>
        </p:nvSpPr>
        <p:spPr>
          <a:xfrm>
            <a:off x="1341120" y="4922520"/>
            <a:ext cx="7373417" cy="274320"/>
          </a:xfrm>
          <a:prstGeom prst="rect">
            <a:avLst/>
          </a:prstGeom>
          <a:noFill/>
          <a:ln/>
        </p:spPr>
        <p:txBody>
          <a:bodyPr wrap="square" lIns="25400" tIns="25400" rIns="25400" bIns="25400" rtlCol="0" anchor="t">
            <a:normAutofit/>
          </a:bodyPr>
          <a:lstStyle/>
          <a:p>
            <a:pPr algn="l" indent="0" marL="0">
              <a:buNone/>
            </a:pPr>
            <a:r>
              <a:rPr lang="en-US" sz="1575" b="1" dirty="0">
                <a:solidFill>
                  <a:srgbClr val="3C5066"/>
                </a:solidFill>
                <a:latin typeface="Arial" pitchFamily="34" charset="0"/>
                <a:ea typeface="Arial" pitchFamily="34" charset="-122"/>
                <a:cs typeface="Arial" pitchFamily="34" charset="-120"/>
              </a:rPr>
              <a:t>채팅 — 질의응답·출처·피드백</a:t>
            </a:r>
            <a:endParaRPr lang="en-US" sz="1575" dirty="0"/>
          </a:p>
        </p:txBody>
      </p:sp>
      <p:sp>
        <p:nvSpPr>
          <p:cNvPr id="31" name="Shape 29"/>
          <p:cNvSpPr/>
          <p:nvPr/>
        </p:nvSpPr>
        <p:spPr>
          <a:xfrm>
            <a:off x="1131570" y="5425440"/>
            <a:ext cx="7528560" cy="502920"/>
          </a:xfrm>
          <a:prstGeom prst="roundRect">
            <a:avLst>
              <a:gd name="adj" fmla="val 22727"/>
            </a:avLst>
          </a:prstGeom>
          <a:solidFill>
            <a:srgbClr val="F6FAFE"/>
          </a:solidFill>
          <a:ln/>
        </p:spPr>
      </p:sp>
      <p:sp>
        <p:nvSpPr>
          <p:cNvPr id="32" name="Shape 30"/>
          <p:cNvSpPr/>
          <p:nvPr/>
        </p:nvSpPr>
        <p:spPr>
          <a:xfrm>
            <a:off x="1131570" y="5425440"/>
            <a:ext cx="38100" cy="502920"/>
          </a:xfrm>
          <a:prstGeom prst="rect">
            <a:avLst/>
          </a:prstGeom>
          <a:solidFill>
            <a:srgbClr val="2E8BE0"/>
          </a:solidFill>
          <a:ln/>
        </p:spPr>
      </p:sp>
      <p:sp>
        <p:nvSpPr>
          <p:cNvPr id="33" name="Text 31"/>
          <p:cNvSpPr/>
          <p:nvPr/>
        </p:nvSpPr>
        <p:spPr>
          <a:xfrm>
            <a:off x="1341120" y="5558790"/>
            <a:ext cx="7373417" cy="274320"/>
          </a:xfrm>
          <a:prstGeom prst="rect">
            <a:avLst/>
          </a:prstGeom>
          <a:noFill/>
          <a:ln/>
        </p:spPr>
        <p:txBody>
          <a:bodyPr wrap="square" lIns="25400" tIns="25400" rIns="25400" bIns="25400" rtlCol="0" anchor="t">
            <a:normAutofit/>
          </a:bodyPr>
          <a:lstStyle/>
          <a:p>
            <a:pPr algn="l" indent="0" marL="0">
              <a:buNone/>
            </a:pPr>
            <a:r>
              <a:rPr lang="en-US" sz="1575" b="1" dirty="0">
                <a:solidFill>
                  <a:srgbClr val="3C5066"/>
                </a:solidFill>
                <a:latin typeface="Arial" pitchFamily="34" charset="0"/>
                <a:ea typeface="Arial" pitchFamily="34" charset="-122"/>
                <a:cs typeface="Arial" pitchFamily="34" charset="-120"/>
              </a:rPr>
              <a:t>검색 — 하이브리드 RAG 검색</a:t>
            </a:r>
            <a:endParaRPr lang="en-US" sz="1575" dirty="0"/>
          </a:p>
        </p:txBody>
      </p:sp>
      <p:sp>
        <p:nvSpPr>
          <p:cNvPr id="34" name="Shape 32"/>
          <p:cNvSpPr/>
          <p:nvPr/>
        </p:nvSpPr>
        <p:spPr>
          <a:xfrm>
            <a:off x="1131570" y="6061710"/>
            <a:ext cx="7528560" cy="502920"/>
          </a:xfrm>
          <a:prstGeom prst="roundRect">
            <a:avLst>
              <a:gd name="adj" fmla="val 22727"/>
            </a:avLst>
          </a:prstGeom>
          <a:solidFill>
            <a:srgbClr val="F6FAFE"/>
          </a:solidFill>
          <a:ln/>
        </p:spPr>
      </p:sp>
      <p:sp>
        <p:nvSpPr>
          <p:cNvPr id="35" name="Shape 33"/>
          <p:cNvSpPr/>
          <p:nvPr/>
        </p:nvSpPr>
        <p:spPr>
          <a:xfrm>
            <a:off x="1131570" y="6061710"/>
            <a:ext cx="38100" cy="502920"/>
          </a:xfrm>
          <a:prstGeom prst="rect">
            <a:avLst/>
          </a:prstGeom>
          <a:solidFill>
            <a:srgbClr val="2E8BE0"/>
          </a:solidFill>
          <a:ln/>
        </p:spPr>
      </p:sp>
      <p:sp>
        <p:nvSpPr>
          <p:cNvPr id="36" name="Text 34"/>
          <p:cNvSpPr/>
          <p:nvPr/>
        </p:nvSpPr>
        <p:spPr>
          <a:xfrm>
            <a:off x="1341120" y="6195060"/>
            <a:ext cx="7373417" cy="274320"/>
          </a:xfrm>
          <a:prstGeom prst="rect">
            <a:avLst/>
          </a:prstGeom>
          <a:noFill/>
          <a:ln/>
        </p:spPr>
        <p:txBody>
          <a:bodyPr wrap="square" lIns="25400" tIns="25400" rIns="25400" bIns="25400" rtlCol="0" anchor="t">
            <a:normAutofit/>
          </a:bodyPr>
          <a:lstStyle/>
          <a:p>
            <a:pPr algn="l" indent="0" marL="0">
              <a:buNone/>
            </a:pPr>
            <a:r>
              <a:rPr lang="en-US" sz="1575" b="1" dirty="0">
                <a:solidFill>
                  <a:srgbClr val="3C5066"/>
                </a:solidFill>
                <a:latin typeface="Arial" pitchFamily="34" charset="0"/>
                <a:ea typeface="Arial" pitchFamily="34" charset="-122"/>
                <a:cs typeface="Arial" pitchFamily="34" charset="-120"/>
              </a:rPr>
              <a:t>커뮤니티 — 게시판·문의</a:t>
            </a:r>
            <a:endParaRPr lang="en-US" sz="1575" dirty="0"/>
          </a:p>
        </p:txBody>
      </p:sp>
      <p:sp>
        <p:nvSpPr>
          <p:cNvPr id="37" name="Shape 35"/>
          <p:cNvSpPr/>
          <p:nvPr/>
        </p:nvSpPr>
        <p:spPr>
          <a:xfrm>
            <a:off x="9258300" y="3276600"/>
            <a:ext cx="8267700" cy="6400800"/>
          </a:xfrm>
          <a:prstGeom prst="roundRect">
            <a:avLst>
              <a:gd name="adj" fmla="val 2976"/>
            </a:avLst>
          </a:prstGeom>
          <a:solidFill>
            <a:srgbClr val="FFFFFF"/>
          </a:solidFill>
          <a:ln w="7620">
            <a:solidFill>
              <a:srgbClr val="E6EEF7"/>
            </a:solidFill>
            <a:prstDash val="solid"/>
          </a:ln>
          <a:effectLst>
            <a:outerShdw sx="100000" sy="100000" kx="0" ky="0" algn="bl" rotWithShape="0" blurRad="285750" dist="114300" dir="5400000">
              <a:srgbClr val="2E8BE0">
                <a:alpha val="8000"/>
              </a:srgbClr>
            </a:outerShdw>
          </a:effectLst>
        </p:spPr>
      </p:sp>
      <p:sp>
        <p:nvSpPr>
          <p:cNvPr id="38" name="Shape 36"/>
          <p:cNvSpPr/>
          <p:nvPr/>
        </p:nvSpPr>
        <p:spPr>
          <a:xfrm>
            <a:off x="9627870" y="3718560"/>
            <a:ext cx="114300" cy="114300"/>
          </a:xfrm>
          <a:prstGeom prst="ellipse">
            <a:avLst/>
          </a:prstGeom>
          <a:solidFill>
            <a:srgbClr val="9B7DE8"/>
          </a:solidFill>
          <a:ln/>
        </p:spPr>
      </p:sp>
      <p:sp>
        <p:nvSpPr>
          <p:cNvPr id="39" name="Text 37"/>
          <p:cNvSpPr/>
          <p:nvPr/>
        </p:nvSpPr>
        <p:spPr>
          <a:xfrm>
            <a:off x="9856470" y="3608070"/>
            <a:ext cx="1689366" cy="373380"/>
          </a:xfrm>
          <a:prstGeom prst="rect">
            <a:avLst/>
          </a:prstGeom>
          <a:noFill/>
          <a:ln/>
        </p:spPr>
        <p:txBody>
          <a:bodyPr wrap="square" lIns="25400" tIns="25400" rIns="25400" bIns="25400" rtlCol="0" anchor="t">
            <a:normAutofit/>
          </a:bodyPr>
          <a:lstStyle/>
          <a:p>
            <a:pPr algn="l" indent="0" marL="0">
              <a:buNone/>
            </a:pPr>
            <a:r>
              <a:rPr lang="en-US" sz="1800" b="1" dirty="0">
                <a:solidFill>
                  <a:srgbClr val="143257"/>
                </a:solidFill>
                <a:latin typeface="Arial" pitchFamily="34" charset="0"/>
                <a:ea typeface="Arial" pitchFamily="34" charset="-122"/>
                <a:cs typeface="Arial" pitchFamily="34" charset="-120"/>
              </a:rPr>
              <a:t>비기능 요구사항</a:t>
            </a:r>
            <a:endParaRPr lang="en-US" sz="1800" dirty="0"/>
          </a:p>
        </p:txBody>
      </p:sp>
      <p:sp>
        <p:nvSpPr>
          <p:cNvPr id="40" name="Shape 38"/>
          <p:cNvSpPr/>
          <p:nvPr/>
        </p:nvSpPr>
        <p:spPr>
          <a:xfrm>
            <a:off x="9627870" y="4152900"/>
            <a:ext cx="7528560" cy="502920"/>
          </a:xfrm>
          <a:prstGeom prst="roundRect">
            <a:avLst>
              <a:gd name="adj" fmla="val 22727"/>
            </a:avLst>
          </a:prstGeom>
          <a:solidFill>
            <a:srgbClr val="F8F6FD"/>
          </a:solidFill>
          <a:ln/>
        </p:spPr>
      </p:sp>
      <p:sp>
        <p:nvSpPr>
          <p:cNvPr id="41" name="Shape 39"/>
          <p:cNvSpPr/>
          <p:nvPr/>
        </p:nvSpPr>
        <p:spPr>
          <a:xfrm>
            <a:off x="9627870" y="4152900"/>
            <a:ext cx="38100" cy="502920"/>
          </a:xfrm>
          <a:prstGeom prst="rect">
            <a:avLst/>
          </a:prstGeom>
          <a:solidFill>
            <a:srgbClr val="9B7DE8"/>
          </a:solidFill>
          <a:ln/>
        </p:spPr>
      </p:sp>
      <p:sp>
        <p:nvSpPr>
          <p:cNvPr id="42" name="Text 40"/>
          <p:cNvSpPr/>
          <p:nvPr/>
        </p:nvSpPr>
        <p:spPr>
          <a:xfrm>
            <a:off x="9837420" y="4286250"/>
            <a:ext cx="7373417" cy="274320"/>
          </a:xfrm>
          <a:prstGeom prst="rect">
            <a:avLst/>
          </a:prstGeom>
          <a:noFill/>
          <a:ln/>
        </p:spPr>
        <p:txBody>
          <a:bodyPr wrap="square" lIns="25400" tIns="25400" rIns="25400" bIns="25400" rtlCol="0" anchor="t">
            <a:normAutofit/>
          </a:bodyPr>
          <a:lstStyle/>
          <a:p>
            <a:pPr algn="l" indent="0" marL="0">
              <a:buNone/>
            </a:pPr>
            <a:r>
              <a:rPr lang="en-US" sz="1575" b="1" dirty="0">
                <a:solidFill>
                  <a:srgbClr val="3C5066"/>
                </a:solidFill>
                <a:latin typeface="Arial" pitchFamily="34" charset="0"/>
                <a:ea typeface="Arial" pitchFamily="34" charset="-122"/>
                <a:cs typeface="Arial" pitchFamily="34" charset="-120"/>
              </a:rPr>
              <a:t>보안 — 인증·권한·입력 검증</a:t>
            </a:r>
            <a:endParaRPr lang="en-US" sz="1575" dirty="0"/>
          </a:p>
        </p:txBody>
      </p:sp>
      <p:sp>
        <p:nvSpPr>
          <p:cNvPr id="43" name="Shape 41"/>
          <p:cNvSpPr/>
          <p:nvPr/>
        </p:nvSpPr>
        <p:spPr>
          <a:xfrm>
            <a:off x="9627870" y="4789170"/>
            <a:ext cx="7528560" cy="502920"/>
          </a:xfrm>
          <a:prstGeom prst="roundRect">
            <a:avLst>
              <a:gd name="adj" fmla="val 22727"/>
            </a:avLst>
          </a:prstGeom>
          <a:solidFill>
            <a:srgbClr val="F8F6FD"/>
          </a:solidFill>
          <a:ln/>
        </p:spPr>
      </p:sp>
      <p:sp>
        <p:nvSpPr>
          <p:cNvPr id="44" name="Shape 42"/>
          <p:cNvSpPr/>
          <p:nvPr/>
        </p:nvSpPr>
        <p:spPr>
          <a:xfrm>
            <a:off x="9627870" y="4789170"/>
            <a:ext cx="38100" cy="502920"/>
          </a:xfrm>
          <a:prstGeom prst="rect">
            <a:avLst/>
          </a:prstGeom>
          <a:solidFill>
            <a:srgbClr val="9B7DE8"/>
          </a:solidFill>
          <a:ln/>
        </p:spPr>
      </p:sp>
      <p:sp>
        <p:nvSpPr>
          <p:cNvPr id="45" name="Text 43"/>
          <p:cNvSpPr/>
          <p:nvPr/>
        </p:nvSpPr>
        <p:spPr>
          <a:xfrm>
            <a:off x="9837420" y="4922520"/>
            <a:ext cx="7373417" cy="274320"/>
          </a:xfrm>
          <a:prstGeom prst="rect">
            <a:avLst/>
          </a:prstGeom>
          <a:noFill/>
          <a:ln/>
        </p:spPr>
        <p:txBody>
          <a:bodyPr wrap="square" lIns="25400" tIns="25400" rIns="25400" bIns="25400" rtlCol="0" anchor="t">
            <a:normAutofit/>
          </a:bodyPr>
          <a:lstStyle/>
          <a:p>
            <a:pPr algn="l" indent="0" marL="0">
              <a:buNone/>
            </a:pPr>
            <a:r>
              <a:rPr lang="en-US" sz="1575" b="1" dirty="0">
                <a:solidFill>
                  <a:srgbClr val="3C5066"/>
                </a:solidFill>
                <a:latin typeface="Arial" pitchFamily="34" charset="0"/>
                <a:ea typeface="Arial" pitchFamily="34" charset="-122"/>
                <a:cs typeface="Arial" pitchFamily="34" charset="-120"/>
              </a:rPr>
              <a:t>안정성 — 예외 처리·폴백</a:t>
            </a:r>
            <a:endParaRPr lang="en-US" sz="1575" dirty="0"/>
          </a:p>
        </p:txBody>
      </p:sp>
      <p:sp>
        <p:nvSpPr>
          <p:cNvPr id="46" name="Shape 44"/>
          <p:cNvSpPr/>
          <p:nvPr/>
        </p:nvSpPr>
        <p:spPr>
          <a:xfrm>
            <a:off x="9627870" y="5425440"/>
            <a:ext cx="7528560" cy="502920"/>
          </a:xfrm>
          <a:prstGeom prst="roundRect">
            <a:avLst>
              <a:gd name="adj" fmla="val 22727"/>
            </a:avLst>
          </a:prstGeom>
          <a:solidFill>
            <a:srgbClr val="F8F6FD"/>
          </a:solidFill>
          <a:ln/>
        </p:spPr>
      </p:sp>
      <p:sp>
        <p:nvSpPr>
          <p:cNvPr id="47" name="Shape 45"/>
          <p:cNvSpPr/>
          <p:nvPr/>
        </p:nvSpPr>
        <p:spPr>
          <a:xfrm>
            <a:off x="9627870" y="5425440"/>
            <a:ext cx="38100" cy="502920"/>
          </a:xfrm>
          <a:prstGeom prst="rect">
            <a:avLst/>
          </a:prstGeom>
          <a:solidFill>
            <a:srgbClr val="9B7DE8"/>
          </a:solidFill>
          <a:ln/>
        </p:spPr>
      </p:sp>
      <p:sp>
        <p:nvSpPr>
          <p:cNvPr id="48" name="Text 46"/>
          <p:cNvSpPr/>
          <p:nvPr/>
        </p:nvSpPr>
        <p:spPr>
          <a:xfrm>
            <a:off x="9837420" y="5558790"/>
            <a:ext cx="7373417" cy="274320"/>
          </a:xfrm>
          <a:prstGeom prst="rect">
            <a:avLst/>
          </a:prstGeom>
          <a:noFill/>
          <a:ln/>
        </p:spPr>
        <p:txBody>
          <a:bodyPr wrap="square" lIns="25400" tIns="25400" rIns="25400" bIns="25400" rtlCol="0" anchor="t">
            <a:normAutofit/>
          </a:bodyPr>
          <a:lstStyle/>
          <a:p>
            <a:pPr algn="l" indent="0" marL="0">
              <a:buNone/>
            </a:pPr>
            <a:r>
              <a:rPr lang="en-US" sz="1575" b="1" dirty="0">
                <a:solidFill>
                  <a:srgbClr val="3C5066"/>
                </a:solidFill>
                <a:latin typeface="Arial" pitchFamily="34" charset="0"/>
                <a:ea typeface="Arial" pitchFamily="34" charset="-122"/>
                <a:cs typeface="Arial" pitchFamily="34" charset="-120"/>
              </a:rPr>
              <a:t>배포 — 로컬→클라우드 운영</a:t>
            </a:r>
            <a:endParaRPr lang="en-US" sz="1575" dirty="0"/>
          </a:p>
        </p:txBody>
      </p:sp>
      <p:sp>
        <p:nvSpPr>
          <p:cNvPr id="49" name="Shape 47"/>
          <p:cNvSpPr/>
          <p:nvPr/>
        </p:nvSpPr>
        <p:spPr>
          <a:xfrm>
            <a:off x="9627870" y="6061710"/>
            <a:ext cx="7528560" cy="502920"/>
          </a:xfrm>
          <a:prstGeom prst="roundRect">
            <a:avLst>
              <a:gd name="adj" fmla="val 22727"/>
            </a:avLst>
          </a:prstGeom>
          <a:solidFill>
            <a:srgbClr val="F8F6FD"/>
          </a:solidFill>
          <a:ln/>
        </p:spPr>
      </p:sp>
      <p:sp>
        <p:nvSpPr>
          <p:cNvPr id="50" name="Shape 48"/>
          <p:cNvSpPr/>
          <p:nvPr/>
        </p:nvSpPr>
        <p:spPr>
          <a:xfrm>
            <a:off x="9627870" y="6061710"/>
            <a:ext cx="38100" cy="502920"/>
          </a:xfrm>
          <a:prstGeom prst="rect">
            <a:avLst/>
          </a:prstGeom>
          <a:solidFill>
            <a:srgbClr val="9B7DE8"/>
          </a:solidFill>
          <a:ln/>
        </p:spPr>
      </p:sp>
      <p:sp>
        <p:nvSpPr>
          <p:cNvPr id="51" name="Text 49"/>
          <p:cNvSpPr/>
          <p:nvPr/>
        </p:nvSpPr>
        <p:spPr>
          <a:xfrm>
            <a:off x="9837420" y="6195060"/>
            <a:ext cx="7373417" cy="274320"/>
          </a:xfrm>
          <a:prstGeom prst="rect">
            <a:avLst/>
          </a:prstGeom>
          <a:noFill/>
          <a:ln/>
        </p:spPr>
        <p:txBody>
          <a:bodyPr wrap="square" lIns="25400" tIns="25400" rIns="25400" bIns="25400" rtlCol="0" anchor="t">
            <a:normAutofit/>
          </a:bodyPr>
          <a:lstStyle/>
          <a:p>
            <a:pPr algn="l" indent="0" marL="0">
              <a:buNone/>
            </a:pPr>
            <a:r>
              <a:rPr lang="en-US" sz="1575" b="1" dirty="0">
                <a:solidFill>
                  <a:srgbClr val="3C5066"/>
                </a:solidFill>
                <a:latin typeface="Arial" pitchFamily="34" charset="0"/>
                <a:ea typeface="Arial" pitchFamily="34" charset="-122"/>
                <a:cs typeface="Arial" pitchFamily="34" charset="-120"/>
              </a:rPr>
              <a:t>범위·우선순위 — 일정 기반 정리</a:t>
            </a:r>
            <a:endParaRPr lang="en-US" sz="157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8FC"/>
        </a:solidFill>
      </p:bgPr>
    </p:bg>
    <p:spTree>
      <p:nvGrpSpPr>
        <p:cNvPr id="1" name=""/>
        <p:cNvGrpSpPr/>
        <p:nvPr/>
      </p:nvGrpSpPr>
      <p:grpSpPr>
        <a:xfrm>
          <a:off x="0" y="0"/>
          <a:ext cx="0" cy="0"/>
          <a:chOff x="0" y="0"/>
          <a:chExt cx="0" cy="0"/>
        </a:xfrm>
      </p:grpSpPr>
      <p:sp>
        <p:nvSpPr>
          <p:cNvPr id="2" name="Shape 0"/>
          <p:cNvSpPr/>
          <p:nvPr/>
        </p:nvSpPr>
        <p:spPr>
          <a:xfrm>
            <a:off x="15945684" y="323850"/>
            <a:ext cx="1656517" cy="358140"/>
          </a:xfrm>
          <a:prstGeom prst="roundRect">
            <a:avLst>
              <a:gd name="adj" fmla="val 50000"/>
            </a:avLst>
          </a:prstGeom>
          <a:solidFill>
            <a:srgbClr val="FDF0DD"/>
          </a:solidFill>
          <a:ln/>
        </p:spPr>
      </p:sp>
      <p:sp>
        <p:nvSpPr>
          <p:cNvPr id="3" name="Text 1"/>
          <p:cNvSpPr/>
          <p:nvPr/>
        </p:nvSpPr>
        <p:spPr>
          <a:xfrm>
            <a:off x="16117134" y="400050"/>
            <a:ext cx="1389817" cy="243840"/>
          </a:xfrm>
          <a:prstGeom prst="rect">
            <a:avLst/>
          </a:prstGeom>
          <a:noFill/>
          <a:ln/>
        </p:spPr>
        <p:txBody>
          <a:bodyPr wrap="square" lIns="25400" tIns="25400" rIns="25400" bIns="25400" rtlCol="0" anchor="t">
            <a:normAutofit/>
          </a:bodyPr>
          <a:lstStyle/>
          <a:p>
            <a:pPr algn="l" indent="0" marL="0">
              <a:buNone/>
            </a:pPr>
            <a:r>
              <a:rPr lang="en-US" sz="1125" b="1" dirty="0">
                <a:solidFill>
                  <a:srgbClr val="C77E1E"/>
                </a:solidFill>
                <a:latin typeface="Arial" pitchFamily="34" charset="0"/>
                <a:ea typeface="Arial" pitchFamily="34" charset="-122"/>
                <a:cs typeface="Arial" pitchFamily="34" charset="-120"/>
              </a:rPr>
              <a:t>평가 ④ 시스템 구성도</a:t>
            </a:r>
            <a:endParaRPr lang="en-US" sz="1125" dirty="0"/>
          </a:p>
        </p:txBody>
      </p:sp>
      <p:sp>
        <p:nvSpPr>
          <p:cNvPr id="4" name="Text 2"/>
          <p:cNvSpPr/>
          <p:nvPr/>
        </p:nvSpPr>
        <p:spPr>
          <a:xfrm>
            <a:off x="685800" y="533400"/>
            <a:ext cx="1387876" cy="259080"/>
          </a:xfrm>
          <a:prstGeom prst="rect">
            <a:avLst/>
          </a:prstGeom>
          <a:noFill/>
          <a:ln/>
        </p:spPr>
        <p:txBody>
          <a:bodyPr wrap="square" lIns="25400" tIns="25400" rIns="25400" bIns="25400" rtlCol="0" anchor="t">
            <a:normAutofit/>
          </a:bodyPr>
          <a:lstStyle/>
          <a:p>
            <a:pPr algn="l" indent="0" marL="0">
              <a:buNone/>
            </a:pPr>
            <a:r>
              <a:rPr lang="en-US" sz="1200" b="1" spc="48" kern="0" dirty="0">
                <a:solidFill>
                  <a:srgbClr val="2E8BE0"/>
                </a:solidFill>
                <a:latin typeface="Arial" pitchFamily="34" charset="0"/>
                <a:ea typeface="Arial" pitchFamily="34" charset="-122"/>
                <a:cs typeface="Arial" pitchFamily="34" charset="-120"/>
              </a:rPr>
              <a:t>06 · 시스템 구성도</a:t>
            </a:r>
            <a:endParaRPr lang="en-US" sz="1200" dirty="0"/>
          </a:p>
        </p:txBody>
      </p:sp>
      <p:sp>
        <p:nvSpPr>
          <p:cNvPr id="5" name="Text 3"/>
          <p:cNvSpPr/>
          <p:nvPr/>
        </p:nvSpPr>
        <p:spPr>
          <a:xfrm>
            <a:off x="2099905" y="541020"/>
            <a:ext cx="955715" cy="243840"/>
          </a:xfrm>
          <a:prstGeom prst="rect">
            <a:avLst/>
          </a:prstGeom>
          <a:noFill/>
          <a:ln/>
        </p:spPr>
        <p:txBody>
          <a:bodyPr wrap="square" lIns="25400" tIns="25400" rIns="25400" bIns="25400" rtlCol="0" anchor="t">
            <a:normAutofit/>
          </a:bodyPr>
          <a:lstStyle/>
          <a:p>
            <a:pPr algn="l" indent="0" marL="0">
              <a:buNone/>
            </a:pPr>
            <a:r>
              <a:rPr lang="en-US" sz="1125" b="1" dirty="0">
                <a:solidFill>
                  <a:srgbClr val="A7B8CA"/>
                </a:solidFill>
                <a:latin typeface="Arial" pitchFamily="34" charset="0"/>
                <a:ea typeface="Arial" pitchFamily="34" charset="-122"/>
                <a:cs typeface="Arial" pitchFamily="34" charset="-120"/>
              </a:rPr>
              <a:t>★ 전체 브릿지</a:t>
            </a:r>
            <a:endParaRPr lang="en-US" sz="1125" dirty="0"/>
          </a:p>
        </p:txBody>
      </p:sp>
      <p:sp>
        <p:nvSpPr>
          <p:cNvPr id="6" name="Text 4"/>
          <p:cNvSpPr/>
          <p:nvPr/>
        </p:nvSpPr>
        <p:spPr>
          <a:xfrm>
            <a:off x="685800" y="811530"/>
            <a:ext cx="18608040" cy="617220"/>
          </a:xfrm>
          <a:prstGeom prst="rect">
            <a:avLst/>
          </a:prstGeom>
          <a:noFill/>
          <a:ln/>
        </p:spPr>
        <p:txBody>
          <a:bodyPr wrap="square" lIns="25400" tIns="25400" rIns="25400" bIns="25400" rtlCol="0" anchor="t">
            <a:normAutofit/>
          </a:bodyPr>
          <a:lstStyle/>
          <a:p>
            <a:pPr algn="l" indent="0" marL="0">
              <a:buNone/>
            </a:pPr>
            <a:r>
              <a:rPr lang="en-US" sz="3150" b="1" spc="-94" kern="0" dirty="0">
                <a:solidFill>
                  <a:srgbClr val="143257"/>
                </a:solidFill>
                <a:latin typeface="Arial" pitchFamily="34" charset="0"/>
                <a:ea typeface="Arial" pitchFamily="34" charset="-122"/>
                <a:cs typeface="Arial" pitchFamily="34" charset="-120"/>
              </a:rPr>
              <a:t>다섯 계층이 끊김 없이 이어집니다</a:t>
            </a:r>
            <a:endParaRPr lang="en-US" sz="3150" dirty="0"/>
          </a:p>
        </p:txBody>
      </p:sp>
      <p:sp>
        <p:nvSpPr>
          <p:cNvPr id="7" name="Shape 5"/>
          <p:cNvSpPr/>
          <p:nvPr/>
        </p:nvSpPr>
        <p:spPr>
          <a:xfrm>
            <a:off x="685800" y="1638300"/>
            <a:ext cx="16916400" cy="643890"/>
          </a:xfrm>
          <a:prstGeom prst="roundRect">
            <a:avLst>
              <a:gd name="adj" fmla="val 23669"/>
            </a:avLst>
          </a:prstGeom>
          <a:solidFill>
            <a:srgbClr val="FFFFFF"/>
          </a:solidFill>
          <a:ln w="7620">
            <a:solidFill>
              <a:srgbClr val="E6EEF7"/>
            </a:solidFill>
            <a:prstDash val="solid"/>
          </a:ln>
          <a:effectLst>
            <a:outerShdw sx="100000" sy="100000" kx="0" ky="0" algn="bl" rotWithShape="0" blurRad="247650" dist="95250" dir="5400000">
              <a:srgbClr val="2E8BE0">
                <a:alpha val="7000"/>
              </a:srgbClr>
            </a:outerShdw>
          </a:effectLst>
        </p:spPr>
      </p:sp>
      <p:sp>
        <p:nvSpPr>
          <p:cNvPr id="8" name="Shape 6"/>
          <p:cNvSpPr/>
          <p:nvPr/>
        </p:nvSpPr>
        <p:spPr>
          <a:xfrm>
            <a:off x="941070" y="1788795"/>
            <a:ext cx="342900" cy="342900"/>
          </a:xfrm>
          <a:prstGeom prst="ellipse">
            <a:avLst/>
          </a:prstGeom>
          <a:solidFill>
            <a:srgbClr val="F072AC"/>
          </a:solidFill>
          <a:ln/>
        </p:spPr>
      </p:sp>
      <p:sp>
        <p:nvSpPr>
          <p:cNvPr id="9" name="Text 7"/>
          <p:cNvSpPr/>
          <p:nvPr/>
        </p:nvSpPr>
        <p:spPr>
          <a:xfrm>
            <a:off x="902970" y="1788795"/>
            <a:ext cx="419100" cy="381000"/>
          </a:xfrm>
          <a:prstGeom prst="rect">
            <a:avLst/>
          </a:prstGeom>
          <a:noFill/>
          <a:ln/>
        </p:spPr>
        <p:txBody>
          <a:bodyPr wrap="square" lIns="25400" tIns="25400" rIns="25400" bIns="25400" rtlCol="0" anchor="ctr">
            <a:normAutofit/>
          </a:bodyPr>
          <a:lstStyle/>
          <a:p>
            <a:pPr algn="ctr" indent="0" marL="0">
              <a:buNone/>
            </a:pPr>
            <a:r>
              <a:rPr lang="en-US" sz="1200" b="1" dirty="0">
                <a:solidFill>
                  <a:srgbClr val="FFFFFF"/>
                </a:solidFill>
                <a:latin typeface="Arial" pitchFamily="34" charset="0"/>
                <a:ea typeface="Arial" pitchFamily="34" charset="-122"/>
                <a:cs typeface="Arial" pitchFamily="34" charset="-120"/>
              </a:rPr>
              <a:t>U</a:t>
            </a:r>
            <a:endParaRPr lang="en-US" sz="1200" dirty="0"/>
          </a:p>
        </p:txBody>
      </p:sp>
      <p:sp>
        <p:nvSpPr>
          <p:cNvPr id="10" name="Text 8"/>
          <p:cNvSpPr/>
          <p:nvPr/>
        </p:nvSpPr>
        <p:spPr>
          <a:xfrm>
            <a:off x="1388745" y="1823085"/>
            <a:ext cx="601980" cy="312420"/>
          </a:xfrm>
          <a:prstGeom prst="rect">
            <a:avLst/>
          </a:prstGeom>
          <a:noFill/>
          <a:ln/>
        </p:spPr>
        <p:txBody>
          <a:bodyPr wrap="square" lIns="25400" tIns="25400" rIns="25400" bIns="25400" rtlCol="0" anchor="t">
            <a:normAutofit/>
          </a:bodyPr>
          <a:lstStyle/>
          <a:p>
            <a:pPr algn="l" indent="0" marL="0">
              <a:buNone/>
            </a:pPr>
            <a:r>
              <a:rPr lang="en-US" sz="1500" b="1" dirty="0">
                <a:solidFill>
                  <a:srgbClr val="143257"/>
                </a:solidFill>
                <a:latin typeface="Arial" pitchFamily="34" charset="0"/>
                <a:ea typeface="Arial" pitchFamily="34" charset="-122"/>
                <a:cs typeface="Arial" pitchFamily="34" charset="-120"/>
              </a:rPr>
              <a:t>사용자</a:t>
            </a:r>
            <a:endParaRPr lang="en-US" sz="1500" dirty="0"/>
          </a:p>
        </p:txBody>
      </p:sp>
      <p:sp>
        <p:nvSpPr>
          <p:cNvPr id="11" name="Text 9"/>
          <p:cNvSpPr/>
          <p:nvPr/>
        </p:nvSpPr>
        <p:spPr>
          <a:xfrm>
            <a:off x="2085975" y="1887855"/>
            <a:ext cx="717113" cy="220980"/>
          </a:xfrm>
          <a:prstGeom prst="rect">
            <a:avLst/>
          </a:prstGeom>
          <a:noFill/>
          <a:ln/>
        </p:spPr>
        <p:txBody>
          <a:bodyPr wrap="none" lIns="0" tIns="0" rIns="0" bIns="0" rtlCol="0" anchor="t">
            <a:normAutofit/>
          </a:bodyPr>
          <a:lstStyle/>
          <a:p>
            <a:pPr algn="l" indent="0" marL="0">
              <a:buNone/>
            </a:pPr>
            <a:r>
              <a:rPr lang="en-US" sz="1275" b="1" dirty="0">
                <a:solidFill>
                  <a:srgbClr val="2E8BE0"/>
                </a:solidFill>
                <a:latin typeface="Arial" pitchFamily="34" charset="0"/>
                <a:ea typeface="Arial" pitchFamily="34" charset="-122"/>
                <a:cs typeface="Arial" pitchFamily="34" charset="-120"/>
              </a:rPr>
              <a:t>질문 입력</a:t>
            </a:r>
            <a:endParaRPr lang="en-US" sz="1275" dirty="0"/>
          </a:p>
        </p:txBody>
      </p:sp>
      <p:sp>
        <p:nvSpPr>
          <p:cNvPr id="12" name="Text 10"/>
          <p:cNvSpPr/>
          <p:nvPr/>
        </p:nvSpPr>
        <p:spPr>
          <a:xfrm>
            <a:off x="2803088" y="1842135"/>
            <a:ext cx="276225" cy="274320"/>
          </a:xfrm>
          <a:prstGeom prst="rect">
            <a:avLst/>
          </a:prstGeom>
          <a:noFill/>
          <a:ln/>
        </p:spPr>
        <p:txBody>
          <a:bodyPr wrap="none" lIns="25400" tIns="25400" rIns="25400" bIns="25400" rtlCol="0" anchor="t">
            <a:normAutofit/>
          </a:bodyPr>
          <a:lstStyle/>
          <a:p>
            <a:pPr algn="l" indent="0" marL="0">
              <a:buNone/>
            </a:pPr>
            <a:r>
              <a:rPr lang="en-US" sz="1575" b="1" dirty="0">
                <a:solidFill>
                  <a:srgbClr val="2E8BE0"/>
                </a:solidFill>
                <a:latin typeface="Arial" pitchFamily="34" charset="0"/>
                <a:ea typeface="Arial" pitchFamily="34" charset="-122"/>
                <a:cs typeface="Arial" pitchFamily="34" charset="-120"/>
              </a:rPr>
              <a:t>→</a:t>
            </a:r>
            <a:endParaRPr lang="en-US" sz="1575" dirty="0"/>
          </a:p>
        </p:txBody>
      </p:sp>
      <p:sp>
        <p:nvSpPr>
          <p:cNvPr id="13" name="Shape 11"/>
          <p:cNvSpPr/>
          <p:nvPr/>
        </p:nvSpPr>
        <p:spPr>
          <a:xfrm>
            <a:off x="3174563" y="1950720"/>
            <a:ext cx="11367731" cy="19050"/>
          </a:xfrm>
          <a:prstGeom prst="rect">
            <a:avLst/>
          </a:prstGeom>
          <a:blipFill>
            <a:blip r:embed="rId1"/>
            <a:tile tx="0" ty="0" sx="100000" sy="100000" flip="none" algn="tl"/>
          </a:blipFill>
          <a:ln/>
        </p:spPr>
      </p:sp>
      <p:sp>
        <p:nvSpPr>
          <p:cNvPr id="14" name="Text 12"/>
          <p:cNvSpPr/>
          <p:nvPr/>
        </p:nvSpPr>
        <p:spPr>
          <a:xfrm>
            <a:off x="14713744" y="1842135"/>
            <a:ext cx="276225" cy="274320"/>
          </a:xfrm>
          <a:prstGeom prst="rect">
            <a:avLst/>
          </a:prstGeom>
          <a:noFill/>
          <a:ln/>
        </p:spPr>
        <p:txBody>
          <a:bodyPr wrap="none" lIns="25400" tIns="25400" rIns="25400" bIns="25400" rtlCol="0" anchor="t">
            <a:normAutofit/>
          </a:bodyPr>
          <a:lstStyle/>
          <a:p>
            <a:pPr algn="l" indent="0" marL="0">
              <a:buNone/>
            </a:pPr>
            <a:r>
              <a:rPr lang="en-US" sz="1575" b="1" dirty="0">
                <a:solidFill>
                  <a:srgbClr val="2E8BE0"/>
                </a:solidFill>
                <a:latin typeface="Arial" pitchFamily="34" charset="0"/>
                <a:ea typeface="Arial" pitchFamily="34" charset="-122"/>
                <a:cs typeface="Arial" pitchFamily="34" charset="-120"/>
              </a:rPr>
              <a:t>←</a:t>
            </a:r>
            <a:endParaRPr lang="en-US" sz="1575" dirty="0"/>
          </a:p>
        </p:txBody>
      </p:sp>
      <p:sp>
        <p:nvSpPr>
          <p:cNvPr id="15" name="Text 13"/>
          <p:cNvSpPr/>
          <p:nvPr/>
        </p:nvSpPr>
        <p:spPr>
          <a:xfrm>
            <a:off x="14989969" y="1887855"/>
            <a:ext cx="1060013" cy="220980"/>
          </a:xfrm>
          <a:prstGeom prst="rect">
            <a:avLst/>
          </a:prstGeom>
          <a:noFill/>
          <a:ln/>
        </p:spPr>
        <p:txBody>
          <a:bodyPr wrap="none" lIns="0" tIns="0" rIns="0" bIns="0" rtlCol="0" anchor="t">
            <a:normAutofit/>
          </a:bodyPr>
          <a:lstStyle/>
          <a:p>
            <a:pPr algn="l" indent="0" marL="0">
              <a:buNone/>
            </a:pPr>
            <a:r>
              <a:rPr lang="en-US" sz="1275" b="1" dirty="0">
                <a:solidFill>
                  <a:srgbClr val="2E8BE0"/>
                </a:solidFill>
                <a:latin typeface="Arial" pitchFamily="34" charset="0"/>
                <a:ea typeface="Arial" pitchFamily="34" charset="-122"/>
                <a:cs typeface="Arial" pitchFamily="34" charset="-120"/>
              </a:rPr>
              <a:t>출처 포함 답변</a:t>
            </a:r>
            <a:endParaRPr lang="en-US" sz="1275" dirty="0"/>
          </a:p>
        </p:txBody>
      </p:sp>
      <p:sp>
        <p:nvSpPr>
          <p:cNvPr id="16" name="Text 14"/>
          <p:cNvSpPr/>
          <p:nvPr/>
        </p:nvSpPr>
        <p:spPr>
          <a:xfrm>
            <a:off x="16145232" y="1823085"/>
            <a:ext cx="830223" cy="312420"/>
          </a:xfrm>
          <a:prstGeom prst="rect">
            <a:avLst/>
          </a:prstGeom>
          <a:noFill/>
          <a:ln/>
        </p:spPr>
        <p:txBody>
          <a:bodyPr wrap="square" lIns="25400" tIns="25400" rIns="25400" bIns="25400" rtlCol="0" anchor="t">
            <a:normAutofit/>
          </a:bodyPr>
          <a:lstStyle/>
          <a:p>
            <a:pPr algn="l" indent="0" marL="0">
              <a:buNone/>
            </a:pPr>
            <a:r>
              <a:rPr lang="en-US" sz="1500" b="1" dirty="0">
                <a:solidFill>
                  <a:srgbClr val="143257"/>
                </a:solidFill>
                <a:latin typeface="Arial" pitchFamily="34" charset="0"/>
                <a:ea typeface="Arial" pitchFamily="34" charset="-122"/>
                <a:cs typeface="Arial" pitchFamily="34" charset="-120"/>
              </a:rPr>
              <a:t>화면 응답</a:t>
            </a:r>
            <a:endParaRPr lang="en-US" sz="1500" dirty="0"/>
          </a:p>
        </p:txBody>
      </p:sp>
      <p:sp>
        <p:nvSpPr>
          <p:cNvPr id="17" name="Shape 15"/>
          <p:cNvSpPr/>
          <p:nvPr/>
        </p:nvSpPr>
        <p:spPr>
          <a:xfrm>
            <a:off x="17004031" y="1788795"/>
            <a:ext cx="342900" cy="342900"/>
          </a:xfrm>
          <a:prstGeom prst="ellipse">
            <a:avLst/>
          </a:prstGeom>
          <a:solidFill>
            <a:srgbClr val="2E8BE0"/>
          </a:solidFill>
          <a:ln/>
        </p:spPr>
      </p:sp>
      <p:sp>
        <p:nvSpPr>
          <p:cNvPr id="18" name="Text 16"/>
          <p:cNvSpPr/>
          <p:nvPr/>
        </p:nvSpPr>
        <p:spPr>
          <a:xfrm>
            <a:off x="16965931" y="1788795"/>
            <a:ext cx="419100" cy="381000"/>
          </a:xfrm>
          <a:prstGeom prst="rect">
            <a:avLst/>
          </a:prstGeom>
          <a:noFill/>
          <a:ln/>
        </p:spPr>
        <p:txBody>
          <a:bodyPr wrap="square" lIns="25400" tIns="25400" rIns="25400" bIns="25400" rtlCol="0" anchor="ctr">
            <a:normAutofit/>
          </a:bodyPr>
          <a:lstStyle/>
          <a:p>
            <a:pPr algn="ctr" indent="0" marL="0">
              <a:buNone/>
            </a:pPr>
            <a:r>
              <a:rPr lang="en-US" sz="1350" b="1" dirty="0">
                <a:solidFill>
                  <a:srgbClr val="FFFFFF"/>
                </a:solidFill>
                <a:latin typeface="Arial" pitchFamily="34" charset="0"/>
                <a:ea typeface="Arial" pitchFamily="34" charset="-122"/>
                <a:cs typeface="Arial" pitchFamily="34" charset="-120"/>
              </a:rPr>
              <a:t>↩</a:t>
            </a:r>
            <a:endParaRPr lang="en-US" sz="1350" dirty="0"/>
          </a:p>
        </p:txBody>
      </p:sp>
      <p:sp>
        <p:nvSpPr>
          <p:cNvPr id="19" name="Shape 17"/>
          <p:cNvSpPr/>
          <p:nvPr/>
        </p:nvSpPr>
        <p:spPr>
          <a:xfrm>
            <a:off x="685800" y="2472690"/>
            <a:ext cx="2926080" cy="7280910"/>
          </a:xfrm>
          <a:prstGeom prst="roundRect">
            <a:avLst>
              <a:gd name="adj" fmla="val 5859"/>
            </a:avLst>
          </a:prstGeom>
          <a:solidFill>
            <a:srgbClr val="FFFFFF"/>
          </a:solidFill>
          <a:ln/>
          <a:effectLst>
            <a:outerShdw sx="100000" sy="100000" kx="0" ky="0" algn="bl" rotWithShape="0" blurRad="266700" dist="114300" dir="5400000">
              <a:srgbClr val="2E8BE0">
                <a:alpha val="8000"/>
              </a:srgbClr>
            </a:outerShdw>
          </a:effectLst>
        </p:spPr>
      </p:sp>
      <p:sp>
        <p:nvSpPr>
          <p:cNvPr id="20" name="Shape 18"/>
          <p:cNvSpPr/>
          <p:nvPr/>
        </p:nvSpPr>
        <p:spPr>
          <a:xfrm>
            <a:off x="685800" y="9745980"/>
            <a:ext cx="2926080" cy="9525"/>
          </a:xfrm>
          <a:prstGeom prst="rect">
            <a:avLst/>
          </a:prstGeom>
          <a:solidFill>
            <a:srgbClr val="E6EEF7"/>
          </a:solidFill>
          <a:ln/>
        </p:spPr>
      </p:sp>
      <p:sp>
        <p:nvSpPr>
          <p:cNvPr id="21" name="Shape 19"/>
          <p:cNvSpPr/>
          <p:nvPr/>
        </p:nvSpPr>
        <p:spPr>
          <a:xfrm>
            <a:off x="685800" y="2472690"/>
            <a:ext cx="2926080" cy="45720"/>
          </a:xfrm>
          <a:prstGeom prst="rect">
            <a:avLst/>
          </a:prstGeom>
          <a:solidFill>
            <a:srgbClr val="46C78D"/>
          </a:solidFill>
          <a:ln/>
        </p:spPr>
      </p:sp>
      <p:sp>
        <p:nvSpPr>
          <p:cNvPr id="22" name="Shape 20"/>
          <p:cNvSpPr/>
          <p:nvPr/>
        </p:nvSpPr>
        <p:spPr>
          <a:xfrm>
            <a:off x="685800" y="2472690"/>
            <a:ext cx="9525" cy="7280910"/>
          </a:xfrm>
          <a:prstGeom prst="rect">
            <a:avLst/>
          </a:prstGeom>
          <a:solidFill>
            <a:srgbClr val="E6EEF7"/>
          </a:solidFill>
          <a:ln/>
        </p:spPr>
      </p:sp>
      <p:sp>
        <p:nvSpPr>
          <p:cNvPr id="23" name="Shape 21"/>
          <p:cNvSpPr/>
          <p:nvPr/>
        </p:nvSpPr>
        <p:spPr>
          <a:xfrm>
            <a:off x="3604260" y="2472690"/>
            <a:ext cx="9525" cy="7280910"/>
          </a:xfrm>
          <a:prstGeom prst="rect">
            <a:avLst/>
          </a:prstGeom>
          <a:solidFill>
            <a:srgbClr val="E6EEF7"/>
          </a:solidFill>
          <a:ln/>
        </p:spPr>
      </p:sp>
      <p:sp>
        <p:nvSpPr>
          <p:cNvPr id="24" name="Text 22"/>
          <p:cNvSpPr/>
          <p:nvPr/>
        </p:nvSpPr>
        <p:spPr>
          <a:xfrm>
            <a:off x="883920" y="2747010"/>
            <a:ext cx="2782824" cy="220980"/>
          </a:xfrm>
          <a:prstGeom prst="rect">
            <a:avLst/>
          </a:prstGeom>
          <a:noFill/>
          <a:ln/>
        </p:spPr>
        <p:txBody>
          <a:bodyPr wrap="square" lIns="25400" tIns="25400" rIns="25400" bIns="25400" rtlCol="0" anchor="t">
            <a:normAutofit/>
          </a:bodyPr>
          <a:lstStyle/>
          <a:p>
            <a:pPr algn="l" indent="0" marL="0">
              <a:buNone/>
            </a:pPr>
            <a:r>
              <a:rPr lang="en-US" sz="975" b="1" spc="59" kern="0" dirty="0">
                <a:solidFill>
                  <a:srgbClr val="22A06B"/>
                </a:solidFill>
                <a:latin typeface="Arial" pitchFamily="34" charset="0"/>
                <a:ea typeface="Arial" pitchFamily="34" charset="-122"/>
                <a:cs typeface="Arial" pitchFamily="34" charset="-120"/>
              </a:rPr>
              <a:t>데이터</a:t>
            </a:r>
            <a:endParaRPr lang="en-US" sz="975" dirty="0"/>
          </a:p>
        </p:txBody>
      </p:sp>
      <p:sp>
        <p:nvSpPr>
          <p:cNvPr id="25" name="Text 23"/>
          <p:cNvSpPr/>
          <p:nvPr/>
        </p:nvSpPr>
        <p:spPr>
          <a:xfrm>
            <a:off x="883920" y="2987040"/>
            <a:ext cx="2782824" cy="350520"/>
          </a:xfrm>
          <a:prstGeom prst="rect">
            <a:avLst/>
          </a:prstGeom>
          <a:noFill/>
          <a:ln/>
        </p:spPr>
        <p:txBody>
          <a:bodyPr wrap="square" lIns="25400" tIns="25400" rIns="25400" bIns="25400" rtlCol="0" anchor="t">
            <a:normAutofit/>
          </a:bodyPr>
          <a:lstStyle/>
          <a:p>
            <a:pPr algn="l" indent="0" marL="0">
              <a:buNone/>
            </a:pPr>
            <a:r>
              <a:rPr lang="en-US" sz="1725" b="1" spc="-34" kern="0" dirty="0">
                <a:solidFill>
                  <a:srgbClr val="143257"/>
                </a:solidFill>
                <a:latin typeface="Arial" pitchFamily="34" charset="0"/>
                <a:ea typeface="Arial" pitchFamily="34" charset="-122"/>
                <a:cs typeface="Arial" pitchFamily="34" charset="-120"/>
              </a:rPr>
              <a:t>수집·전처리</a:t>
            </a:r>
            <a:endParaRPr lang="en-US" sz="1725" dirty="0"/>
          </a:p>
        </p:txBody>
      </p:sp>
      <p:sp>
        <p:nvSpPr>
          <p:cNvPr id="26" name="Shape 24"/>
          <p:cNvSpPr/>
          <p:nvPr/>
        </p:nvSpPr>
        <p:spPr>
          <a:xfrm>
            <a:off x="883920" y="3661410"/>
            <a:ext cx="2529840" cy="445770"/>
          </a:xfrm>
          <a:prstGeom prst="roundRect">
            <a:avLst>
              <a:gd name="adj" fmla="val 21368"/>
            </a:avLst>
          </a:prstGeom>
          <a:solidFill>
            <a:srgbClr val="EFF8F3"/>
          </a:solidFill>
          <a:ln/>
        </p:spPr>
      </p:sp>
      <p:sp>
        <p:nvSpPr>
          <p:cNvPr id="27" name="Text 25"/>
          <p:cNvSpPr/>
          <p:nvPr/>
        </p:nvSpPr>
        <p:spPr>
          <a:xfrm>
            <a:off x="1017270" y="3766185"/>
            <a:ext cx="2339340" cy="274320"/>
          </a:xfrm>
          <a:prstGeom prst="rect">
            <a:avLst/>
          </a:prstGeom>
          <a:noFill/>
          <a:ln/>
        </p:spPr>
        <p:txBody>
          <a:bodyPr wrap="square" lIns="25400" tIns="25400" rIns="25400" bIns="25400" rtlCol="0" anchor="t">
            <a:normAutofit/>
          </a:bodyPr>
          <a:lstStyle/>
          <a:p>
            <a:pPr algn="l" indent="0" marL="0">
              <a:buNone/>
            </a:pPr>
            <a:r>
              <a:rPr lang="en-US" sz="1275" b="1" dirty="0">
                <a:solidFill>
                  <a:srgbClr val="3C5066"/>
                </a:solidFill>
                <a:latin typeface="Arial" pitchFamily="34" charset="0"/>
                <a:ea typeface="Arial" pitchFamily="34" charset="-122"/>
                <a:cs typeface="Arial" pitchFamily="34" charset="-120"/>
              </a:rPr>
              <a:t>3개 단과대 크롤링</a:t>
            </a:r>
            <a:endParaRPr lang="en-US" sz="1275" dirty="0"/>
          </a:p>
        </p:txBody>
      </p:sp>
      <p:sp>
        <p:nvSpPr>
          <p:cNvPr id="28" name="Shape 26"/>
          <p:cNvSpPr/>
          <p:nvPr/>
        </p:nvSpPr>
        <p:spPr>
          <a:xfrm>
            <a:off x="883920" y="4211955"/>
            <a:ext cx="2529840" cy="445770"/>
          </a:xfrm>
          <a:prstGeom prst="roundRect">
            <a:avLst>
              <a:gd name="adj" fmla="val 21368"/>
            </a:avLst>
          </a:prstGeom>
          <a:solidFill>
            <a:srgbClr val="EFF8F3"/>
          </a:solidFill>
          <a:ln/>
        </p:spPr>
      </p:sp>
      <p:sp>
        <p:nvSpPr>
          <p:cNvPr id="29" name="Text 27"/>
          <p:cNvSpPr/>
          <p:nvPr/>
        </p:nvSpPr>
        <p:spPr>
          <a:xfrm>
            <a:off x="1017270" y="4316730"/>
            <a:ext cx="2339340" cy="274320"/>
          </a:xfrm>
          <a:prstGeom prst="rect">
            <a:avLst/>
          </a:prstGeom>
          <a:noFill/>
          <a:ln/>
        </p:spPr>
        <p:txBody>
          <a:bodyPr wrap="square" lIns="25400" tIns="25400" rIns="25400" bIns="25400" rtlCol="0" anchor="t">
            <a:normAutofit/>
          </a:bodyPr>
          <a:lstStyle/>
          <a:p>
            <a:pPr algn="l" indent="0" marL="0">
              <a:buNone/>
            </a:pPr>
            <a:r>
              <a:rPr lang="en-US" sz="1275" b="1" dirty="0">
                <a:solidFill>
                  <a:srgbClr val="3C5066"/>
                </a:solidFill>
                <a:latin typeface="Arial" pitchFamily="34" charset="0"/>
                <a:ea typeface="Arial" pitchFamily="34" charset="-122"/>
                <a:cs typeface="Arial" pitchFamily="34" charset="-120"/>
              </a:rPr>
              <a:t>정형·비정형 분리</a:t>
            </a:r>
            <a:endParaRPr lang="en-US" sz="1275" dirty="0"/>
          </a:p>
        </p:txBody>
      </p:sp>
      <p:sp>
        <p:nvSpPr>
          <p:cNvPr id="30" name="Shape 28"/>
          <p:cNvSpPr/>
          <p:nvPr/>
        </p:nvSpPr>
        <p:spPr>
          <a:xfrm>
            <a:off x="883920" y="4762500"/>
            <a:ext cx="2529840" cy="445770"/>
          </a:xfrm>
          <a:prstGeom prst="roundRect">
            <a:avLst>
              <a:gd name="adj" fmla="val 21368"/>
            </a:avLst>
          </a:prstGeom>
          <a:solidFill>
            <a:srgbClr val="EFF8F3"/>
          </a:solidFill>
          <a:ln/>
        </p:spPr>
      </p:sp>
      <p:sp>
        <p:nvSpPr>
          <p:cNvPr id="31" name="Text 29"/>
          <p:cNvSpPr/>
          <p:nvPr/>
        </p:nvSpPr>
        <p:spPr>
          <a:xfrm>
            <a:off x="1017270" y="4867275"/>
            <a:ext cx="2339340" cy="274320"/>
          </a:xfrm>
          <a:prstGeom prst="rect">
            <a:avLst/>
          </a:prstGeom>
          <a:noFill/>
          <a:ln/>
        </p:spPr>
        <p:txBody>
          <a:bodyPr wrap="square" lIns="25400" tIns="25400" rIns="25400" bIns="25400" rtlCol="0" anchor="t">
            <a:normAutofit/>
          </a:bodyPr>
          <a:lstStyle/>
          <a:p>
            <a:pPr algn="l" indent="0" marL="0">
              <a:buNone/>
            </a:pPr>
            <a:r>
              <a:rPr lang="en-US" sz="1275" b="1" dirty="0">
                <a:solidFill>
                  <a:srgbClr val="3C5066"/>
                </a:solidFill>
                <a:latin typeface="Arial" pitchFamily="34" charset="0"/>
                <a:ea typeface="Arial" pitchFamily="34" charset="-122"/>
                <a:cs typeface="Arial" pitchFamily="34" charset="-120"/>
              </a:rPr>
              <a:t>jsonl 변환</a:t>
            </a:r>
            <a:endParaRPr lang="en-US" sz="1275" dirty="0"/>
          </a:p>
        </p:txBody>
      </p:sp>
      <p:sp>
        <p:nvSpPr>
          <p:cNvPr id="32" name="Shape 30"/>
          <p:cNvSpPr/>
          <p:nvPr/>
        </p:nvSpPr>
        <p:spPr>
          <a:xfrm>
            <a:off x="883920" y="9136380"/>
            <a:ext cx="2529840" cy="9525"/>
          </a:xfrm>
          <a:prstGeom prst="rect">
            <a:avLst/>
          </a:prstGeom>
          <a:solidFill>
            <a:srgbClr val="EEF3F8"/>
          </a:solidFill>
          <a:ln/>
        </p:spPr>
      </p:sp>
      <p:sp>
        <p:nvSpPr>
          <p:cNvPr id="33" name="Text 31"/>
          <p:cNvSpPr/>
          <p:nvPr/>
        </p:nvSpPr>
        <p:spPr>
          <a:xfrm>
            <a:off x="883920" y="9296400"/>
            <a:ext cx="2606040" cy="259080"/>
          </a:xfrm>
          <a:prstGeom prst="rect">
            <a:avLst/>
          </a:prstGeom>
          <a:noFill/>
          <a:ln/>
        </p:spPr>
        <p:txBody>
          <a:bodyPr wrap="square" lIns="25400" tIns="25400" rIns="25400" bIns="25400" rtlCol="0" anchor="t">
            <a:normAutofit/>
          </a:bodyPr>
          <a:lstStyle/>
          <a:p>
            <a:pPr algn="l" indent="0" marL="0">
              <a:lnSpc>
                <a:spcPct val="145000"/>
              </a:lnSpc>
              <a:buNone/>
            </a:pPr>
            <a:r>
              <a:rPr lang="en-US" sz="1200" b="1" dirty="0">
                <a:solidFill>
                  <a:srgbClr val="22A06B"/>
                </a:solidFill>
                <a:latin typeface="Arial" pitchFamily="34" charset="0"/>
                <a:ea typeface="Arial" pitchFamily="34" charset="-122"/>
                <a:cs typeface="Arial" pitchFamily="34" charset="-120"/>
              </a:rPr>
              <a:t>흩어진 정보를 모아 정제</a:t>
            </a:r>
            <a:endParaRPr lang="en-US" sz="1200" dirty="0"/>
          </a:p>
        </p:txBody>
      </p:sp>
      <p:sp>
        <p:nvSpPr>
          <p:cNvPr id="34" name="Text 32"/>
          <p:cNvSpPr/>
          <p:nvPr/>
        </p:nvSpPr>
        <p:spPr>
          <a:xfrm>
            <a:off x="3745230" y="2472690"/>
            <a:ext cx="381000" cy="7319010"/>
          </a:xfrm>
          <a:prstGeom prst="rect">
            <a:avLst/>
          </a:prstGeom>
          <a:noFill/>
          <a:ln/>
        </p:spPr>
        <p:txBody>
          <a:bodyPr wrap="square" lIns="25400" tIns="25400" rIns="25400" bIns="25400" rtlCol="0" anchor="ctr">
            <a:normAutofit/>
          </a:bodyPr>
          <a:lstStyle/>
          <a:p>
            <a:pPr algn="l" indent="0" marL="0">
              <a:buNone/>
            </a:pPr>
            <a:r>
              <a:rPr lang="en-US" sz="2400" dirty="0">
                <a:solidFill>
                  <a:srgbClr val="C3D2E0"/>
                </a:solidFill>
                <a:latin typeface="Arial" pitchFamily="34" charset="0"/>
                <a:ea typeface="Arial" pitchFamily="34" charset="-122"/>
                <a:cs typeface="Arial" pitchFamily="34" charset="-120"/>
              </a:rPr>
              <a:t>→</a:t>
            </a:r>
            <a:endParaRPr lang="en-US" sz="2400" dirty="0"/>
          </a:p>
        </p:txBody>
      </p:sp>
      <p:sp>
        <p:nvSpPr>
          <p:cNvPr id="35" name="Shape 33"/>
          <p:cNvSpPr/>
          <p:nvPr/>
        </p:nvSpPr>
        <p:spPr>
          <a:xfrm>
            <a:off x="4183380" y="2472690"/>
            <a:ext cx="2926080" cy="7280910"/>
          </a:xfrm>
          <a:prstGeom prst="roundRect">
            <a:avLst>
              <a:gd name="adj" fmla="val 5859"/>
            </a:avLst>
          </a:prstGeom>
          <a:solidFill>
            <a:srgbClr val="FFFFFF"/>
          </a:solidFill>
          <a:ln/>
          <a:effectLst>
            <a:outerShdw sx="100000" sy="100000" kx="0" ky="0" algn="bl" rotWithShape="0" blurRad="266700" dist="114300" dir="5400000">
              <a:srgbClr val="2E8BE0">
                <a:alpha val="8000"/>
              </a:srgbClr>
            </a:outerShdw>
          </a:effectLst>
        </p:spPr>
      </p:sp>
      <p:sp>
        <p:nvSpPr>
          <p:cNvPr id="36" name="Shape 34"/>
          <p:cNvSpPr/>
          <p:nvPr/>
        </p:nvSpPr>
        <p:spPr>
          <a:xfrm>
            <a:off x="4183380" y="9745980"/>
            <a:ext cx="2926080" cy="9525"/>
          </a:xfrm>
          <a:prstGeom prst="rect">
            <a:avLst/>
          </a:prstGeom>
          <a:solidFill>
            <a:srgbClr val="E6EEF7"/>
          </a:solidFill>
          <a:ln/>
        </p:spPr>
      </p:sp>
      <p:sp>
        <p:nvSpPr>
          <p:cNvPr id="37" name="Shape 35"/>
          <p:cNvSpPr/>
          <p:nvPr/>
        </p:nvSpPr>
        <p:spPr>
          <a:xfrm>
            <a:off x="4183380" y="2472690"/>
            <a:ext cx="2926080" cy="45720"/>
          </a:xfrm>
          <a:prstGeom prst="rect">
            <a:avLst/>
          </a:prstGeom>
          <a:solidFill>
            <a:srgbClr val="9B7DE8"/>
          </a:solidFill>
          <a:ln/>
        </p:spPr>
      </p:sp>
      <p:sp>
        <p:nvSpPr>
          <p:cNvPr id="38" name="Shape 36"/>
          <p:cNvSpPr/>
          <p:nvPr/>
        </p:nvSpPr>
        <p:spPr>
          <a:xfrm>
            <a:off x="4183380" y="2472690"/>
            <a:ext cx="9525" cy="7280910"/>
          </a:xfrm>
          <a:prstGeom prst="rect">
            <a:avLst/>
          </a:prstGeom>
          <a:solidFill>
            <a:srgbClr val="E6EEF7"/>
          </a:solidFill>
          <a:ln/>
        </p:spPr>
      </p:sp>
      <p:sp>
        <p:nvSpPr>
          <p:cNvPr id="39" name="Shape 37"/>
          <p:cNvSpPr/>
          <p:nvPr/>
        </p:nvSpPr>
        <p:spPr>
          <a:xfrm>
            <a:off x="7101840" y="2472690"/>
            <a:ext cx="9525" cy="7280910"/>
          </a:xfrm>
          <a:prstGeom prst="rect">
            <a:avLst/>
          </a:prstGeom>
          <a:solidFill>
            <a:srgbClr val="E6EEF7"/>
          </a:solidFill>
          <a:ln/>
        </p:spPr>
      </p:sp>
      <p:sp>
        <p:nvSpPr>
          <p:cNvPr id="40" name="Text 38"/>
          <p:cNvSpPr/>
          <p:nvPr/>
        </p:nvSpPr>
        <p:spPr>
          <a:xfrm>
            <a:off x="4381500" y="2747010"/>
            <a:ext cx="2782824" cy="182880"/>
          </a:xfrm>
          <a:prstGeom prst="rect">
            <a:avLst/>
          </a:prstGeom>
          <a:noFill/>
          <a:ln/>
        </p:spPr>
        <p:txBody>
          <a:bodyPr wrap="square" lIns="25400" tIns="25400" rIns="25400" bIns="25400" rtlCol="0" anchor="t">
            <a:normAutofit/>
          </a:bodyPr>
          <a:lstStyle/>
          <a:p>
            <a:pPr algn="l" indent="0" marL="0">
              <a:buNone/>
            </a:pPr>
            <a:r>
              <a:rPr lang="en-US" sz="975" b="1" spc="59" kern="0" dirty="0">
                <a:solidFill>
                  <a:srgbClr val="7C5FD6"/>
                </a:solidFill>
                <a:latin typeface="Arial" pitchFamily="34" charset="0"/>
                <a:ea typeface="Arial" pitchFamily="34" charset="-122"/>
                <a:cs typeface="Arial" pitchFamily="34" charset="-120"/>
              </a:rPr>
              <a:t>DB</a:t>
            </a:r>
            <a:endParaRPr lang="en-US" sz="975" dirty="0"/>
          </a:p>
        </p:txBody>
      </p:sp>
      <p:sp>
        <p:nvSpPr>
          <p:cNvPr id="41" name="Text 39"/>
          <p:cNvSpPr/>
          <p:nvPr/>
        </p:nvSpPr>
        <p:spPr>
          <a:xfrm>
            <a:off x="4381500" y="2948940"/>
            <a:ext cx="2782824" cy="350520"/>
          </a:xfrm>
          <a:prstGeom prst="rect">
            <a:avLst/>
          </a:prstGeom>
          <a:noFill/>
          <a:ln/>
        </p:spPr>
        <p:txBody>
          <a:bodyPr wrap="square" lIns="25400" tIns="25400" rIns="25400" bIns="25400" rtlCol="0" anchor="t">
            <a:normAutofit/>
          </a:bodyPr>
          <a:lstStyle/>
          <a:p>
            <a:pPr algn="l" indent="0" marL="0">
              <a:buNone/>
            </a:pPr>
            <a:r>
              <a:rPr lang="en-US" sz="1725" b="1" spc="-34" kern="0" dirty="0">
                <a:solidFill>
                  <a:srgbClr val="143257"/>
                </a:solidFill>
                <a:latin typeface="Arial" pitchFamily="34" charset="0"/>
                <a:ea typeface="Arial" pitchFamily="34" charset="-122"/>
                <a:cs typeface="Arial" pitchFamily="34" charset="-120"/>
              </a:rPr>
              <a:t>이원화 저장</a:t>
            </a:r>
            <a:endParaRPr lang="en-US" sz="1725" dirty="0"/>
          </a:p>
        </p:txBody>
      </p:sp>
      <p:sp>
        <p:nvSpPr>
          <p:cNvPr id="42" name="Shape 40"/>
          <p:cNvSpPr/>
          <p:nvPr/>
        </p:nvSpPr>
        <p:spPr>
          <a:xfrm>
            <a:off x="4381500" y="3623310"/>
            <a:ext cx="2529840" cy="445770"/>
          </a:xfrm>
          <a:prstGeom prst="roundRect">
            <a:avLst>
              <a:gd name="adj" fmla="val 21368"/>
            </a:avLst>
          </a:prstGeom>
          <a:solidFill>
            <a:srgbClr val="F5F1FC"/>
          </a:solidFill>
          <a:ln/>
        </p:spPr>
      </p:sp>
      <p:sp>
        <p:nvSpPr>
          <p:cNvPr id="43" name="Text 41"/>
          <p:cNvSpPr/>
          <p:nvPr/>
        </p:nvSpPr>
        <p:spPr>
          <a:xfrm>
            <a:off x="4514850" y="3728085"/>
            <a:ext cx="2339340" cy="274320"/>
          </a:xfrm>
          <a:prstGeom prst="rect">
            <a:avLst/>
          </a:prstGeom>
          <a:noFill/>
          <a:ln/>
        </p:spPr>
        <p:txBody>
          <a:bodyPr wrap="square" lIns="25400" tIns="25400" rIns="25400" bIns="25400" rtlCol="0" anchor="t">
            <a:normAutofit/>
          </a:bodyPr>
          <a:lstStyle/>
          <a:p>
            <a:pPr algn="l" indent="0" marL="0">
              <a:buNone/>
            </a:pPr>
            <a:r>
              <a:rPr lang="en-US" sz="1275" b="1" dirty="0">
                <a:solidFill>
                  <a:srgbClr val="3C5066"/>
                </a:solidFill>
                <a:latin typeface="Arial" pitchFamily="34" charset="0"/>
                <a:ea typeface="Arial" pitchFamily="34" charset="-122"/>
                <a:cs typeface="Arial" pitchFamily="34" charset="-120"/>
              </a:rPr>
              <a:t>MySQL 정형 DB</a:t>
            </a:r>
            <a:endParaRPr lang="en-US" sz="1275" dirty="0"/>
          </a:p>
        </p:txBody>
      </p:sp>
      <p:sp>
        <p:nvSpPr>
          <p:cNvPr id="44" name="Shape 42"/>
          <p:cNvSpPr/>
          <p:nvPr/>
        </p:nvSpPr>
        <p:spPr>
          <a:xfrm>
            <a:off x="4381500" y="4173855"/>
            <a:ext cx="2529840" cy="445770"/>
          </a:xfrm>
          <a:prstGeom prst="roundRect">
            <a:avLst>
              <a:gd name="adj" fmla="val 21368"/>
            </a:avLst>
          </a:prstGeom>
          <a:solidFill>
            <a:srgbClr val="F5F1FC"/>
          </a:solidFill>
          <a:ln/>
        </p:spPr>
      </p:sp>
      <p:sp>
        <p:nvSpPr>
          <p:cNvPr id="45" name="Text 43"/>
          <p:cNvSpPr/>
          <p:nvPr/>
        </p:nvSpPr>
        <p:spPr>
          <a:xfrm>
            <a:off x="4514850" y="4278630"/>
            <a:ext cx="2339340" cy="274320"/>
          </a:xfrm>
          <a:prstGeom prst="rect">
            <a:avLst/>
          </a:prstGeom>
          <a:noFill/>
          <a:ln/>
        </p:spPr>
        <p:txBody>
          <a:bodyPr wrap="square" lIns="25400" tIns="25400" rIns="25400" bIns="25400" rtlCol="0" anchor="t">
            <a:normAutofit/>
          </a:bodyPr>
          <a:lstStyle/>
          <a:p>
            <a:pPr algn="l" indent="0" marL="0">
              <a:buNone/>
            </a:pPr>
            <a:r>
              <a:rPr lang="en-US" sz="1275" b="1" dirty="0">
                <a:solidFill>
                  <a:srgbClr val="3C5066"/>
                </a:solidFill>
                <a:latin typeface="Arial" pitchFamily="34" charset="0"/>
                <a:ea typeface="Arial" pitchFamily="34" charset="-122"/>
                <a:cs typeface="Arial" pitchFamily="34" charset="-120"/>
              </a:rPr>
              <a:t>Chroma 벡터스토어</a:t>
            </a:r>
            <a:endParaRPr lang="en-US" sz="1275" dirty="0"/>
          </a:p>
        </p:txBody>
      </p:sp>
      <p:sp>
        <p:nvSpPr>
          <p:cNvPr id="46" name="Shape 44"/>
          <p:cNvSpPr/>
          <p:nvPr/>
        </p:nvSpPr>
        <p:spPr>
          <a:xfrm>
            <a:off x="4381500" y="4724400"/>
            <a:ext cx="2529840" cy="400050"/>
          </a:xfrm>
          <a:prstGeom prst="roundRect">
            <a:avLst>
              <a:gd name="adj" fmla="val 23810"/>
            </a:avLst>
          </a:prstGeom>
          <a:solidFill>
            <a:srgbClr val="F5F1FC"/>
          </a:solidFill>
          <a:ln/>
        </p:spPr>
      </p:sp>
      <p:sp>
        <p:nvSpPr>
          <p:cNvPr id="47" name="Text 45"/>
          <p:cNvSpPr/>
          <p:nvPr/>
        </p:nvSpPr>
        <p:spPr>
          <a:xfrm>
            <a:off x="4514850" y="4829175"/>
            <a:ext cx="2339340" cy="228600"/>
          </a:xfrm>
          <a:prstGeom prst="rect">
            <a:avLst/>
          </a:prstGeom>
          <a:noFill/>
          <a:ln/>
        </p:spPr>
        <p:txBody>
          <a:bodyPr wrap="square" lIns="25400" tIns="25400" rIns="25400" bIns="25400" rtlCol="0" anchor="t">
            <a:normAutofit/>
          </a:bodyPr>
          <a:lstStyle/>
          <a:p>
            <a:pPr algn="l" indent="0" marL="0">
              <a:buNone/>
            </a:pPr>
            <a:r>
              <a:rPr lang="en-US" sz="1275" b="1" dirty="0">
                <a:solidFill>
                  <a:srgbClr val="3C5066"/>
                </a:solidFill>
                <a:latin typeface="Arial" pitchFamily="34" charset="0"/>
                <a:ea typeface="Arial" pitchFamily="34" charset="-122"/>
                <a:cs typeface="Arial" pitchFamily="34" charset="-120"/>
              </a:rPr>
              <a:t>7,759 chunks</a:t>
            </a:r>
            <a:endParaRPr lang="en-US" sz="1275" dirty="0"/>
          </a:p>
        </p:txBody>
      </p:sp>
      <p:sp>
        <p:nvSpPr>
          <p:cNvPr id="48" name="Shape 46"/>
          <p:cNvSpPr/>
          <p:nvPr/>
        </p:nvSpPr>
        <p:spPr>
          <a:xfrm>
            <a:off x="4381500" y="9136380"/>
            <a:ext cx="2529840" cy="9525"/>
          </a:xfrm>
          <a:prstGeom prst="rect">
            <a:avLst/>
          </a:prstGeom>
          <a:solidFill>
            <a:srgbClr val="EEF3F8"/>
          </a:solidFill>
          <a:ln/>
        </p:spPr>
      </p:sp>
      <p:sp>
        <p:nvSpPr>
          <p:cNvPr id="49" name="Text 47"/>
          <p:cNvSpPr/>
          <p:nvPr/>
        </p:nvSpPr>
        <p:spPr>
          <a:xfrm>
            <a:off x="4381500" y="9296400"/>
            <a:ext cx="2606040" cy="259080"/>
          </a:xfrm>
          <a:prstGeom prst="rect">
            <a:avLst/>
          </a:prstGeom>
          <a:noFill/>
          <a:ln/>
        </p:spPr>
        <p:txBody>
          <a:bodyPr wrap="square" lIns="25400" tIns="25400" rIns="25400" bIns="25400" rtlCol="0" anchor="t">
            <a:normAutofit/>
          </a:bodyPr>
          <a:lstStyle/>
          <a:p>
            <a:pPr algn="l" indent="0" marL="0">
              <a:lnSpc>
                <a:spcPct val="145000"/>
              </a:lnSpc>
              <a:buNone/>
            </a:pPr>
            <a:r>
              <a:rPr lang="en-US" sz="1200" b="1" dirty="0">
                <a:solidFill>
                  <a:srgbClr val="7C5FD6"/>
                </a:solidFill>
                <a:latin typeface="Arial" pitchFamily="34" charset="0"/>
                <a:ea typeface="Arial" pitchFamily="34" charset="-122"/>
                <a:cs typeface="Arial" pitchFamily="34" charset="-120"/>
              </a:rPr>
              <a:t>정확함과 의미를 함께 저장</a:t>
            </a:r>
            <a:endParaRPr lang="en-US" sz="1200" dirty="0"/>
          </a:p>
        </p:txBody>
      </p:sp>
      <p:sp>
        <p:nvSpPr>
          <p:cNvPr id="50" name="Text 48"/>
          <p:cNvSpPr/>
          <p:nvPr/>
        </p:nvSpPr>
        <p:spPr>
          <a:xfrm>
            <a:off x="7242810" y="2472690"/>
            <a:ext cx="381000" cy="7319010"/>
          </a:xfrm>
          <a:prstGeom prst="rect">
            <a:avLst/>
          </a:prstGeom>
          <a:noFill/>
          <a:ln/>
        </p:spPr>
        <p:txBody>
          <a:bodyPr wrap="square" lIns="25400" tIns="25400" rIns="25400" bIns="25400" rtlCol="0" anchor="ctr">
            <a:normAutofit/>
          </a:bodyPr>
          <a:lstStyle/>
          <a:p>
            <a:pPr algn="l" indent="0" marL="0">
              <a:buNone/>
            </a:pPr>
            <a:r>
              <a:rPr lang="en-US" sz="2400" dirty="0">
                <a:solidFill>
                  <a:srgbClr val="C3D2E0"/>
                </a:solidFill>
                <a:latin typeface="Arial" pitchFamily="34" charset="0"/>
                <a:ea typeface="Arial" pitchFamily="34" charset="-122"/>
                <a:cs typeface="Arial" pitchFamily="34" charset="-120"/>
              </a:rPr>
              <a:t>→</a:t>
            </a:r>
            <a:endParaRPr lang="en-US" sz="2400" dirty="0"/>
          </a:p>
        </p:txBody>
      </p:sp>
      <p:sp>
        <p:nvSpPr>
          <p:cNvPr id="51" name="Shape 49"/>
          <p:cNvSpPr/>
          <p:nvPr/>
        </p:nvSpPr>
        <p:spPr>
          <a:xfrm>
            <a:off x="7680960" y="2472690"/>
            <a:ext cx="2926080" cy="7280910"/>
          </a:xfrm>
          <a:prstGeom prst="roundRect">
            <a:avLst>
              <a:gd name="adj" fmla="val 5859"/>
            </a:avLst>
          </a:prstGeom>
          <a:solidFill>
            <a:srgbClr val="FFFFFF"/>
          </a:solidFill>
          <a:ln/>
          <a:effectLst>
            <a:outerShdw sx="100000" sy="100000" kx="0" ky="0" algn="bl" rotWithShape="0" blurRad="266700" dist="114300" dir="5400000">
              <a:srgbClr val="2E8BE0">
                <a:alpha val="10000"/>
              </a:srgbClr>
            </a:outerShdw>
          </a:effectLst>
        </p:spPr>
      </p:sp>
      <p:sp>
        <p:nvSpPr>
          <p:cNvPr id="52" name="Shape 50"/>
          <p:cNvSpPr/>
          <p:nvPr/>
        </p:nvSpPr>
        <p:spPr>
          <a:xfrm>
            <a:off x="7680960" y="9745980"/>
            <a:ext cx="2926080" cy="9525"/>
          </a:xfrm>
          <a:prstGeom prst="rect">
            <a:avLst/>
          </a:prstGeom>
          <a:solidFill>
            <a:srgbClr val="E6EEF7"/>
          </a:solidFill>
          <a:ln/>
        </p:spPr>
      </p:sp>
      <p:sp>
        <p:nvSpPr>
          <p:cNvPr id="53" name="Shape 51"/>
          <p:cNvSpPr/>
          <p:nvPr/>
        </p:nvSpPr>
        <p:spPr>
          <a:xfrm>
            <a:off x="7680960" y="2472690"/>
            <a:ext cx="2926080" cy="45720"/>
          </a:xfrm>
          <a:prstGeom prst="rect">
            <a:avLst/>
          </a:prstGeom>
          <a:solidFill>
            <a:srgbClr val="2E8BE0"/>
          </a:solidFill>
          <a:ln/>
        </p:spPr>
      </p:sp>
      <p:sp>
        <p:nvSpPr>
          <p:cNvPr id="54" name="Shape 52"/>
          <p:cNvSpPr/>
          <p:nvPr/>
        </p:nvSpPr>
        <p:spPr>
          <a:xfrm>
            <a:off x="7680960" y="2472690"/>
            <a:ext cx="9525" cy="7280910"/>
          </a:xfrm>
          <a:prstGeom prst="rect">
            <a:avLst/>
          </a:prstGeom>
          <a:solidFill>
            <a:srgbClr val="E6EEF7"/>
          </a:solidFill>
          <a:ln/>
        </p:spPr>
      </p:sp>
      <p:sp>
        <p:nvSpPr>
          <p:cNvPr id="55" name="Shape 53"/>
          <p:cNvSpPr/>
          <p:nvPr/>
        </p:nvSpPr>
        <p:spPr>
          <a:xfrm>
            <a:off x="10599420" y="2472690"/>
            <a:ext cx="9525" cy="7280910"/>
          </a:xfrm>
          <a:prstGeom prst="rect">
            <a:avLst/>
          </a:prstGeom>
          <a:solidFill>
            <a:srgbClr val="E6EEF7"/>
          </a:solidFill>
          <a:ln/>
        </p:spPr>
      </p:sp>
      <p:sp>
        <p:nvSpPr>
          <p:cNvPr id="56" name="Text 54"/>
          <p:cNvSpPr/>
          <p:nvPr/>
        </p:nvSpPr>
        <p:spPr>
          <a:xfrm>
            <a:off x="7879080" y="2747010"/>
            <a:ext cx="2782824" cy="220980"/>
          </a:xfrm>
          <a:prstGeom prst="rect">
            <a:avLst/>
          </a:prstGeom>
          <a:noFill/>
          <a:ln/>
        </p:spPr>
        <p:txBody>
          <a:bodyPr wrap="square" lIns="25400" tIns="25400" rIns="25400" bIns="25400" rtlCol="0" anchor="t">
            <a:normAutofit/>
          </a:bodyPr>
          <a:lstStyle/>
          <a:p>
            <a:pPr algn="l" indent="0" marL="0">
              <a:buNone/>
            </a:pPr>
            <a:r>
              <a:rPr lang="en-US" sz="975" b="1" spc="59" kern="0" dirty="0">
                <a:solidFill>
                  <a:srgbClr val="1E6FBF"/>
                </a:solidFill>
                <a:latin typeface="Arial" pitchFamily="34" charset="0"/>
                <a:ea typeface="Arial" pitchFamily="34" charset="-122"/>
                <a:cs typeface="Arial" pitchFamily="34" charset="-120"/>
              </a:rPr>
              <a:t>백엔드 · LLM</a:t>
            </a:r>
            <a:endParaRPr lang="en-US" sz="975" dirty="0"/>
          </a:p>
        </p:txBody>
      </p:sp>
      <p:sp>
        <p:nvSpPr>
          <p:cNvPr id="57" name="Text 55"/>
          <p:cNvSpPr/>
          <p:nvPr/>
        </p:nvSpPr>
        <p:spPr>
          <a:xfrm>
            <a:off x="7879080" y="2987040"/>
            <a:ext cx="2782824" cy="350520"/>
          </a:xfrm>
          <a:prstGeom prst="rect">
            <a:avLst/>
          </a:prstGeom>
          <a:noFill/>
          <a:ln/>
        </p:spPr>
        <p:txBody>
          <a:bodyPr wrap="square" lIns="25400" tIns="25400" rIns="25400" bIns="25400" rtlCol="0" anchor="t">
            <a:normAutofit/>
          </a:bodyPr>
          <a:lstStyle/>
          <a:p>
            <a:pPr algn="l" indent="0" marL="0">
              <a:buNone/>
            </a:pPr>
            <a:r>
              <a:rPr lang="en-US" sz="1725" b="1" spc="-34" kern="0" dirty="0">
                <a:solidFill>
                  <a:srgbClr val="143257"/>
                </a:solidFill>
                <a:latin typeface="Arial" pitchFamily="34" charset="0"/>
                <a:ea typeface="Arial" pitchFamily="34" charset="-122"/>
                <a:cs typeface="Arial" pitchFamily="34" charset="-120"/>
              </a:rPr>
              <a:t>RAG 파이프라인</a:t>
            </a:r>
            <a:endParaRPr lang="en-US" sz="1725" dirty="0"/>
          </a:p>
        </p:txBody>
      </p:sp>
      <p:sp>
        <p:nvSpPr>
          <p:cNvPr id="58" name="Shape 56"/>
          <p:cNvSpPr/>
          <p:nvPr/>
        </p:nvSpPr>
        <p:spPr>
          <a:xfrm>
            <a:off x="7879080" y="3661410"/>
            <a:ext cx="2529840" cy="445770"/>
          </a:xfrm>
          <a:prstGeom prst="roundRect">
            <a:avLst>
              <a:gd name="adj" fmla="val 21368"/>
            </a:avLst>
          </a:prstGeom>
          <a:solidFill>
            <a:srgbClr val="EAF2FB"/>
          </a:solidFill>
          <a:ln/>
        </p:spPr>
      </p:sp>
      <p:sp>
        <p:nvSpPr>
          <p:cNvPr id="59" name="Text 57"/>
          <p:cNvSpPr/>
          <p:nvPr/>
        </p:nvSpPr>
        <p:spPr>
          <a:xfrm>
            <a:off x="8012430" y="3766185"/>
            <a:ext cx="2339340" cy="274320"/>
          </a:xfrm>
          <a:prstGeom prst="rect">
            <a:avLst/>
          </a:prstGeom>
          <a:noFill/>
          <a:ln/>
        </p:spPr>
        <p:txBody>
          <a:bodyPr wrap="square" lIns="25400" tIns="25400" rIns="25400" bIns="25400" rtlCol="0" anchor="t">
            <a:normAutofit/>
          </a:bodyPr>
          <a:lstStyle/>
          <a:p>
            <a:pPr algn="l" indent="0" marL="0">
              <a:buNone/>
            </a:pPr>
            <a:r>
              <a:rPr lang="en-US" sz="1275" b="1" dirty="0">
                <a:solidFill>
                  <a:srgbClr val="3C5066"/>
                </a:solidFill>
                <a:latin typeface="Arial" pitchFamily="34" charset="0"/>
                <a:ea typeface="Arial" pitchFamily="34" charset="-122"/>
                <a:cs typeface="Arial" pitchFamily="34" charset="-120"/>
              </a:rPr>
              <a:t>하이브리드 검색</a:t>
            </a:r>
            <a:endParaRPr lang="en-US" sz="1275" dirty="0"/>
          </a:p>
        </p:txBody>
      </p:sp>
      <p:sp>
        <p:nvSpPr>
          <p:cNvPr id="60" name="Shape 58"/>
          <p:cNvSpPr/>
          <p:nvPr/>
        </p:nvSpPr>
        <p:spPr>
          <a:xfrm>
            <a:off x="7879080" y="4211955"/>
            <a:ext cx="2529840" cy="445770"/>
          </a:xfrm>
          <a:prstGeom prst="roundRect">
            <a:avLst>
              <a:gd name="adj" fmla="val 21368"/>
            </a:avLst>
          </a:prstGeom>
          <a:solidFill>
            <a:srgbClr val="EAF2FB"/>
          </a:solidFill>
          <a:ln/>
        </p:spPr>
      </p:sp>
      <p:sp>
        <p:nvSpPr>
          <p:cNvPr id="61" name="Text 59"/>
          <p:cNvSpPr/>
          <p:nvPr/>
        </p:nvSpPr>
        <p:spPr>
          <a:xfrm>
            <a:off x="8012430" y="4316730"/>
            <a:ext cx="2339340" cy="274320"/>
          </a:xfrm>
          <a:prstGeom prst="rect">
            <a:avLst/>
          </a:prstGeom>
          <a:noFill/>
          <a:ln/>
        </p:spPr>
        <p:txBody>
          <a:bodyPr wrap="square" lIns="25400" tIns="25400" rIns="25400" bIns="25400" rtlCol="0" anchor="t">
            <a:normAutofit/>
          </a:bodyPr>
          <a:lstStyle/>
          <a:p>
            <a:pPr algn="l" indent="0" marL="0">
              <a:buNone/>
            </a:pPr>
            <a:r>
              <a:rPr lang="en-US" sz="1275" b="1" dirty="0">
                <a:solidFill>
                  <a:srgbClr val="3C5066"/>
                </a:solidFill>
                <a:latin typeface="Arial" pitchFamily="34" charset="0"/>
                <a:ea typeface="Arial" pitchFamily="34" charset="-122"/>
                <a:cs typeface="Arial" pitchFamily="34" charset="-120"/>
              </a:rPr>
              <a:t>LLM 답변 생성</a:t>
            </a:r>
            <a:endParaRPr lang="en-US" sz="1275" dirty="0"/>
          </a:p>
        </p:txBody>
      </p:sp>
      <p:sp>
        <p:nvSpPr>
          <p:cNvPr id="62" name="Shape 60"/>
          <p:cNvSpPr/>
          <p:nvPr/>
        </p:nvSpPr>
        <p:spPr>
          <a:xfrm>
            <a:off x="7879080" y="4762500"/>
            <a:ext cx="2529840" cy="400050"/>
          </a:xfrm>
          <a:prstGeom prst="roundRect">
            <a:avLst>
              <a:gd name="adj" fmla="val 23810"/>
            </a:avLst>
          </a:prstGeom>
          <a:solidFill>
            <a:srgbClr val="EAF2FB"/>
          </a:solidFill>
          <a:ln/>
        </p:spPr>
      </p:sp>
      <p:sp>
        <p:nvSpPr>
          <p:cNvPr id="63" name="Text 61"/>
          <p:cNvSpPr/>
          <p:nvPr/>
        </p:nvSpPr>
        <p:spPr>
          <a:xfrm>
            <a:off x="8012430" y="4867275"/>
            <a:ext cx="2339340" cy="228600"/>
          </a:xfrm>
          <a:prstGeom prst="rect">
            <a:avLst/>
          </a:prstGeom>
          <a:noFill/>
          <a:ln/>
        </p:spPr>
        <p:txBody>
          <a:bodyPr wrap="square" lIns="25400" tIns="25400" rIns="25400" bIns="25400" rtlCol="0" anchor="t">
            <a:normAutofit/>
          </a:bodyPr>
          <a:lstStyle/>
          <a:p>
            <a:pPr algn="l" indent="0" marL="0">
              <a:buNone/>
            </a:pPr>
            <a:r>
              <a:rPr lang="en-US" sz="1275" b="1" dirty="0">
                <a:solidFill>
                  <a:srgbClr val="3C5066"/>
                </a:solidFill>
                <a:latin typeface="Arial" pitchFamily="34" charset="0"/>
                <a:ea typeface="Arial" pitchFamily="34" charset="-122"/>
                <a:cs typeface="Arial" pitchFamily="34" charset="-120"/>
              </a:rPr>
              <a:t>Django REST API</a:t>
            </a:r>
            <a:endParaRPr lang="en-US" sz="1275" dirty="0"/>
          </a:p>
        </p:txBody>
      </p:sp>
      <p:sp>
        <p:nvSpPr>
          <p:cNvPr id="64" name="Shape 62"/>
          <p:cNvSpPr/>
          <p:nvPr/>
        </p:nvSpPr>
        <p:spPr>
          <a:xfrm>
            <a:off x="7879080" y="9136380"/>
            <a:ext cx="2529840" cy="9525"/>
          </a:xfrm>
          <a:prstGeom prst="rect">
            <a:avLst/>
          </a:prstGeom>
          <a:solidFill>
            <a:srgbClr val="EEF3F8"/>
          </a:solidFill>
          <a:ln/>
        </p:spPr>
      </p:sp>
      <p:sp>
        <p:nvSpPr>
          <p:cNvPr id="65" name="Text 63"/>
          <p:cNvSpPr/>
          <p:nvPr/>
        </p:nvSpPr>
        <p:spPr>
          <a:xfrm>
            <a:off x="7879080" y="9296400"/>
            <a:ext cx="2606040" cy="259080"/>
          </a:xfrm>
          <a:prstGeom prst="rect">
            <a:avLst/>
          </a:prstGeom>
          <a:noFill/>
          <a:ln/>
        </p:spPr>
        <p:txBody>
          <a:bodyPr wrap="square" lIns="25400" tIns="25400" rIns="25400" bIns="25400" rtlCol="0" anchor="t">
            <a:normAutofit/>
          </a:bodyPr>
          <a:lstStyle/>
          <a:p>
            <a:pPr algn="l" indent="0" marL="0">
              <a:lnSpc>
                <a:spcPct val="145000"/>
              </a:lnSpc>
              <a:buNone/>
            </a:pPr>
            <a:r>
              <a:rPr lang="en-US" sz="1200" b="1" dirty="0">
                <a:solidFill>
                  <a:srgbClr val="1E6FBF"/>
                </a:solidFill>
                <a:latin typeface="Arial" pitchFamily="34" charset="0"/>
                <a:ea typeface="Arial" pitchFamily="34" charset="-122"/>
                <a:cs typeface="Arial" pitchFamily="34" charset="-120"/>
              </a:rPr>
              <a:t>검색해서 답을 생성</a:t>
            </a:r>
            <a:endParaRPr lang="en-US" sz="1200" dirty="0"/>
          </a:p>
        </p:txBody>
      </p:sp>
      <p:sp>
        <p:nvSpPr>
          <p:cNvPr id="66" name="Text 64"/>
          <p:cNvSpPr/>
          <p:nvPr/>
        </p:nvSpPr>
        <p:spPr>
          <a:xfrm>
            <a:off x="10740390" y="2472690"/>
            <a:ext cx="381000" cy="7319010"/>
          </a:xfrm>
          <a:prstGeom prst="rect">
            <a:avLst/>
          </a:prstGeom>
          <a:noFill/>
          <a:ln/>
        </p:spPr>
        <p:txBody>
          <a:bodyPr wrap="square" lIns="25400" tIns="25400" rIns="25400" bIns="25400" rtlCol="0" anchor="ctr">
            <a:normAutofit/>
          </a:bodyPr>
          <a:lstStyle/>
          <a:p>
            <a:pPr algn="l" indent="0" marL="0">
              <a:buNone/>
            </a:pPr>
            <a:r>
              <a:rPr lang="en-US" sz="2400" dirty="0">
                <a:solidFill>
                  <a:srgbClr val="C3D2E0"/>
                </a:solidFill>
                <a:latin typeface="Arial" pitchFamily="34" charset="0"/>
                <a:ea typeface="Arial" pitchFamily="34" charset="-122"/>
                <a:cs typeface="Arial" pitchFamily="34" charset="-120"/>
              </a:rPr>
              <a:t>→</a:t>
            </a:r>
            <a:endParaRPr lang="en-US" sz="2400" dirty="0"/>
          </a:p>
        </p:txBody>
      </p:sp>
      <p:sp>
        <p:nvSpPr>
          <p:cNvPr id="67" name="Shape 65"/>
          <p:cNvSpPr/>
          <p:nvPr/>
        </p:nvSpPr>
        <p:spPr>
          <a:xfrm>
            <a:off x="11178540" y="2472690"/>
            <a:ext cx="2926080" cy="7280910"/>
          </a:xfrm>
          <a:prstGeom prst="roundRect">
            <a:avLst>
              <a:gd name="adj" fmla="val 5859"/>
            </a:avLst>
          </a:prstGeom>
          <a:solidFill>
            <a:srgbClr val="FFFFFF"/>
          </a:solidFill>
          <a:ln/>
          <a:effectLst>
            <a:outerShdw sx="100000" sy="100000" kx="0" ky="0" algn="bl" rotWithShape="0" blurRad="266700" dist="114300" dir="5400000">
              <a:srgbClr val="2E8BE0">
                <a:alpha val="8000"/>
              </a:srgbClr>
            </a:outerShdw>
          </a:effectLst>
        </p:spPr>
      </p:sp>
      <p:sp>
        <p:nvSpPr>
          <p:cNvPr id="68" name="Shape 66"/>
          <p:cNvSpPr/>
          <p:nvPr/>
        </p:nvSpPr>
        <p:spPr>
          <a:xfrm>
            <a:off x="11178540" y="9745980"/>
            <a:ext cx="2926080" cy="9525"/>
          </a:xfrm>
          <a:prstGeom prst="rect">
            <a:avLst/>
          </a:prstGeom>
          <a:solidFill>
            <a:srgbClr val="E6EEF7"/>
          </a:solidFill>
          <a:ln/>
        </p:spPr>
      </p:sp>
      <p:sp>
        <p:nvSpPr>
          <p:cNvPr id="69" name="Shape 67"/>
          <p:cNvSpPr/>
          <p:nvPr/>
        </p:nvSpPr>
        <p:spPr>
          <a:xfrm>
            <a:off x="11178540" y="2472690"/>
            <a:ext cx="2926080" cy="45720"/>
          </a:xfrm>
          <a:prstGeom prst="rect">
            <a:avLst/>
          </a:prstGeom>
          <a:solidFill>
            <a:srgbClr val="F072AC"/>
          </a:solidFill>
          <a:ln/>
        </p:spPr>
      </p:sp>
      <p:sp>
        <p:nvSpPr>
          <p:cNvPr id="70" name="Shape 68"/>
          <p:cNvSpPr/>
          <p:nvPr/>
        </p:nvSpPr>
        <p:spPr>
          <a:xfrm>
            <a:off x="11178540" y="2472690"/>
            <a:ext cx="9525" cy="7280910"/>
          </a:xfrm>
          <a:prstGeom prst="rect">
            <a:avLst/>
          </a:prstGeom>
          <a:solidFill>
            <a:srgbClr val="E6EEF7"/>
          </a:solidFill>
          <a:ln/>
        </p:spPr>
      </p:sp>
      <p:sp>
        <p:nvSpPr>
          <p:cNvPr id="71" name="Shape 69"/>
          <p:cNvSpPr/>
          <p:nvPr/>
        </p:nvSpPr>
        <p:spPr>
          <a:xfrm>
            <a:off x="14097000" y="2472690"/>
            <a:ext cx="9525" cy="7280910"/>
          </a:xfrm>
          <a:prstGeom prst="rect">
            <a:avLst/>
          </a:prstGeom>
          <a:solidFill>
            <a:srgbClr val="E6EEF7"/>
          </a:solidFill>
          <a:ln/>
        </p:spPr>
      </p:sp>
      <p:sp>
        <p:nvSpPr>
          <p:cNvPr id="72" name="Text 70"/>
          <p:cNvSpPr/>
          <p:nvPr/>
        </p:nvSpPr>
        <p:spPr>
          <a:xfrm>
            <a:off x="11376660" y="2747010"/>
            <a:ext cx="2782824" cy="220980"/>
          </a:xfrm>
          <a:prstGeom prst="rect">
            <a:avLst/>
          </a:prstGeom>
          <a:noFill/>
          <a:ln/>
        </p:spPr>
        <p:txBody>
          <a:bodyPr wrap="square" lIns="25400" tIns="25400" rIns="25400" bIns="25400" rtlCol="0" anchor="t">
            <a:normAutofit/>
          </a:bodyPr>
          <a:lstStyle/>
          <a:p>
            <a:pPr algn="l" indent="0" marL="0">
              <a:buNone/>
            </a:pPr>
            <a:r>
              <a:rPr lang="en-US" sz="975" b="1" spc="59" kern="0" dirty="0">
                <a:solidFill>
                  <a:srgbClr val="D85C9A"/>
                </a:solidFill>
                <a:latin typeface="Arial" pitchFamily="34" charset="0"/>
                <a:ea typeface="Arial" pitchFamily="34" charset="-122"/>
                <a:cs typeface="Arial" pitchFamily="34" charset="-120"/>
              </a:rPr>
              <a:t>프론트</a:t>
            </a:r>
            <a:endParaRPr lang="en-US" sz="975" dirty="0"/>
          </a:p>
        </p:txBody>
      </p:sp>
      <p:sp>
        <p:nvSpPr>
          <p:cNvPr id="73" name="Text 71"/>
          <p:cNvSpPr/>
          <p:nvPr/>
        </p:nvSpPr>
        <p:spPr>
          <a:xfrm>
            <a:off x="11376660" y="2987040"/>
            <a:ext cx="2782824" cy="350520"/>
          </a:xfrm>
          <a:prstGeom prst="rect">
            <a:avLst/>
          </a:prstGeom>
          <a:noFill/>
          <a:ln/>
        </p:spPr>
        <p:txBody>
          <a:bodyPr wrap="square" lIns="25400" tIns="25400" rIns="25400" bIns="25400" rtlCol="0" anchor="t">
            <a:normAutofit/>
          </a:bodyPr>
          <a:lstStyle/>
          <a:p>
            <a:pPr algn="l" indent="0" marL="0">
              <a:buNone/>
            </a:pPr>
            <a:r>
              <a:rPr lang="en-US" sz="1725" b="1" spc="-34" kern="0" dirty="0">
                <a:solidFill>
                  <a:srgbClr val="143257"/>
                </a:solidFill>
                <a:latin typeface="Arial" pitchFamily="34" charset="0"/>
                <a:ea typeface="Arial" pitchFamily="34" charset="-122"/>
                <a:cs typeface="Arial" pitchFamily="34" charset="-120"/>
              </a:rPr>
              <a:t>웹 UI</a:t>
            </a:r>
            <a:endParaRPr lang="en-US" sz="1725" dirty="0"/>
          </a:p>
        </p:txBody>
      </p:sp>
      <p:sp>
        <p:nvSpPr>
          <p:cNvPr id="74" name="Shape 72"/>
          <p:cNvSpPr/>
          <p:nvPr/>
        </p:nvSpPr>
        <p:spPr>
          <a:xfrm>
            <a:off x="11376660" y="3661410"/>
            <a:ext cx="2529840" cy="445770"/>
          </a:xfrm>
          <a:prstGeom prst="roundRect">
            <a:avLst>
              <a:gd name="adj" fmla="val 21368"/>
            </a:avLst>
          </a:prstGeom>
          <a:solidFill>
            <a:srgbClr val="FCEFF5"/>
          </a:solidFill>
          <a:ln/>
        </p:spPr>
      </p:sp>
      <p:sp>
        <p:nvSpPr>
          <p:cNvPr id="75" name="Text 73"/>
          <p:cNvSpPr/>
          <p:nvPr/>
        </p:nvSpPr>
        <p:spPr>
          <a:xfrm>
            <a:off x="11510010" y="3766185"/>
            <a:ext cx="2339340" cy="274320"/>
          </a:xfrm>
          <a:prstGeom prst="rect">
            <a:avLst/>
          </a:prstGeom>
          <a:noFill/>
          <a:ln/>
        </p:spPr>
        <p:txBody>
          <a:bodyPr wrap="square" lIns="25400" tIns="25400" rIns="25400" bIns="25400" rtlCol="0" anchor="t">
            <a:normAutofit/>
          </a:bodyPr>
          <a:lstStyle/>
          <a:p>
            <a:pPr algn="l" indent="0" marL="0">
              <a:buNone/>
            </a:pPr>
            <a:r>
              <a:rPr lang="en-US" sz="1275" b="1" dirty="0">
                <a:solidFill>
                  <a:srgbClr val="3C5066"/>
                </a:solidFill>
                <a:latin typeface="Arial" pitchFamily="34" charset="0"/>
                <a:ea typeface="Arial" pitchFamily="34" charset="-122"/>
                <a:cs typeface="Arial" pitchFamily="34" charset="-120"/>
              </a:rPr>
              <a:t>채팅·출처·피드백</a:t>
            </a:r>
            <a:endParaRPr lang="en-US" sz="1275" dirty="0"/>
          </a:p>
        </p:txBody>
      </p:sp>
      <p:sp>
        <p:nvSpPr>
          <p:cNvPr id="76" name="Shape 74"/>
          <p:cNvSpPr/>
          <p:nvPr/>
        </p:nvSpPr>
        <p:spPr>
          <a:xfrm>
            <a:off x="11376660" y="4211955"/>
            <a:ext cx="2529840" cy="445770"/>
          </a:xfrm>
          <a:prstGeom prst="roundRect">
            <a:avLst>
              <a:gd name="adj" fmla="val 21368"/>
            </a:avLst>
          </a:prstGeom>
          <a:solidFill>
            <a:srgbClr val="FCEFF5"/>
          </a:solidFill>
          <a:ln/>
        </p:spPr>
      </p:sp>
      <p:sp>
        <p:nvSpPr>
          <p:cNvPr id="77" name="Text 75"/>
          <p:cNvSpPr/>
          <p:nvPr/>
        </p:nvSpPr>
        <p:spPr>
          <a:xfrm>
            <a:off x="11510010" y="4316730"/>
            <a:ext cx="2339340" cy="274320"/>
          </a:xfrm>
          <a:prstGeom prst="rect">
            <a:avLst/>
          </a:prstGeom>
          <a:noFill/>
          <a:ln/>
        </p:spPr>
        <p:txBody>
          <a:bodyPr wrap="square" lIns="25400" tIns="25400" rIns="25400" bIns="25400" rtlCol="0" anchor="t">
            <a:normAutofit/>
          </a:bodyPr>
          <a:lstStyle/>
          <a:p>
            <a:pPr algn="l" indent="0" marL="0">
              <a:buNone/>
            </a:pPr>
            <a:r>
              <a:rPr lang="en-US" sz="1275" b="1" dirty="0">
                <a:solidFill>
                  <a:srgbClr val="3C5066"/>
                </a:solidFill>
                <a:latin typeface="Arial" pitchFamily="34" charset="0"/>
                <a:ea typeface="Arial" pitchFamily="34" charset="-122"/>
                <a:cs typeface="Arial" pitchFamily="34" charset="-120"/>
              </a:rPr>
              <a:t>게시판·문의</a:t>
            </a:r>
            <a:endParaRPr lang="en-US" sz="1275" dirty="0"/>
          </a:p>
        </p:txBody>
      </p:sp>
      <p:sp>
        <p:nvSpPr>
          <p:cNvPr id="78" name="Shape 76"/>
          <p:cNvSpPr/>
          <p:nvPr/>
        </p:nvSpPr>
        <p:spPr>
          <a:xfrm>
            <a:off x="11376660" y="4762500"/>
            <a:ext cx="2529840" cy="445770"/>
          </a:xfrm>
          <a:prstGeom prst="roundRect">
            <a:avLst>
              <a:gd name="adj" fmla="val 21368"/>
            </a:avLst>
          </a:prstGeom>
          <a:solidFill>
            <a:srgbClr val="FCEFF5"/>
          </a:solidFill>
          <a:ln/>
        </p:spPr>
      </p:sp>
      <p:sp>
        <p:nvSpPr>
          <p:cNvPr id="79" name="Text 77"/>
          <p:cNvSpPr/>
          <p:nvPr/>
        </p:nvSpPr>
        <p:spPr>
          <a:xfrm>
            <a:off x="11510010" y="4867275"/>
            <a:ext cx="2339340" cy="274320"/>
          </a:xfrm>
          <a:prstGeom prst="rect">
            <a:avLst/>
          </a:prstGeom>
          <a:noFill/>
          <a:ln/>
        </p:spPr>
        <p:txBody>
          <a:bodyPr wrap="square" lIns="25400" tIns="25400" rIns="25400" bIns="25400" rtlCol="0" anchor="t">
            <a:normAutofit/>
          </a:bodyPr>
          <a:lstStyle/>
          <a:p>
            <a:pPr algn="l" indent="0" marL="0">
              <a:buNone/>
            </a:pPr>
            <a:r>
              <a:rPr lang="en-US" sz="1275" b="1" dirty="0">
                <a:solidFill>
                  <a:srgbClr val="3C5066"/>
                </a:solidFill>
                <a:latin typeface="Arial" pitchFamily="34" charset="0"/>
                <a:ea typeface="Arial" pitchFamily="34" charset="-122"/>
                <a:cs typeface="Arial" pitchFamily="34" charset="-120"/>
              </a:rPr>
              <a:t>관리자 통계</a:t>
            </a:r>
            <a:endParaRPr lang="en-US" sz="1275" dirty="0"/>
          </a:p>
        </p:txBody>
      </p:sp>
      <p:sp>
        <p:nvSpPr>
          <p:cNvPr id="80" name="Shape 78"/>
          <p:cNvSpPr/>
          <p:nvPr/>
        </p:nvSpPr>
        <p:spPr>
          <a:xfrm>
            <a:off x="11376660" y="9136380"/>
            <a:ext cx="2529840" cy="9525"/>
          </a:xfrm>
          <a:prstGeom prst="rect">
            <a:avLst/>
          </a:prstGeom>
          <a:solidFill>
            <a:srgbClr val="EEF3F8"/>
          </a:solidFill>
          <a:ln/>
        </p:spPr>
      </p:sp>
      <p:sp>
        <p:nvSpPr>
          <p:cNvPr id="81" name="Text 79"/>
          <p:cNvSpPr/>
          <p:nvPr/>
        </p:nvSpPr>
        <p:spPr>
          <a:xfrm>
            <a:off x="11376660" y="9296400"/>
            <a:ext cx="2606040" cy="259080"/>
          </a:xfrm>
          <a:prstGeom prst="rect">
            <a:avLst/>
          </a:prstGeom>
          <a:noFill/>
          <a:ln/>
        </p:spPr>
        <p:txBody>
          <a:bodyPr wrap="square" lIns="25400" tIns="25400" rIns="25400" bIns="25400" rtlCol="0" anchor="t">
            <a:normAutofit/>
          </a:bodyPr>
          <a:lstStyle/>
          <a:p>
            <a:pPr algn="l" indent="0" marL="0">
              <a:lnSpc>
                <a:spcPct val="145000"/>
              </a:lnSpc>
              <a:buNone/>
            </a:pPr>
            <a:r>
              <a:rPr lang="en-US" sz="1200" b="1" dirty="0">
                <a:solidFill>
                  <a:srgbClr val="D85C9A"/>
                </a:solidFill>
                <a:latin typeface="Arial" pitchFamily="34" charset="0"/>
                <a:ea typeface="Arial" pitchFamily="34" charset="-122"/>
                <a:cs typeface="Arial" pitchFamily="34" charset="-120"/>
              </a:rPr>
              <a:t>사용자에게 결과 전달</a:t>
            </a:r>
            <a:endParaRPr lang="en-US" sz="1200" dirty="0"/>
          </a:p>
        </p:txBody>
      </p:sp>
      <p:sp>
        <p:nvSpPr>
          <p:cNvPr id="82" name="Text 80"/>
          <p:cNvSpPr/>
          <p:nvPr/>
        </p:nvSpPr>
        <p:spPr>
          <a:xfrm>
            <a:off x="14237970" y="2472690"/>
            <a:ext cx="381000" cy="7319010"/>
          </a:xfrm>
          <a:prstGeom prst="rect">
            <a:avLst/>
          </a:prstGeom>
          <a:noFill/>
          <a:ln/>
        </p:spPr>
        <p:txBody>
          <a:bodyPr wrap="square" lIns="25400" tIns="25400" rIns="25400" bIns="25400" rtlCol="0" anchor="ctr">
            <a:normAutofit/>
          </a:bodyPr>
          <a:lstStyle/>
          <a:p>
            <a:pPr algn="l" indent="0" marL="0">
              <a:buNone/>
            </a:pPr>
            <a:r>
              <a:rPr lang="en-US" sz="2400" dirty="0">
                <a:solidFill>
                  <a:srgbClr val="C3D2E0"/>
                </a:solidFill>
                <a:latin typeface="Arial" pitchFamily="34" charset="0"/>
                <a:ea typeface="Arial" pitchFamily="34" charset="-122"/>
                <a:cs typeface="Arial" pitchFamily="34" charset="-120"/>
              </a:rPr>
              <a:t>→</a:t>
            </a:r>
            <a:endParaRPr lang="en-US" sz="2400" dirty="0"/>
          </a:p>
        </p:txBody>
      </p:sp>
      <p:sp>
        <p:nvSpPr>
          <p:cNvPr id="83" name="Shape 81"/>
          <p:cNvSpPr/>
          <p:nvPr/>
        </p:nvSpPr>
        <p:spPr>
          <a:xfrm>
            <a:off x="14676120" y="2472690"/>
            <a:ext cx="2926080" cy="7280910"/>
          </a:xfrm>
          <a:prstGeom prst="roundRect">
            <a:avLst>
              <a:gd name="adj" fmla="val 5859"/>
            </a:avLst>
          </a:prstGeom>
          <a:solidFill>
            <a:srgbClr val="FFFFFF"/>
          </a:solidFill>
          <a:ln/>
          <a:effectLst>
            <a:outerShdw sx="100000" sy="100000" kx="0" ky="0" algn="bl" rotWithShape="0" blurRad="266700" dist="114300" dir="5400000">
              <a:srgbClr val="2E8BE0">
                <a:alpha val="8000"/>
              </a:srgbClr>
            </a:outerShdw>
          </a:effectLst>
        </p:spPr>
      </p:sp>
      <p:sp>
        <p:nvSpPr>
          <p:cNvPr id="84" name="Shape 82"/>
          <p:cNvSpPr/>
          <p:nvPr/>
        </p:nvSpPr>
        <p:spPr>
          <a:xfrm>
            <a:off x="14676120" y="9745980"/>
            <a:ext cx="2926080" cy="9525"/>
          </a:xfrm>
          <a:prstGeom prst="rect">
            <a:avLst/>
          </a:prstGeom>
          <a:solidFill>
            <a:srgbClr val="E6EEF7"/>
          </a:solidFill>
          <a:ln/>
        </p:spPr>
      </p:sp>
      <p:sp>
        <p:nvSpPr>
          <p:cNvPr id="85" name="Shape 83"/>
          <p:cNvSpPr/>
          <p:nvPr/>
        </p:nvSpPr>
        <p:spPr>
          <a:xfrm>
            <a:off x="14676120" y="2472690"/>
            <a:ext cx="2926080" cy="45720"/>
          </a:xfrm>
          <a:prstGeom prst="rect">
            <a:avLst/>
          </a:prstGeom>
          <a:solidFill>
            <a:srgbClr val="F0A33C"/>
          </a:solidFill>
          <a:ln/>
        </p:spPr>
      </p:sp>
      <p:sp>
        <p:nvSpPr>
          <p:cNvPr id="86" name="Shape 84"/>
          <p:cNvSpPr/>
          <p:nvPr/>
        </p:nvSpPr>
        <p:spPr>
          <a:xfrm>
            <a:off x="14676120" y="2472690"/>
            <a:ext cx="9525" cy="7280910"/>
          </a:xfrm>
          <a:prstGeom prst="rect">
            <a:avLst/>
          </a:prstGeom>
          <a:solidFill>
            <a:srgbClr val="E6EEF7"/>
          </a:solidFill>
          <a:ln/>
        </p:spPr>
      </p:sp>
      <p:sp>
        <p:nvSpPr>
          <p:cNvPr id="87" name="Shape 85"/>
          <p:cNvSpPr/>
          <p:nvPr/>
        </p:nvSpPr>
        <p:spPr>
          <a:xfrm>
            <a:off x="17594581" y="2472690"/>
            <a:ext cx="9525" cy="7280910"/>
          </a:xfrm>
          <a:prstGeom prst="rect">
            <a:avLst/>
          </a:prstGeom>
          <a:solidFill>
            <a:srgbClr val="E6EEF7"/>
          </a:solidFill>
          <a:ln/>
        </p:spPr>
      </p:sp>
      <p:sp>
        <p:nvSpPr>
          <p:cNvPr id="88" name="Text 86"/>
          <p:cNvSpPr/>
          <p:nvPr/>
        </p:nvSpPr>
        <p:spPr>
          <a:xfrm>
            <a:off x="14874240" y="2747010"/>
            <a:ext cx="2782824" cy="220980"/>
          </a:xfrm>
          <a:prstGeom prst="rect">
            <a:avLst/>
          </a:prstGeom>
          <a:noFill/>
          <a:ln/>
        </p:spPr>
        <p:txBody>
          <a:bodyPr wrap="square" lIns="25400" tIns="25400" rIns="25400" bIns="25400" rtlCol="0" anchor="t">
            <a:normAutofit/>
          </a:bodyPr>
          <a:lstStyle/>
          <a:p>
            <a:pPr algn="l" indent="0" marL="0">
              <a:buNone/>
            </a:pPr>
            <a:r>
              <a:rPr lang="en-US" sz="975" b="1" spc="59" kern="0" dirty="0">
                <a:solidFill>
                  <a:srgbClr val="D98A2B"/>
                </a:solidFill>
                <a:latin typeface="Arial" pitchFamily="34" charset="0"/>
                <a:ea typeface="Arial" pitchFamily="34" charset="-122"/>
                <a:cs typeface="Arial" pitchFamily="34" charset="-120"/>
              </a:rPr>
              <a:t>배포</a:t>
            </a:r>
            <a:endParaRPr lang="en-US" sz="975" dirty="0"/>
          </a:p>
        </p:txBody>
      </p:sp>
      <p:sp>
        <p:nvSpPr>
          <p:cNvPr id="89" name="Text 87"/>
          <p:cNvSpPr/>
          <p:nvPr/>
        </p:nvSpPr>
        <p:spPr>
          <a:xfrm>
            <a:off x="14874240" y="2987040"/>
            <a:ext cx="2782824" cy="350520"/>
          </a:xfrm>
          <a:prstGeom prst="rect">
            <a:avLst/>
          </a:prstGeom>
          <a:noFill/>
          <a:ln/>
        </p:spPr>
        <p:txBody>
          <a:bodyPr wrap="square" lIns="25400" tIns="25400" rIns="25400" bIns="25400" rtlCol="0" anchor="t">
            <a:normAutofit/>
          </a:bodyPr>
          <a:lstStyle/>
          <a:p>
            <a:pPr algn="l" indent="0" marL="0">
              <a:buNone/>
            </a:pPr>
            <a:r>
              <a:rPr lang="en-US" sz="1725" b="1" spc="-34" kern="0" dirty="0">
                <a:solidFill>
                  <a:srgbClr val="143257"/>
                </a:solidFill>
                <a:latin typeface="Arial" pitchFamily="34" charset="0"/>
                <a:ea typeface="Arial" pitchFamily="34" charset="-122"/>
                <a:cs typeface="Arial" pitchFamily="34" charset="-120"/>
              </a:rPr>
              <a:t>운영 환경</a:t>
            </a:r>
            <a:endParaRPr lang="en-US" sz="1725" dirty="0"/>
          </a:p>
        </p:txBody>
      </p:sp>
      <p:sp>
        <p:nvSpPr>
          <p:cNvPr id="90" name="Shape 88"/>
          <p:cNvSpPr/>
          <p:nvPr/>
        </p:nvSpPr>
        <p:spPr>
          <a:xfrm>
            <a:off x="14874240" y="3661410"/>
            <a:ext cx="2529840" cy="445770"/>
          </a:xfrm>
          <a:prstGeom prst="roundRect">
            <a:avLst>
              <a:gd name="adj" fmla="val 21368"/>
            </a:avLst>
          </a:prstGeom>
          <a:solidFill>
            <a:srgbClr val="FDF3E3"/>
          </a:solidFill>
          <a:ln/>
        </p:spPr>
      </p:sp>
      <p:sp>
        <p:nvSpPr>
          <p:cNvPr id="91" name="Text 89"/>
          <p:cNvSpPr/>
          <p:nvPr/>
        </p:nvSpPr>
        <p:spPr>
          <a:xfrm>
            <a:off x="15007590" y="3766185"/>
            <a:ext cx="2339340" cy="274320"/>
          </a:xfrm>
          <a:prstGeom prst="rect">
            <a:avLst/>
          </a:prstGeom>
          <a:noFill/>
          <a:ln/>
        </p:spPr>
        <p:txBody>
          <a:bodyPr wrap="square" lIns="25400" tIns="25400" rIns="25400" bIns="25400" rtlCol="0" anchor="t">
            <a:normAutofit/>
          </a:bodyPr>
          <a:lstStyle/>
          <a:p>
            <a:pPr algn="l" indent="0" marL="0">
              <a:buNone/>
            </a:pPr>
            <a:r>
              <a:rPr lang="en-US" sz="1275" b="1" dirty="0">
                <a:solidFill>
                  <a:srgbClr val="3C5066"/>
                </a:solidFill>
                <a:latin typeface="Arial" pitchFamily="34" charset="0"/>
                <a:ea typeface="Arial" pitchFamily="34" charset="-122"/>
                <a:cs typeface="Arial" pitchFamily="34" charset="-120"/>
              </a:rPr>
              <a:t>로컬 실행 검증</a:t>
            </a:r>
            <a:endParaRPr lang="en-US" sz="1275" dirty="0"/>
          </a:p>
        </p:txBody>
      </p:sp>
      <p:sp>
        <p:nvSpPr>
          <p:cNvPr id="92" name="Shape 90"/>
          <p:cNvSpPr/>
          <p:nvPr/>
        </p:nvSpPr>
        <p:spPr>
          <a:xfrm>
            <a:off x="14874240" y="4211955"/>
            <a:ext cx="2529840" cy="445770"/>
          </a:xfrm>
          <a:prstGeom prst="roundRect">
            <a:avLst>
              <a:gd name="adj" fmla="val 21368"/>
            </a:avLst>
          </a:prstGeom>
          <a:solidFill>
            <a:srgbClr val="FDF3E3"/>
          </a:solidFill>
          <a:ln/>
        </p:spPr>
      </p:sp>
      <p:sp>
        <p:nvSpPr>
          <p:cNvPr id="93" name="Text 91"/>
          <p:cNvSpPr/>
          <p:nvPr/>
        </p:nvSpPr>
        <p:spPr>
          <a:xfrm>
            <a:off x="15007590" y="4316730"/>
            <a:ext cx="2339340" cy="274320"/>
          </a:xfrm>
          <a:prstGeom prst="rect">
            <a:avLst/>
          </a:prstGeom>
          <a:noFill/>
          <a:ln/>
        </p:spPr>
        <p:txBody>
          <a:bodyPr wrap="square" lIns="25400" tIns="25400" rIns="25400" bIns="25400" rtlCol="0" anchor="t">
            <a:normAutofit/>
          </a:bodyPr>
          <a:lstStyle/>
          <a:p>
            <a:pPr algn="l" indent="0" marL="0">
              <a:buNone/>
            </a:pPr>
            <a:r>
              <a:rPr lang="en-US" sz="1275" b="1" dirty="0">
                <a:solidFill>
                  <a:srgbClr val="3C5066"/>
                </a:solidFill>
                <a:latin typeface="Arial" pitchFamily="34" charset="0"/>
                <a:ea typeface="Arial" pitchFamily="34" charset="-122"/>
                <a:cs typeface="Arial" pitchFamily="34" charset="-120"/>
              </a:rPr>
              <a:t>클라우드 배포</a:t>
            </a:r>
            <a:endParaRPr lang="en-US" sz="1275" dirty="0"/>
          </a:p>
        </p:txBody>
      </p:sp>
      <p:sp>
        <p:nvSpPr>
          <p:cNvPr id="94" name="Shape 92"/>
          <p:cNvSpPr/>
          <p:nvPr/>
        </p:nvSpPr>
        <p:spPr>
          <a:xfrm>
            <a:off x="14874240" y="4762500"/>
            <a:ext cx="2529840" cy="445770"/>
          </a:xfrm>
          <a:prstGeom prst="roundRect">
            <a:avLst>
              <a:gd name="adj" fmla="val 21368"/>
            </a:avLst>
          </a:prstGeom>
          <a:solidFill>
            <a:srgbClr val="FDF3E3"/>
          </a:solidFill>
          <a:ln/>
        </p:spPr>
      </p:sp>
      <p:sp>
        <p:nvSpPr>
          <p:cNvPr id="95" name="Text 93"/>
          <p:cNvSpPr/>
          <p:nvPr/>
        </p:nvSpPr>
        <p:spPr>
          <a:xfrm>
            <a:off x="15007590" y="4867275"/>
            <a:ext cx="2339340" cy="274320"/>
          </a:xfrm>
          <a:prstGeom prst="rect">
            <a:avLst/>
          </a:prstGeom>
          <a:noFill/>
          <a:ln/>
        </p:spPr>
        <p:txBody>
          <a:bodyPr wrap="square" lIns="25400" tIns="25400" rIns="25400" bIns="25400" rtlCol="0" anchor="t">
            <a:normAutofit/>
          </a:bodyPr>
          <a:lstStyle/>
          <a:p>
            <a:pPr algn="l" indent="0" marL="0">
              <a:buNone/>
            </a:pPr>
            <a:r>
              <a:rPr lang="en-US" sz="1275" b="1" dirty="0">
                <a:solidFill>
                  <a:srgbClr val="3C5066"/>
                </a:solidFill>
                <a:latin typeface="Arial" pitchFamily="34" charset="0"/>
                <a:ea typeface="Arial" pitchFamily="34" charset="-122"/>
                <a:cs typeface="Arial" pitchFamily="34" charset="-120"/>
              </a:rPr>
              <a:t>데이터 Migration</a:t>
            </a:r>
            <a:endParaRPr lang="en-US" sz="1275" dirty="0"/>
          </a:p>
        </p:txBody>
      </p:sp>
      <p:sp>
        <p:nvSpPr>
          <p:cNvPr id="96" name="Shape 94"/>
          <p:cNvSpPr/>
          <p:nvPr/>
        </p:nvSpPr>
        <p:spPr>
          <a:xfrm>
            <a:off x="14874240" y="9136380"/>
            <a:ext cx="2529840" cy="9525"/>
          </a:xfrm>
          <a:prstGeom prst="rect">
            <a:avLst/>
          </a:prstGeom>
          <a:solidFill>
            <a:srgbClr val="EEF3F8"/>
          </a:solidFill>
          <a:ln/>
        </p:spPr>
      </p:sp>
      <p:sp>
        <p:nvSpPr>
          <p:cNvPr id="97" name="Text 95"/>
          <p:cNvSpPr/>
          <p:nvPr/>
        </p:nvSpPr>
        <p:spPr>
          <a:xfrm>
            <a:off x="14874240" y="9296400"/>
            <a:ext cx="2606040" cy="259080"/>
          </a:xfrm>
          <a:prstGeom prst="rect">
            <a:avLst/>
          </a:prstGeom>
          <a:noFill/>
          <a:ln/>
        </p:spPr>
        <p:txBody>
          <a:bodyPr wrap="square" lIns="25400" tIns="25400" rIns="25400" bIns="25400" rtlCol="0" anchor="t">
            <a:normAutofit/>
          </a:bodyPr>
          <a:lstStyle/>
          <a:p>
            <a:pPr algn="l" indent="0" marL="0">
              <a:lnSpc>
                <a:spcPct val="145000"/>
              </a:lnSpc>
              <a:buNone/>
            </a:pPr>
            <a:r>
              <a:rPr lang="en-US" sz="1200" b="1" dirty="0">
                <a:solidFill>
                  <a:srgbClr val="D98A2B"/>
                </a:solidFill>
                <a:latin typeface="Arial" pitchFamily="34" charset="0"/>
                <a:ea typeface="Arial" pitchFamily="34" charset="-122"/>
                <a:cs typeface="Arial" pitchFamily="34" charset="-120"/>
              </a:rPr>
              <a:t>어디서든 접속 가능하게</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8FC"/>
        </a:solidFill>
      </p:bgPr>
    </p:bg>
    <p:spTree>
      <p:nvGrpSpPr>
        <p:cNvPr id="1" name=""/>
        <p:cNvGrpSpPr/>
        <p:nvPr/>
      </p:nvGrpSpPr>
      <p:grpSpPr>
        <a:xfrm>
          <a:off x="0" y="0"/>
          <a:ext cx="0" cy="0"/>
          <a:chOff x="0" y="0"/>
          <a:chExt cx="0" cy="0"/>
        </a:xfrm>
      </p:grpSpPr>
      <p:sp>
        <p:nvSpPr>
          <p:cNvPr id="2" name="Shape 0"/>
          <p:cNvSpPr/>
          <p:nvPr/>
        </p:nvSpPr>
        <p:spPr>
          <a:xfrm>
            <a:off x="14761369" y="361950"/>
            <a:ext cx="562928" cy="278130"/>
          </a:xfrm>
          <a:prstGeom prst="roundRect">
            <a:avLst>
              <a:gd name="adj" fmla="val 50000"/>
            </a:avLst>
          </a:prstGeom>
          <a:solidFill>
            <a:srgbClr val="46C78D"/>
          </a:solidFill>
          <a:ln/>
        </p:spPr>
      </p:sp>
      <p:sp>
        <p:nvSpPr>
          <p:cNvPr id="3" name="Text 1"/>
          <p:cNvSpPr/>
          <p:nvPr/>
        </p:nvSpPr>
        <p:spPr>
          <a:xfrm>
            <a:off x="14875669" y="409575"/>
            <a:ext cx="410528" cy="220980"/>
          </a:xfrm>
          <a:prstGeom prst="rect">
            <a:avLst/>
          </a:prstGeom>
          <a:noFill/>
          <a:ln/>
        </p:spPr>
        <p:txBody>
          <a:bodyPr wrap="square" lIns="25400" tIns="25400" rIns="25400" bIns="25400" rtlCol="0" anchor="t">
            <a:normAutofit/>
          </a:bodyPr>
          <a:lstStyle/>
          <a:p>
            <a:pPr algn="l" indent="0" marL="0">
              <a:buNone/>
            </a:pPr>
            <a:r>
              <a:rPr lang="en-US" sz="975" b="1" spc="-19" kern="0" dirty="0">
                <a:solidFill>
                  <a:srgbClr val="FFFFFF"/>
                </a:solidFill>
                <a:latin typeface="Arial" pitchFamily="34" charset="0"/>
                <a:ea typeface="Arial" pitchFamily="34" charset="-122"/>
                <a:cs typeface="Arial" pitchFamily="34" charset="-120"/>
              </a:rPr>
              <a:t>데이터</a:t>
            </a:r>
            <a:endParaRPr lang="en-US" sz="975" dirty="0"/>
          </a:p>
        </p:txBody>
      </p:sp>
      <p:sp>
        <p:nvSpPr>
          <p:cNvPr id="4" name="Shape 2"/>
          <p:cNvSpPr/>
          <p:nvPr/>
        </p:nvSpPr>
        <p:spPr>
          <a:xfrm>
            <a:off x="15381446" y="361950"/>
            <a:ext cx="395764" cy="278130"/>
          </a:xfrm>
          <a:prstGeom prst="roundRect">
            <a:avLst>
              <a:gd name="adj" fmla="val 50000"/>
            </a:avLst>
          </a:prstGeom>
          <a:solidFill>
            <a:srgbClr val="E6EEF7"/>
          </a:solidFill>
          <a:ln/>
        </p:spPr>
      </p:sp>
      <p:sp>
        <p:nvSpPr>
          <p:cNvPr id="5" name="Text 3"/>
          <p:cNvSpPr/>
          <p:nvPr/>
        </p:nvSpPr>
        <p:spPr>
          <a:xfrm>
            <a:off x="15495746" y="409575"/>
            <a:ext cx="243364" cy="220980"/>
          </a:xfrm>
          <a:prstGeom prst="rect">
            <a:avLst/>
          </a:prstGeom>
          <a:noFill/>
          <a:ln/>
        </p:spPr>
        <p:txBody>
          <a:bodyPr wrap="square" lIns="25400" tIns="25400" rIns="25400" bIns="25400" rtlCol="0" anchor="t">
            <a:normAutofit/>
          </a:bodyPr>
          <a:lstStyle/>
          <a:p>
            <a:pPr algn="l" indent="0" marL="0">
              <a:buNone/>
            </a:pPr>
            <a:r>
              <a:rPr lang="en-US" sz="975" b="1" spc="-19" kern="0" dirty="0">
                <a:solidFill>
                  <a:srgbClr val="A7B8CA"/>
                </a:solidFill>
                <a:latin typeface="Arial" pitchFamily="34" charset="0"/>
                <a:ea typeface="Arial" pitchFamily="34" charset="-122"/>
                <a:cs typeface="Arial" pitchFamily="34" charset="-120"/>
              </a:rPr>
              <a:t>DB</a:t>
            </a:r>
            <a:endParaRPr lang="en-US" sz="975" dirty="0"/>
          </a:p>
        </p:txBody>
      </p:sp>
      <p:sp>
        <p:nvSpPr>
          <p:cNvPr id="6" name="Shape 4"/>
          <p:cNvSpPr/>
          <p:nvPr/>
        </p:nvSpPr>
        <p:spPr>
          <a:xfrm>
            <a:off x="15834360" y="361950"/>
            <a:ext cx="562928" cy="278130"/>
          </a:xfrm>
          <a:prstGeom prst="roundRect">
            <a:avLst>
              <a:gd name="adj" fmla="val 50000"/>
            </a:avLst>
          </a:prstGeom>
          <a:solidFill>
            <a:srgbClr val="E6EEF7"/>
          </a:solidFill>
          <a:ln/>
        </p:spPr>
      </p:sp>
      <p:sp>
        <p:nvSpPr>
          <p:cNvPr id="7" name="Text 5"/>
          <p:cNvSpPr/>
          <p:nvPr/>
        </p:nvSpPr>
        <p:spPr>
          <a:xfrm>
            <a:off x="15948660" y="409575"/>
            <a:ext cx="410528" cy="220980"/>
          </a:xfrm>
          <a:prstGeom prst="rect">
            <a:avLst/>
          </a:prstGeom>
          <a:noFill/>
          <a:ln/>
        </p:spPr>
        <p:txBody>
          <a:bodyPr wrap="square" lIns="25400" tIns="25400" rIns="25400" bIns="25400" rtlCol="0" anchor="t">
            <a:normAutofit/>
          </a:bodyPr>
          <a:lstStyle/>
          <a:p>
            <a:pPr algn="l" indent="0" marL="0">
              <a:buNone/>
            </a:pPr>
            <a:r>
              <a:rPr lang="en-US" sz="975" b="1" spc="-19" kern="0" dirty="0">
                <a:solidFill>
                  <a:srgbClr val="A7B8CA"/>
                </a:solidFill>
                <a:latin typeface="Arial" pitchFamily="34" charset="0"/>
                <a:ea typeface="Arial" pitchFamily="34" charset="-122"/>
                <a:cs typeface="Arial" pitchFamily="34" charset="-120"/>
              </a:rPr>
              <a:t>백엔드</a:t>
            </a:r>
            <a:endParaRPr lang="en-US" sz="975" dirty="0"/>
          </a:p>
        </p:txBody>
      </p:sp>
      <p:sp>
        <p:nvSpPr>
          <p:cNvPr id="8" name="Shape 6"/>
          <p:cNvSpPr/>
          <p:nvPr/>
        </p:nvSpPr>
        <p:spPr>
          <a:xfrm>
            <a:off x="16454438" y="361950"/>
            <a:ext cx="562928" cy="278130"/>
          </a:xfrm>
          <a:prstGeom prst="roundRect">
            <a:avLst>
              <a:gd name="adj" fmla="val 50000"/>
            </a:avLst>
          </a:prstGeom>
          <a:solidFill>
            <a:srgbClr val="E6EEF7"/>
          </a:solidFill>
          <a:ln/>
        </p:spPr>
      </p:sp>
      <p:sp>
        <p:nvSpPr>
          <p:cNvPr id="9" name="Text 7"/>
          <p:cNvSpPr/>
          <p:nvPr/>
        </p:nvSpPr>
        <p:spPr>
          <a:xfrm>
            <a:off x="16568738" y="409575"/>
            <a:ext cx="410528" cy="220980"/>
          </a:xfrm>
          <a:prstGeom prst="rect">
            <a:avLst/>
          </a:prstGeom>
          <a:noFill/>
          <a:ln/>
        </p:spPr>
        <p:txBody>
          <a:bodyPr wrap="square" lIns="25400" tIns="25400" rIns="25400" bIns="25400" rtlCol="0" anchor="t">
            <a:normAutofit/>
          </a:bodyPr>
          <a:lstStyle/>
          <a:p>
            <a:pPr algn="l" indent="0" marL="0">
              <a:buNone/>
            </a:pPr>
            <a:r>
              <a:rPr lang="en-US" sz="975" b="1" spc="-19" kern="0" dirty="0">
                <a:solidFill>
                  <a:srgbClr val="A7B8CA"/>
                </a:solidFill>
                <a:latin typeface="Arial" pitchFamily="34" charset="0"/>
                <a:ea typeface="Arial" pitchFamily="34" charset="-122"/>
                <a:cs typeface="Arial" pitchFamily="34" charset="-120"/>
              </a:rPr>
              <a:t>프론트</a:t>
            </a:r>
            <a:endParaRPr lang="en-US" sz="975" dirty="0"/>
          </a:p>
        </p:txBody>
      </p:sp>
      <p:sp>
        <p:nvSpPr>
          <p:cNvPr id="10" name="Shape 8"/>
          <p:cNvSpPr/>
          <p:nvPr/>
        </p:nvSpPr>
        <p:spPr>
          <a:xfrm>
            <a:off x="17074515" y="361950"/>
            <a:ext cx="451485" cy="278130"/>
          </a:xfrm>
          <a:prstGeom prst="roundRect">
            <a:avLst>
              <a:gd name="adj" fmla="val 50000"/>
            </a:avLst>
          </a:prstGeom>
          <a:solidFill>
            <a:srgbClr val="E6EEF7"/>
          </a:solidFill>
          <a:ln/>
        </p:spPr>
      </p:sp>
      <p:sp>
        <p:nvSpPr>
          <p:cNvPr id="11" name="Text 9"/>
          <p:cNvSpPr/>
          <p:nvPr/>
        </p:nvSpPr>
        <p:spPr>
          <a:xfrm>
            <a:off x="17188815" y="409575"/>
            <a:ext cx="299085" cy="220980"/>
          </a:xfrm>
          <a:prstGeom prst="rect">
            <a:avLst/>
          </a:prstGeom>
          <a:noFill/>
          <a:ln/>
        </p:spPr>
        <p:txBody>
          <a:bodyPr wrap="square" lIns="25400" tIns="25400" rIns="25400" bIns="25400" rtlCol="0" anchor="t">
            <a:normAutofit/>
          </a:bodyPr>
          <a:lstStyle/>
          <a:p>
            <a:pPr algn="l" indent="0" marL="0">
              <a:buNone/>
            </a:pPr>
            <a:r>
              <a:rPr lang="en-US" sz="975" b="1" spc="-19" kern="0" dirty="0">
                <a:solidFill>
                  <a:srgbClr val="A7B8CA"/>
                </a:solidFill>
                <a:latin typeface="Arial" pitchFamily="34" charset="0"/>
                <a:ea typeface="Arial" pitchFamily="34" charset="-122"/>
                <a:cs typeface="Arial" pitchFamily="34" charset="-120"/>
              </a:rPr>
              <a:t>배포</a:t>
            </a:r>
            <a:endParaRPr lang="en-US" sz="975" dirty="0"/>
          </a:p>
        </p:txBody>
      </p:sp>
      <p:sp>
        <p:nvSpPr>
          <p:cNvPr id="12" name="Text 10"/>
          <p:cNvSpPr/>
          <p:nvPr/>
        </p:nvSpPr>
        <p:spPr>
          <a:xfrm>
            <a:off x="762000" y="609600"/>
            <a:ext cx="18440400" cy="259080"/>
          </a:xfrm>
          <a:prstGeom prst="rect">
            <a:avLst/>
          </a:prstGeom>
          <a:noFill/>
          <a:ln/>
        </p:spPr>
        <p:txBody>
          <a:bodyPr wrap="square" lIns="25400" tIns="25400" rIns="25400" bIns="25400" rtlCol="0" anchor="t">
            <a:normAutofit/>
          </a:bodyPr>
          <a:lstStyle/>
          <a:p>
            <a:pPr algn="l" indent="0" marL="0">
              <a:buNone/>
            </a:pPr>
            <a:r>
              <a:rPr lang="en-US" sz="1200" b="1" spc="48" kern="0" dirty="0">
                <a:solidFill>
                  <a:srgbClr val="22A06B"/>
                </a:solidFill>
                <a:latin typeface="Arial" pitchFamily="34" charset="0"/>
                <a:ea typeface="Arial" pitchFamily="34" charset="-122"/>
                <a:cs typeface="Arial" pitchFamily="34" charset="-120"/>
              </a:rPr>
              <a:t>07 · 데이터 계층 — 수집·전처리</a:t>
            </a:r>
            <a:endParaRPr lang="en-US" sz="1200" dirty="0"/>
          </a:p>
        </p:txBody>
      </p:sp>
      <p:sp>
        <p:nvSpPr>
          <p:cNvPr id="13" name="Text 11"/>
          <p:cNvSpPr/>
          <p:nvPr/>
        </p:nvSpPr>
        <p:spPr>
          <a:xfrm>
            <a:off x="762000" y="963930"/>
            <a:ext cx="18440400" cy="731520"/>
          </a:xfrm>
          <a:prstGeom prst="rect">
            <a:avLst/>
          </a:prstGeom>
          <a:noFill/>
          <a:ln/>
        </p:spPr>
        <p:txBody>
          <a:bodyPr wrap="square" lIns="25400" tIns="25400" rIns="25400" bIns="25400" rtlCol="0" anchor="t">
            <a:normAutofit/>
          </a:bodyPr>
          <a:lstStyle/>
          <a:p>
            <a:pPr algn="l" indent="0" marL="0">
              <a:buNone/>
            </a:pPr>
            <a:r>
              <a:rPr lang="en-US" sz="3750" b="1" spc="-112" kern="0" dirty="0">
                <a:solidFill>
                  <a:srgbClr val="143257"/>
                </a:solidFill>
                <a:latin typeface="Arial" pitchFamily="34" charset="0"/>
                <a:ea typeface="Arial" pitchFamily="34" charset="-122"/>
                <a:cs typeface="Arial" pitchFamily="34" charset="-120"/>
              </a:rPr>
              <a:t>깨끗한 데이터에서 좋은 답이 나옵니다</a:t>
            </a:r>
            <a:endParaRPr lang="en-US" sz="3750" dirty="0"/>
          </a:p>
        </p:txBody>
      </p:sp>
      <p:sp>
        <p:nvSpPr>
          <p:cNvPr id="14" name="Shape 12"/>
          <p:cNvSpPr/>
          <p:nvPr/>
        </p:nvSpPr>
        <p:spPr>
          <a:xfrm>
            <a:off x="762000" y="2114550"/>
            <a:ext cx="3751897" cy="7562850"/>
          </a:xfrm>
          <a:prstGeom prst="roundRect">
            <a:avLst>
              <a:gd name="adj" fmla="val 5077"/>
            </a:avLst>
          </a:prstGeom>
          <a:solidFill>
            <a:srgbClr val="FFFFFF"/>
          </a:solidFill>
          <a:ln w="7620">
            <a:solidFill>
              <a:srgbClr val="E6EEF7"/>
            </a:solidFill>
            <a:prstDash val="solid"/>
          </a:ln>
          <a:effectLst>
            <a:outerShdw sx="100000" sy="100000" kx="0" ky="0" algn="bl" rotWithShape="0" blurRad="285750" dist="114300" dir="5400000">
              <a:srgbClr val="2E8BE0">
                <a:alpha val="8000"/>
              </a:srgbClr>
            </a:outerShdw>
          </a:effectLst>
        </p:spPr>
      </p:sp>
      <p:sp>
        <p:nvSpPr>
          <p:cNvPr id="15" name="Shape 13"/>
          <p:cNvSpPr/>
          <p:nvPr/>
        </p:nvSpPr>
        <p:spPr>
          <a:xfrm>
            <a:off x="1055370" y="2465070"/>
            <a:ext cx="533400" cy="533400"/>
          </a:xfrm>
          <a:prstGeom prst="roundRect">
            <a:avLst>
              <a:gd name="adj" fmla="val 28571"/>
            </a:avLst>
          </a:prstGeom>
          <a:solidFill>
            <a:srgbClr val="E7F6EF"/>
          </a:solidFill>
          <a:ln/>
        </p:spPr>
      </p:sp>
      <p:sp>
        <p:nvSpPr>
          <p:cNvPr id="16" name="Text 14"/>
          <p:cNvSpPr/>
          <p:nvPr/>
        </p:nvSpPr>
        <p:spPr>
          <a:xfrm>
            <a:off x="1017270" y="2465070"/>
            <a:ext cx="609600" cy="571500"/>
          </a:xfrm>
          <a:prstGeom prst="rect">
            <a:avLst/>
          </a:prstGeom>
          <a:noFill/>
          <a:ln/>
        </p:spPr>
        <p:txBody>
          <a:bodyPr wrap="square" lIns="25400" tIns="25400" rIns="25400" bIns="25400" rtlCol="0" anchor="ctr">
            <a:normAutofit/>
          </a:bodyPr>
          <a:lstStyle/>
          <a:p>
            <a:pPr algn="ctr" indent="0" marL="0">
              <a:buNone/>
            </a:pPr>
            <a:r>
              <a:rPr lang="en-US" sz="1800" b="1" dirty="0">
                <a:solidFill>
                  <a:srgbClr val="22A06B"/>
                </a:solidFill>
                <a:latin typeface="Arial" pitchFamily="34" charset="0"/>
                <a:ea typeface="Arial" pitchFamily="34" charset="-122"/>
                <a:cs typeface="Arial" pitchFamily="34" charset="-120"/>
              </a:rPr>
              <a:t>1</a:t>
            </a:r>
            <a:endParaRPr lang="en-US" sz="1800" dirty="0"/>
          </a:p>
        </p:txBody>
      </p:sp>
      <p:sp>
        <p:nvSpPr>
          <p:cNvPr id="17" name="Text 15"/>
          <p:cNvSpPr/>
          <p:nvPr/>
        </p:nvSpPr>
        <p:spPr>
          <a:xfrm>
            <a:off x="1055370" y="3208020"/>
            <a:ext cx="3481673" cy="411480"/>
          </a:xfrm>
          <a:prstGeom prst="rect">
            <a:avLst/>
          </a:prstGeom>
          <a:noFill/>
          <a:ln/>
        </p:spPr>
        <p:txBody>
          <a:bodyPr wrap="square" lIns="25400" tIns="25400" rIns="25400" bIns="25400" rtlCol="0" anchor="t">
            <a:normAutofit/>
          </a:bodyPr>
          <a:lstStyle/>
          <a:p>
            <a:pPr algn="l" indent="0" marL="0">
              <a:buNone/>
            </a:pPr>
            <a:r>
              <a:rPr lang="en-US" sz="2025" b="1" dirty="0">
                <a:solidFill>
                  <a:srgbClr val="143257"/>
                </a:solidFill>
                <a:latin typeface="Arial" pitchFamily="34" charset="0"/>
                <a:ea typeface="Arial" pitchFamily="34" charset="-122"/>
                <a:cs typeface="Arial" pitchFamily="34" charset="-120"/>
              </a:rPr>
              <a:t>크롤링</a:t>
            </a:r>
            <a:endParaRPr lang="en-US" sz="2025" dirty="0"/>
          </a:p>
        </p:txBody>
      </p:sp>
      <p:sp>
        <p:nvSpPr>
          <p:cNvPr id="18" name="Text 16"/>
          <p:cNvSpPr/>
          <p:nvPr/>
        </p:nvSpPr>
        <p:spPr>
          <a:xfrm>
            <a:off x="1055370" y="3695700"/>
            <a:ext cx="3481673" cy="333375"/>
          </a:xfrm>
          <a:prstGeom prst="rect">
            <a:avLst/>
          </a:prstGeom>
          <a:noFill/>
          <a:ln/>
        </p:spPr>
        <p:txBody>
          <a:bodyPr wrap="square" lIns="25400" tIns="25400" rIns="25400" bIns="25400" rtlCol="0" anchor="t">
            <a:normAutofit/>
          </a:bodyPr>
          <a:lstStyle/>
          <a:p>
            <a:pPr algn="l" indent="0" marL="0">
              <a:lnSpc>
                <a:spcPct val="155000"/>
              </a:lnSpc>
              <a:buNone/>
            </a:pPr>
            <a:r>
              <a:rPr lang="en-US" sz="1500" b="1" dirty="0">
                <a:solidFill>
                  <a:srgbClr val="51657B"/>
                </a:solidFill>
                <a:latin typeface="Arial" pitchFamily="34" charset="0"/>
                <a:ea typeface="Arial" pitchFamily="34" charset="-122"/>
                <a:cs typeface="Arial" pitchFamily="34" charset="-120"/>
              </a:rPr>
              <a:t>3개 단과대학 공식 페이지·문서 수집</a:t>
            </a:r>
            <a:endParaRPr lang="en-US" sz="1500" dirty="0"/>
          </a:p>
        </p:txBody>
      </p:sp>
      <p:sp>
        <p:nvSpPr>
          <p:cNvPr id="19" name="Text 17"/>
          <p:cNvSpPr/>
          <p:nvPr/>
        </p:nvSpPr>
        <p:spPr>
          <a:xfrm>
            <a:off x="4647247" y="2114550"/>
            <a:ext cx="400050" cy="7600950"/>
          </a:xfrm>
          <a:prstGeom prst="rect">
            <a:avLst/>
          </a:prstGeom>
          <a:noFill/>
          <a:ln/>
        </p:spPr>
        <p:txBody>
          <a:bodyPr wrap="square" lIns="25400" tIns="25400" rIns="25400" bIns="25400" rtlCol="0" anchor="ctr">
            <a:normAutofit/>
          </a:bodyPr>
          <a:lstStyle/>
          <a:p>
            <a:pPr algn="l" indent="0" marL="0">
              <a:buNone/>
            </a:pPr>
            <a:r>
              <a:rPr lang="en-US" sz="2550" dirty="0">
                <a:solidFill>
                  <a:srgbClr val="C3D2E0"/>
                </a:solidFill>
                <a:latin typeface="Arial" pitchFamily="34" charset="0"/>
                <a:ea typeface="Arial" pitchFamily="34" charset="-122"/>
                <a:cs typeface="Arial" pitchFamily="34" charset="-120"/>
              </a:rPr>
              <a:t>→</a:t>
            </a:r>
            <a:endParaRPr lang="en-US" sz="2550" dirty="0"/>
          </a:p>
        </p:txBody>
      </p:sp>
      <p:sp>
        <p:nvSpPr>
          <p:cNvPr id="20" name="Shape 18"/>
          <p:cNvSpPr/>
          <p:nvPr/>
        </p:nvSpPr>
        <p:spPr>
          <a:xfrm>
            <a:off x="5104448" y="2114550"/>
            <a:ext cx="3751897" cy="7562850"/>
          </a:xfrm>
          <a:prstGeom prst="roundRect">
            <a:avLst>
              <a:gd name="adj" fmla="val 5077"/>
            </a:avLst>
          </a:prstGeom>
          <a:solidFill>
            <a:srgbClr val="FFFFFF"/>
          </a:solidFill>
          <a:ln w="7620">
            <a:solidFill>
              <a:srgbClr val="E6EEF7"/>
            </a:solidFill>
            <a:prstDash val="solid"/>
          </a:ln>
          <a:effectLst>
            <a:outerShdw sx="100000" sy="100000" kx="0" ky="0" algn="bl" rotWithShape="0" blurRad="285750" dist="114300" dir="5400000">
              <a:srgbClr val="2E8BE0">
                <a:alpha val="8000"/>
              </a:srgbClr>
            </a:outerShdw>
          </a:effectLst>
        </p:spPr>
      </p:sp>
      <p:sp>
        <p:nvSpPr>
          <p:cNvPr id="21" name="Shape 19"/>
          <p:cNvSpPr/>
          <p:nvPr/>
        </p:nvSpPr>
        <p:spPr>
          <a:xfrm>
            <a:off x="5397818" y="2465070"/>
            <a:ext cx="533400" cy="533400"/>
          </a:xfrm>
          <a:prstGeom prst="roundRect">
            <a:avLst>
              <a:gd name="adj" fmla="val 28571"/>
            </a:avLst>
          </a:prstGeom>
          <a:solidFill>
            <a:srgbClr val="E7F6EF"/>
          </a:solidFill>
          <a:ln/>
        </p:spPr>
      </p:sp>
      <p:sp>
        <p:nvSpPr>
          <p:cNvPr id="22" name="Text 20"/>
          <p:cNvSpPr/>
          <p:nvPr/>
        </p:nvSpPr>
        <p:spPr>
          <a:xfrm>
            <a:off x="5359718" y="2465070"/>
            <a:ext cx="609600" cy="571500"/>
          </a:xfrm>
          <a:prstGeom prst="rect">
            <a:avLst/>
          </a:prstGeom>
          <a:noFill/>
          <a:ln/>
        </p:spPr>
        <p:txBody>
          <a:bodyPr wrap="square" lIns="25400" tIns="25400" rIns="25400" bIns="25400" rtlCol="0" anchor="ctr">
            <a:normAutofit/>
          </a:bodyPr>
          <a:lstStyle/>
          <a:p>
            <a:pPr algn="ctr" indent="0" marL="0">
              <a:buNone/>
            </a:pPr>
            <a:r>
              <a:rPr lang="en-US" sz="1800" b="1" dirty="0">
                <a:solidFill>
                  <a:srgbClr val="22A06B"/>
                </a:solidFill>
                <a:latin typeface="Arial" pitchFamily="34" charset="0"/>
                <a:ea typeface="Arial" pitchFamily="34" charset="-122"/>
                <a:cs typeface="Arial" pitchFamily="34" charset="-120"/>
              </a:rPr>
              <a:t>2</a:t>
            </a:r>
            <a:endParaRPr lang="en-US" sz="1800" dirty="0"/>
          </a:p>
        </p:txBody>
      </p:sp>
      <p:sp>
        <p:nvSpPr>
          <p:cNvPr id="23" name="Text 21"/>
          <p:cNvSpPr/>
          <p:nvPr/>
        </p:nvSpPr>
        <p:spPr>
          <a:xfrm>
            <a:off x="5397818" y="3208020"/>
            <a:ext cx="3481673" cy="411480"/>
          </a:xfrm>
          <a:prstGeom prst="rect">
            <a:avLst/>
          </a:prstGeom>
          <a:noFill/>
          <a:ln/>
        </p:spPr>
        <p:txBody>
          <a:bodyPr wrap="square" lIns="25400" tIns="25400" rIns="25400" bIns="25400" rtlCol="0" anchor="t">
            <a:normAutofit/>
          </a:bodyPr>
          <a:lstStyle/>
          <a:p>
            <a:pPr algn="l" indent="0" marL="0">
              <a:buNone/>
            </a:pPr>
            <a:r>
              <a:rPr lang="en-US" sz="2025" b="1" dirty="0">
                <a:solidFill>
                  <a:srgbClr val="143257"/>
                </a:solidFill>
                <a:latin typeface="Arial" pitchFamily="34" charset="0"/>
                <a:ea typeface="Arial" pitchFamily="34" charset="-122"/>
                <a:cs typeface="Arial" pitchFamily="34" charset="-120"/>
              </a:rPr>
              <a:t>정형·비정형 분리</a:t>
            </a:r>
            <a:endParaRPr lang="en-US" sz="2025" dirty="0"/>
          </a:p>
        </p:txBody>
      </p:sp>
      <p:sp>
        <p:nvSpPr>
          <p:cNvPr id="24" name="Text 22"/>
          <p:cNvSpPr/>
          <p:nvPr/>
        </p:nvSpPr>
        <p:spPr>
          <a:xfrm>
            <a:off x="5397818" y="3695700"/>
            <a:ext cx="3481673" cy="333375"/>
          </a:xfrm>
          <a:prstGeom prst="rect">
            <a:avLst/>
          </a:prstGeom>
          <a:noFill/>
          <a:ln/>
        </p:spPr>
        <p:txBody>
          <a:bodyPr wrap="square" lIns="25400" tIns="25400" rIns="25400" bIns="25400" rtlCol="0" anchor="t">
            <a:normAutofit/>
          </a:bodyPr>
          <a:lstStyle/>
          <a:p>
            <a:pPr algn="l" indent="0" marL="0">
              <a:lnSpc>
                <a:spcPct val="155000"/>
              </a:lnSpc>
              <a:buNone/>
            </a:pPr>
            <a:r>
              <a:rPr lang="en-US" sz="1500" b="1" dirty="0">
                <a:solidFill>
                  <a:srgbClr val="51657B"/>
                </a:solidFill>
                <a:latin typeface="Arial" pitchFamily="34" charset="0"/>
                <a:ea typeface="Arial" pitchFamily="34" charset="-122"/>
                <a:cs typeface="Arial" pitchFamily="34" charset="-120"/>
              </a:rPr>
              <a:t>표 데이터는 CSV, 문서는 텍스트로 구분</a:t>
            </a:r>
            <a:endParaRPr lang="en-US" sz="1500" dirty="0"/>
          </a:p>
        </p:txBody>
      </p:sp>
      <p:sp>
        <p:nvSpPr>
          <p:cNvPr id="25" name="Text 23"/>
          <p:cNvSpPr/>
          <p:nvPr/>
        </p:nvSpPr>
        <p:spPr>
          <a:xfrm>
            <a:off x="8989695" y="2114550"/>
            <a:ext cx="400050" cy="7600950"/>
          </a:xfrm>
          <a:prstGeom prst="rect">
            <a:avLst/>
          </a:prstGeom>
          <a:noFill/>
          <a:ln/>
        </p:spPr>
        <p:txBody>
          <a:bodyPr wrap="square" lIns="25400" tIns="25400" rIns="25400" bIns="25400" rtlCol="0" anchor="ctr">
            <a:normAutofit/>
          </a:bodyPr>
          <a:lstStyle/>
          <a:p>
            <a:pPr algn="l" indent="0" marL="0">
              <a:buNone/>
            </a:pPr>
            <a:r>
              <a:rPr lang="en-US" sz="2550" dirty="0">
                <a:solidFill>
                  <a:srgbClr val="C3D2E0"/>
                </a:solidFill>
                <a:latin typeface="Arial" pitchFamily="34" charset="0"/>
                <a:ea typeface="Arial" pitchFamily="34" charset="-122"/>
                <a:cs typeface="Arial" pitchFamily="34" charset="-120"/>
              </a:rPr>
              <a:t>→</a:t>
            </a:r>
            <a:endParaRPr lang="en-US" sz="2550" dirty="0"/>
          </a:p>
        </p:txBody>
      </p:sp>
      <p:sp>
        <p:nvSpPr>
          <p:cNvPr id="26" name="Shape 24"/>
          <p:cNvSpPr/>
          <p:nvPr/>
        </p:nvSpPr>
        <p:spPr>
          <a:xfrm>
            <a:off x="9446895" y="2114550"/>
            <a:ext cx="3751897" cy="7562850"/>
          </a:xfrm>
          <a:prstGeom prst="roundRect">
            <a:avLst>
              <a:gd name="adj" fmla="val 5077"/>
            </a:avLst>
          </a:prstGeom>
          <a:solidFill>
            <a:srgbClr val="FFFFFF"/>
          </a:solidFill>
          <a:ln w="7620">
            <a:solidFill>
              <a:srgbClr val="E6EEF7"/>
            </a:solidFill>
            <a:prstDash val="solid"/>
          </a:ln>
          <a:effectLst>
            <a:outerShdw sx="100000" sy="100000" kx="0" ky="0" algn="bl" rotWithShape="0" blurRad="285750" dist="114300" dir="5400000">
              <a:srgbClr val="2E8BE0">
                <a:alpha val="8000"/>
              </a:srgbClr>
            </a:outerShdw>
          </a:effectLst>
        </p:spPr>
      </p:sp>
      <p:sp>
        <p:nvSpPr>
          <p:cNvPr id="27" name="Shape 25"/>
          <p:cNvSpPr/>
          <p:nvPr/>
        </p:nvSpPr>
        <p:spPr>
          <a:xfrm>
            <a:off x="9740265" y="2465070"/>
            <a:ext cx="533400" cy="533400"/>
          </a:xfrm>
          <a:prstGeom prst="roundRect">
            <a:avLst>
              <a:gd name="adj" fmla="val 28571"/>
            </a:avLst>
          </a:prstGeom>
          <a:solidFill>
            <a:srgbClr val="E7F6EF"/>
          </a:solidFill>
          <a:ln/>
        </p:spPr>
      </p:sp>
      <p:sp>
        <p:nvSpPr>
          <p:cNvPr id="28" name="Text 26"/>
          <p:cNvSpPr/>
          <p:nvPr/>
        </p:nvSpPr>
        <p:spPr>
          <a:xfrm>
            <a:off x="9702165" y="2465070"/>
            <a:ext cx="609600" cy="571500"/>
          </a:xfrm>
          <a:prstGeom prst="rect">
            <a:avLst/>
          </a:prstGeom>
          <a:noFill/>
          <a:ln/>
        </p:spPr>
        <p:txBody>
          <a:bodyPr wrap="square" lIns="25400" tIns="25400" rIns="25400" bIns="25400" rtlCol="0" anchor="ctr">
            <a:normAutofit/>
          </a:bodyPr>
          <a:lstStyle/>
          <a:p>
            <a:pPr algn="ctr" indent="0" marL="0">
              <a:buNone/>
            </a:pPr>
            <a:r>
              <a:rPr lang="en-US" sz="1800" b="1" dirty="0">
                <a:solidFill>
                  <a:srgbClr val="22A06B"/>
                </a:solidFill>
                <a:latin typeface="Arial" pitchFamily="34" charset="0"/>
                <a:ea typeface="Arial" pitchFamily="34" charset="-122"/>
                <a:cs typeface="Arial" pitchFamily="34" charset="-120"/>
              </a:rPr>
              <a:t>3</a:t>
            </a:r>
            <a:endParaRPr lang="en-US" sz="1800" dirty="0"/>
          </a:p>
        </p:txBody>
      </p:sp>
      <p:sp>
        <p:nvSpPr>
          <p:cNvPr id="29" name="Text 27"/>
          <p:cNvSpPr/>
          <p:nvPr/>
        </p:nvSpPr>
        <p:spPr>
          <a:xfrm>
            <a:off x="9740265" y="3208020"/>
            <a:ext cx="3481673" cy="411480"/>
          </a:xfrm>
          <a:prstGeom prst="rect">
            <a:avLst/>
          </a:prstGeom>
          <a:noFill/>
          <a:ln/>
        </p:spPr>
        <p:txBody>
          <a:bodyPr wrap="square" lIns="25400" tIns="25400" rIns="25400" bIns="25400" rtlCol="0" anchor="t">
            <a:normAutofit/>
          </a:bodyPr>
          <a:lstStyle/>
          <a:p>
            <a:pPr algn="l" indent="0" marL="0">
              <a:buNone/>
            </a:pPr>
            <a:r>
              <a:rPr lang="en-US" sz="2025" b="1" dirty="0">
                <a:solidFill>
                  <a:srgbClr val="143257"/>
                </a:solidFill>
                <a:latin typeface="Arial" pitchFamily="34" charset="0"/>
                <a:ea typeface="Arial" pitchFamily="34" charset="-122"/>
                <a:cs typeface="Arial" pitchFamily="34" charset="-120"/>
              </a:rPr>
              <a:t>품질·중복 제거</a:t>
            </a:r>
            <a:endParaRPr lang="en-US" sz="2025" dirty="0"/>
          </a:p>
        </p:txBody>
      </p:sp>
      <p:sp>
        <p:nvSpPr>
          <p:cNvPr id="30" name="Text 28"/>
          <p:cNvSpPr/>
          <p:nvPr/>
        </p:nvSpPr>
        <p:spPr>
          <a:xfrm>
            <a:off x="9740265" y="3695700"/>
            <a:ext cx="3481673" cy="333375"/>
          </a:xfrm>
          <a:prstGeom prst="rect">
            <a:avLst/>
          </a:prstGeom>
          <a:noFill/>
          <a:ln/>
        </p:spPr>
        <p:txBody>
          <a:bodyPr wrap="square" lIns="25400" tIns="25400" rIns="25400" bIns="25400" rtlCol="0" anchor="t">
            <a:normAutofit/>
          </a:bodyPr>
          <a:lstStyle/>
          <a:p>
            <a:pPr algn="l" indent="0" marL="0">
              <a:lnSpc>
                <a:spcPct val="155000"/>
              </a:lnSpc>
              <a:buNone/>
            </a:pPr>
            <a:r>
              <a:rPr lang="en-US" sz="1500" b="1" dirty="0">
                <a:solidFill>
                  <a:srgbClr val="51657B"/>
                </a:solidFill>
                <a:latin typeface="Arial" pitchFamily="34" charset="0"/>
                <a:ea typeface="Arial" pitchFamily="34" charset="-122"/>
                <a:cs typeface="Arial" pitchFamily="34" charset="-120"/>
              </a:rPr>
              <a:t>불완전·중복 레코드 정리 후 검증</a:t>
            </a:r>
            <a:endParaRPr lang="en-US" sz="1500" dirty="0"/>
          </a:p>
        </p:txBody>
      </p:sp>
      <p:sp>
        <p:nvSpPr>
          <p:cNvPr id="31" name="Text 29"/>
          <p:cNvSpPr/>
          <p:nvPr/>
        </p:nvSpPr>
        <p:spPr>
          <a:xfrm>
            <a:off x="13332143" y="2114550"/>
            <a:ext cx="400050" cy="7600950"/>
          </a:xfrm>
          <a:prstGeom prst="rect">
            <a:avLst/>
          </a:prstGeom>
          <a:noFill/>
          <a:ln/>
        </p:spPr>
        <p:txBody>
          <a:bodyPr wrap="square" lIns="25400" tIns="25400" rIns="25400" bIns="25400" rtlCol="0" anchor="ctr">
            <a:normAutofit/>
          </a:bodyPr>
          <a:lstStyle/>
          <a:p>
            <a:pPr algn="l" indent="0" marL="0">
              <a:buNone/>
            </a:pPr>
            <a:r>
              <a:rPr lang="en-US" sz="2550" dirty="0">
                <a:solidFill>
                  <a:srgbClr val="C3D2E0"/>
                </a:solidFill>
                <a:latin typeface="Arial" pitchFamily="34" charset="0"/>
                <a:ea typeface="Arial" pitchFamily="34" charset="-122"/>
                <a:cs typeface="Arial" pitchFamily="34" charset="-120"/>
              </a:rPr>
              <a:t>→</a:t>
            </a:r>
            <a:endParaRPr lang="en-US" sz="2550" dirty="0"/>
          </a:p>
        </p:txBody>
      </p:sp>
      <p:sp>
        <p:nvSpPr>
          <p:cNvPr id="32" name="Shape 30"/>
          <p:cNvSpPr/>
          <p:nvPr/>
        </p:nvSpPr>
        <p:spPr>
          <a:xfrm>
            <a:off x="13789343" y="2114550"/>
            <a:ext cx="3736658" cy="7562850"/>
          </a:xfrm>
          <a:prstGeom prst="roundRect">
            <a:avLst>
              <a:gd name="adj" fmla="val 5098"/>
            </a:avLst>
          </a:prstGeom>
          <a:gradFill rotWithShape="1">
            <a:gsLst>
              <a:gs pos="0">
                <a:srgbClr val="34BF85">
                  <a:alpha val="100000"/>
                </a:srgbClr>
              </a:gs>
              <a:gs pos="100000">
                <a:srgbClr val="1E9D67">
                  <a:alpha val="100000"/>
                </a:srgbClr>
              </a:gs>
            </a:gsLst>
            <a:lin ang="3900000" scaled="0"/>
          </a:gradFill>
          <a:ln/>
          <a:effectLst>
            <a:outerShdw sx="100000" sy="100000" kx="0" ky="0" algn="bl" rotWithShape="0" blurRad="304800" dist="133350" dir="5400000">
              <a:srgbClr val="22A06B">
                <a:alpha val="28000"/>
              </a:srgbClr>
            </a:outerShdw>
          </a:effectLst>
        </p:spPr>
      </p:sp>
      <p:sp>
        <p:nvSpPr>
          <p:cNvPr id="33" name="Shape 31"/>
          <p:cNvSpPr/>
          <p:nvPr/>
        </p:nvSpPr>
        <p:spPr>
          <a:xfrm>
            <a:off x="14075093" y="2457450"/>
            <a:ext cx="533400" cy="533400"/>
          </a:xfrm>
          <a:prstGeom prst="roundRect">
            <a:avLst>
              <a:gd name="adj" fmla="val 28571"/>
            </a:avLst>
          </a:prstGeom>
          <a:solidFill>
            <a:srgbClr val="FFFFFF">
              <a:alpha val="22000"/>
            </a:srgbClr>
          </a:solidFill>
          <a:ln/>
        </p:spPr>
      </p:sp>
      <p:sp>
        <p:nvSpPr>
          <p:cNvPr id="34" name="Text 32"/>
          <p:cNvSpPr/>
          <p:nvPr/>
        </p:nvSpPr>
        <p:spPr>
          <a:xfrm>
            <a:off x="14036993" y="2457450"/>
            <a:ext cx="609600" cy="571500"/>
          </a:xfrm>
          <a:prstGeom prst="rect">
            <a:avLst/>
          </a:prstGeom>
          <a:noFill/>
          <a:ln/>
        </p:spPr>
        <p:txBody>
          <a:bodyPr wrap="square" lIns="25400" tIns="25400" rIns="25400" bIns="25400" rtlCol="0" anchor="ctr">
            <a:normAutofit/>
          </a:bodyPr>
          <a:lstStyle/>
          <a:p>
            <a:pPr algn="ctr" indent="0" marL="0">
              <a:buNone/>
            </a:pPr>
            <a:r>
              <a:rPr lang="en-US" sz="1800" b="1" dirty="0">
                <a:solidFill>
                  <a:srgbClr val="FFFFFF"/>
                </a:solidFill>
                <a:latin typeface="Arial" pitchFamily="34" charset="0"/>
                <a:ea typeface="Arial" pitchFamily="34" charset="-122"/>
                <a:cs typeface="Arial" pitchFamily="34" charset="-120"/>
              </a:rPr>
              <a:t>4</a:t>
            </a:r>
            <a:endParaRPr lang="en-US" sz="1800" dirty="0"/>
          </a:p>
        </p:txBody>
      </p:sp>
      <p:sp>
        <p:nvSpPr>
          <p:cNvPr id="35" name="Text 33"/>
          <p:cNvSpPr/>
          <p:nvPr/>
        </p:nvSpPr>
        <p:spPr>
          <a:xfrm>
            <a:off x="14075093" y="3200400"/>
            <a:ext cx="3481673" cy="411480"/>
          </a:xfrm>
          <a:prstGeom prst="rect">
            <a:avLst/>
          </a:prstGeom>
          <a:noFill/>
          <a:ln/>
        </p:spPr>
        <p:txBody>
          <a:bodyPr wrap="square" lIns="25400" tIns="25400" rIns="25400" bIns="25400" rtlCol="0" anchor="t">
            <a:normAutofit/>
          </a:bodyPr>
          <a:lstStyle/>
          <a:p>
            <a:pPr algn="l" indent="0" marL="0">
              <a:buNone/>
            </a:pPr>
            <a:r>
              <a:rPr lang="en-US" sz="2025" b="1" dirty="0">
                <a:solidFill>
                  <a:srgbClr val="FFFFFF"/>
                </a:solidFill>
                <a:latin typeface="Arial" pitchFamily="34" charset="0"/>
                <a:ea typeface="Arial" pitchFamily="34" charset="-122"/>
                <a:cs typeface="Arial" pitchFamily="34" charset="-120"/>
              </a:rPr>
              <a:t>jsonl 변환</a:t>
            </a:r>
            <a:endParaRPr lang="en-US" sz="2025" dirty="0"/>
          </a:p>
        </p:txBody>
      </p:sp>
      <p:sp>
        <p:nvSpPr>
          <p:cNvPr id="36" name="Text 34"/>
          <p:cNvSpPr/>
          <p:nvPr/>
        </p:nvSpPr>
        <p:spPr>
          <a:xfrm>
            <a:off x="14075093" y="3688080"/>
            <a:ext cx="3481673" cy="333375"/>
          </a:xfrm>
          <a:prstGeom prst="rect">
            <a:avLst/>
          </a:prstGeom>
          <a:noFill/>
          <a:ln/>
        </p:spPr>
        <p:txBody>
          <a:bodyPr wrap="square" lIns="25400" tIns="25400" rIns="25400" bIns="25400" rtlCol="0" anchor="t">
            <a:normAutofit/>
          </a:bodyPr>
          <a:lstStyle/>
          <a:p>
            <a:pPr algn="l" indent="0" marL="0">
              <a:lnSpc>
                <a:spcPct val="155000"/>
              </a:lnSpc>
              <a:buNone/>
            </a:pPr>
            <a:r>
              <a:rPr lang="en-US" sz="1500" b="1" dirty="0">
                <a:solidFill>
                  <a:srgbClr val="FFFFFF">
                    <a:alpha val="92000"/>
                  </a:srgbClr>
                </a:solidFill>
                <a:latin typeface="Arial" pitchFamily="34" charset="0"/>
                <a:ea typeface="Arial" pitchFamily="34" charset="-122"/>
                <a:cs typeface="Arial" pitchFamily="34" charset="-120"/>
              </a:rPr>
              <a:t>RAG 적재 포맷으로 표준화</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8FC"/>
        </a:solidFill>
      </p:bgPr>
    </p:bg>
    <p:spTree>
      <p:nvGrpSpPr>
        <p:cNvPr id="1" name=""/>
        <p:cNvGrpSpPr/>
        <p:nvPr/>
      </p:nvGrpSpPr>
      <p:grpSpPr>
        <a:xfrm>
          <a:off x="0" y="0"/>
          <a:ext cx="0" cy="0"/>
          <a:chOff x="0" y="0"/>
          <a:chExt cx="0" cy="0"/>
        </a:xfrm>
      </p:grpSpPr>
      <p:sp>
        <p:nvSpPr>
          <p:cNvPr id="2" name="Shape 0"/>
          <p:cNvSpPr/>
          <p:nvPr/>
        </p:nvSpPr>
        <p:spPr>
          <a:xfrm>
            <a:off x="14761369" y="361950"/>
            <a:ext cx="562928" cy="278130"/>
          </a:xfrm>
          <a:prstGeom prst="roundRect">
            <a:avLst>
              <a:gd name="adj" fmla="val 50000"/>
            </a:avLst>
          </a:prstGeom>
          <a:solidFill>
            <a:srgbClr val="E6EEF7"/>
          </a:solidFill>
          <a:ln/>
        </p:spPr>
      </p:sp>
      <p:sp>
        <p:nvSpPr>
          <p:cNvPr id="3" name="Text 1"/>
          <p:cNvSpPr/>
          <p:nvPr/>
        </p:nvSpPr>
        <p:spPr>
          <a:xfrm>
            <a:off x="14875669" y="409575"/>
            <a:ext cx="410528" cy="220980"/>
          </a:xfrm>
          <a:prstGeom prst="rect">
            <a:avLst/>
          </a:prstGeom>
          <a:noFill/>
          <a:ln/>
        </p:spPr>
        <p:txBody>
          <a:bodyPr wrap="square" lIns="25400" tIns="25400" rIns="25400" bIns="25400" rtlCol="0" anchor="t">
            <a:normAutofit/>
          </a:bodyPr>
          <a:lstStyle/>
          <a:p>
            <a:pPr algn="l" indent="0" marL="0">
              <a:buNone/>
            </a:pPr>
            <a:r>
              <a:rPr lang="en-US" sz="975" b="1" spc="-19" kern="0" dirty="0">
                <a:solidFill>
                  <a:srgbClr val="A7B8CA"/>
                </a:solidFill>
                <a:latin typeface="Arial" pitchFamily="34" charset="0"/>
                <a:ea typeface="Arial" pitchFamily="34" charset="-122"/>
                <a:cs typeface="Arial" pitchFamily="34" charset="-120"/>
              </a:rPr>
              <a:t>데이터</a:t>
            </a:r>
            <a:endParaRPr lang="en-US" sz="975" dirty="0"/>
          </a:p>
        </p:txBody>
      </p:sp>
      <p:sp>
        <p:nvSpPr>
          <p:cNvPr id="4" name="Shape 2"/>
          <p:cNvSpPr/>
          <p:nvPr/>
        </p:nvSpPr>
        <p:spPr>
          <a:xfrm>
            <a:off x="15381446" y="361950"/>
            <a:ext cx="395764" cy="278130"/>
          </a:xfrm>
          <a:prstGeom prst="roundRect">
            <a:avLst>
              <a:gd name="adj" fmla="val 50000"/>
            </a:avLst>
          </a:prstGeom>
          <a:solidFill>
            <a:srgbClr val="9B7DE8"/>
          </a:solidFill>
          <a:ln/>
        </p:spPr>
      </p:sp>
      <p:sp>
        <p:nvSpPr>
          <p:cNvPr id="5" name="Text 3"/>
          <p:cNvSpPr/>
          <p:nvPr/>
        </p:nvSpPr>
        <p:spPr>
          <a:xfrm>
            <a:off x="15495746" y="409575"/>
            <a:ext cx="243364" cy="220980"/>
          </a:xfrm>
          <a:prstGeom prst="rect">
            <a:avLst/>
          </a:prstGeom>
          <a:noFill/>
          <a:ln/>
        </p:spPr>
        <p:txBody>
          <a:bodyPr wrap="square" lIns="25400" tIns="25400" rIns="25400" bIns="25400" rtlCol="0" anchor="t">
            <a:normAutofit/>
          </a:bodyPr>
          <a:lstStyle/>
          <a:p>
            <a:pPr algn="l" indent="0" marL="0">
              <a:buNone/>
            </a:pPr>
            <a:r>
              <a:rPr lang="en-US" sz="975" b="1" spc="-19" kern="0" dirty="0">
                <a:solidFill>
                  <a:srgbClr val="FFFFFF"/>
                </a:solidFill>
                <a:latin typeface="Arial" pitchFamily="34" charset="0"/>
                <a:ea typeface="Arial" pitchFamily="34" charset="-122"/>
                <a:cs typeface="Arial" pitchFamily="34" charset="-120"/>
              </a:rPr>
              <a:t>DB</a:t>
            </a:r>
            <a:endParaRPr lang="en-US" sz="975" dirty="0"/>
          </a:p>
        </p:txBody>
      </p:sp>
      <p:sp>
        <p:nvSpPr>
          <p:cNvPr id="6" name="Shape 4"/>
          <p:cNvSpPr/>
          <p:nvPr/>
        </p:nvSpPr>
        <p:spPr>
          <a:xfrm>
            <a:off x="15834360" y="361950"/>
            <a:ext cx="562928" cy="278130"/>
          </a:xfrm>
          <a:prstGeom prst="roundRect">
            <a:avLst>
              <a:gd name="adj" fmla="val 50000"/>
            </a:avLst>
          </a:prstGeom>
          <a:solidFill>
            <a:srgbClr val="E6EEF7"/>
          </a:solidFill>
          <a:ln/>
        </p:spPr>
      </p:sp>
      <p:sp>
        <p:nvSpPr>
          <p:cNvPr id="7" name="Text 5"/>
          <p:cNvSpPr/>
          <p:nvPr/>
        </p:nvSpPr>
        <p:spPr>
          <a:xfrm>
            <a:off x="15948660" y="409575"/>
            <a:ext cx="410528" cy="220980"/>
          </a:xfrm>
          <a:prstGeom prst="rect">
            <a:avLst/>
          </a:prstGeom>
          <a:noFill/>
          <a:ln/>
        </p:spPr>
        <p:txBody>
          <a:bodyPr wrap="square" lIns="25400" tIns="25400" rIns="25400" bIns="25400" rtlCol="0" anchor="t">
            <a:normAutofit/>
          </a:bodyPr>
          <a:lstStyle/>
          <a:p>
            <a:pPr algn="l" indent="0" marL="0">
              <a:buNone/>
            </a:pPr>
            <a:r>
              <a:rPr lang="en-US" sz="975" b="1" spc="-19" kern="0" dirty="0">
                <a:solidFill>
                  <a:srgbClr val="A7B8CA"/>
                </a:solidFill>
                <a:latin typeface="Arial" pitchFamily="34" charset="0"/>
                <a:ea typeface="Arial" pitchFamily="34" charset="-122"/>
                <a:cs typeface="Arial" pitchFamily="34" charset="-120"/>
              </a:rPr>
              <a:t>백엔드</a:t>
            </a:r>
            <a:endParaRPr lang="en-US" sz="975" dirty="0"/>
          </a:p>
        </p:txBody>
      </p:sp>
      <p:sp>
        <p:nvSpPr>
          <p:cNvPr id="8" name="Shape 6"/>
          <p:cNvSpPr/>
          <p:nvPr/>
        </p:nvSpPr>
        <p:spPr>
          <a:xfrm>
            <a:off x="16454438" y="361950"/>
            <a:ext cx="562928" cy="278130"/>
          </a:xfrm>
          <a:prstGeom prst="roundRect">
            <a:avLst>
              <a:gd name="adj" fmla="val 50000"/>
            </a:avLst>
          </a:prstGeom>
          <a:solidFill>
            <a:srgbClr val="E6EEF7"/>
          </a:solidFill>
          <a:ln/>
        </p:spPr>
      </p:sp>
      <p:sp>
        <p:nvSpPr>
          <p:cNvPr id="9" name="Text 7"/>
          <p:cNvSpPr/>
          <p:nvPr/>
        </p:nvSpPr>
        <p:spPr>
          <a:xfrm>
            <a:off x="16568738" y="409575"/>
            <a:ext cx="410528" cy="220980"/>
          </a:xfrm>
          <a:prstGeom prst="rect">
            <a:avLst/>
          </a:prstGeom>
          <a:noFill/>
          <a:ln/>
        </p:spPr>
        <p:txBody>
          <a:bodyPr wrap="square" lIns="25400" tIns="25400" rIns="25400" bIns="25400" rtlCol="0" anchor="t">
            <a:normAutofit/>
          </a:bodyPr>
          <a:lstStyle/>
          <a:p>
            <a:pPr algn="l" indent="0" marL="0">
              <a:buNone/>
            </a:pPr>
            <a:r>
              <a:rPr lang="en-US" sz="975" b="1" spc="-19" kern="0" dirty="0">
                <a:solidFill>
                  <a:srgbClr val="A7B8CA"/>
                </a:solidFill>
                <a:latin typeface="Arial" pitchFamily="34" charset="0"/>
                <a:ea typeface="Arial" pitchFamily="34" charset="-122"/>
                <a:cs typeface="Arial" pitchFamily="34" charset="-120"/>
              </a:rPr>
              <a:t>프론트</a:t>
            </a:r>
            <a:endParaRPr lang="en-US" sz="975" dirty="0"/>
          </a:p>
        </p:txBody>
      </p:sp>
      <p:sp>
        <p:nvSpPr>
          <p:cNvPr id="10" name="Shape 8"/>
          <p:cNvSpPr/>
          <p:nvPr/>
        </p:nvSpPr>
        <p:spPr>
          <a:xfrm>
            <a:off x="17074515" y="361950"/>
            <a:ext cx="451485" cy="278130"/>
          </a:xfrm>
          <a:prstGeom prst="roundRect">
            <a:avLst>
              <a:gd name="adj" fmla="val 50000"/>
            </a:avLst>
          </a:prstGeom>
          <a:solidFill>
            <a:srgbClr val="E6EEF7"/>
          </a:solidFill>
          <a:ln/>
        </p:spPr>
      </p:sp>
      <p:sp>
        <p:nvSpPr>
          <p:cNvPr id="11" name="Text 9"/>
          <p:cNvSpPr/>
          <p:nvPr/>
        </p:nvSpPr>
        <p:spPr>
          <a:xfrm>
            <a:off x="17188815" y="409575"/>
            <a:ext cx="299085" cy="220980"/>
          </a:xfrm>
          <a:prstGeom prst="rect">
            <a:avLst/>
          </a:prstGeom>
          <a:noFill/>
          <a:ln/>
        </p:spPr>
        <p:txBody>
          <a:bodyPr wrap="square" lIns="25400" tIns="25400" rIns="25400" bIns="25400" rtlCol="0" anchor="t">
            <a:normAutofit/>
          </a:bodyPr>
          <a:lstStyle/>
          <a:p>
            <a:pPr algn="l" indent="0" marL="0">
              <a:buNone/>
            </a:pPr>
            <a:r>
              <a:rPr lang="en-US" sz="975" b="1" spc="-19" kern="0" dirty="0">
                <a:solidFill>
                  <a:srgbClr val="A7B8CA"/>
                </a:solidFill>
                <a:latin typeface="Arial" pitchFamily="34" charset="0"/>
                <a:ea typeface="Arial" pitchFamily="34" charset="-122"/>
                <a:cs typeface="Arial" pitchFamily="34" charset="-120"/>
              </a:rPr>
              <a:t>배포</a:t>
            </a:r>
            <a:endParaRPr lang="en-US" sz="975" dirty="0"/>
          </a:p>
        </p:txBody>
      </p:sp>
      <p:sp>
        <p:nvSpPr>
          <p:cNvPr id="12" name="Text 10"/>
          <p:cNvSpPr/>
          <p:nvPr/>
        </p:nvSpPr>
        <p:spPr>
          <a:xfrm>
            <a:off x="762000" y="609600"/>
            <a:ext cx="18440400" cy="259080"/>
          </a:xfrm>
          <a:prstGeom prst="rect">
            <a:avLst/>
          </a:prstGeom>
          <a:noFill/>
          <a:ln/>
        </p:spPr>
        <p:txBody>
          <a:bodyPr wrap="square" lIns="25400" tIns="25400" rIns="25400" bIns="25400" rtlCol="0" anchor="t">
            <a:normAutofit/>
          </a:bodyPr>
          <a:lstStyle/>
          <a:p>
            <a:pPr algn="l" indent="0" marL="0">
              <a:buNone/>
            </a:pPr>
            <a:r>
              <a:rPr lang="en-US" sz="1200" b="1" spc="48" kern="0" dirty="0">
                <a:solidFill>
                  <a:srgbClr val="7C5FD6"/>
                </a:solidFill>
                <a:latin typeface="Arial" pitchFamily="34" charset="0"/>
                <a:ea typeface="Arial" pitchFamily="34" charset="-122"/>
                <a:cs typeface="Arial" pitchFamily="34" charset="-120"/>
              </a:rPr>
              <a:t>08 · DB 계층 — 정형 + 벡터 이원화</a:t>
            </a:r>
            <a:endParaRPr lang="en-US" sz="1200" dirty="0"/>
          </a:p>
        </p:txBody>
      </p:sp>
      <p:sp>
        <p:nvSpPr>
          <p:cNvPr id="13" name="Text 11"/>
          <p:cNvSpPr/>
          <p:nvPr/>
        </p:nvSpPr>
        <p:spPr>
          <a:xfrm>
            <a:off x="762000" y="925830"/>
            <a:ext cx="18440400" cy="678180"/>
          </a:xfrm>
          <a:prstGeom prst="rect">
            <a:avLst/>
          </a:prstGeom>
          <a:noFill/>
          <a:ln/>
        </p:spPr>
        <p:txBody>
          <a:bodyPr wrap="square" lIns="25400" tIns="25400" rIns="25400" bIns="25400" rtlCol="0" anchor="t">
            <a:normAutofit/>
          </a:bodyPr>
          <a:lstStyle/>
          <a:p>
            <a:pPr algn="l" indent="0" marL="0">
              <a:buNone/>
            </a:pPr>
            <a:r>
              <a:rPr lang="en-US" sz="3450" b="1" spc="-103" kern="0" dirty="0">
                <a:solidFill>
                  <a:srgbClr val="143257"/>
                </a:solidFill>
                <a:latin typeface="Arial" pitchFamily="34" charset="0"/>
                <a:ea typeface="Arial" pitchFamily="34" charset="-122"/>
                <a:cs typeface="Arial" pitchFamily="34" charset="-120"/>
              </a:rPr>
              <a:t>정형은 SQL로, 의미는 벡터로</a:t>
            </a:r>
            <a:endParaRPr lang="en-US" sz="3450" dirty="0"/>
          </a:p>
        </p:txBody>
      </p:sp>
      <p:sp>
        <p:nvSpPr>
          <p:cNvPr id="14" name="Text 12"/>
          <p:cNvSpPr/>
          <p:nvPr/>
        </p:nvSpPr>
        <p:spPr>
          <a:xfrm>
            <a:off x="762000" y="1604010"/>
            <a:ext cx="18440400" cy="274320"/>
          </a:xfrm>
          <a:prstGeom prst="rect">
            <a:avLst/>
          </a:prstGeom>
          <a:noFill/>
          <a:ln/>
        </p:spPr>
        <p:txBody>
          <a:bodyPr wrap="square" lIns="25400" tIns="25400" rIns="25400" bIns="25400" rtlCol="0" anchor="t">
            <a:normAutofit/>
          </a:bodyPr>
          <a:lstStyle/>
          <a:p>
            <a:pPr algn="l" indent="0" marL="0">
              <a:buNone/>
            </a:pPr>
            <a:r>
              <a:rPr lang="en-US" sz="1575" b="1" dirty="0">
                <a:solidFill>
                  <a:srgbClr val="6E8197"/>
                </a:solidFill>
                <a:latin typeface="Arial" pitchFamily="34" charset="0"/>
                <a:ea typeface="Arial" pitchFamily="34" charset="-122"/>
                <a:cs typeface="Arial" pitchFamily="34" charset="-120"/>
              </a:rPr>
              <a:t>데이터 성격에 맞춰 두 저장소를 나눠, 정확함과 유연함을 동시에 확보했습니다</a:t>
            </a:r>
            <a:endParaRPr lang="en-US" sz="1575" dirty="0"/>
          </a:p>
        </p:txBody>
      </p:sp>
      <p:sp>
        <p:nvSpPr>
          <p:cNvPr id="15" name="Shape 13"/>
          <p:cNvSpPr/>
          <p:nvPr/>
        </p:nvSpPr>
        <p:spPr>
          <a:xfrm>
            <a:off x="762000" y="2068830"/>
            <a:ext cx="8267700" cy="3081338"/>
          </a:xfrm>
          <a:prstGeom prst="roundRect">
            <a:avLst>
              <a:gd name="adj" fmla="val 6182"/>
            </a:avLst>
          </a:prstGeom>
          <a:solidFill>
            <a:srgbClr val="FFFFFF"/>
          </a:solidFill>
          <a:ln/>
          <a:effectLst>
            <a:outerShdw sx="100000" sy="100000" kx="0" ky="0" algn="bl" rotWithShape="0" blurRad="285750" dist="114300" dir="5400000">
              <a:srgbClr val="2E8BE0">
                <a:alpha val="8000"/>
              </a:srgbClr>
            </a:outerShdw>
          </a:effectLst>
        </p:spPr>
      </p:sp>
      <p:sp>
        <p:nvSpPr>
          <p:cNvPr id="16" name="Shape 14"/>
          <p:cNvSpPr/>
          <p:nvPr/>
        </p:nvSpPr>
        <p:spPr>
          <a:xfrm>
            <a:off x="762000" y="5142547"/>
            <a:ext cx="8267700" cy="9525"/>
          </a:xfrm>
          <a:prstGeom prst="rect">
            <a:avLst/>
          </a:prstGeom>
          <a:solidFill>
            <a:srgbClr val="E6EEF7"/>
          </a:solidFill>
          <a:ln/>
        </p:spPr>
      </p:sp>
      <p:sp>
        <p:nvSpPr>
          <p:cNvPr id="17" name="Shape 15"/>
          <p:cNvSpPr/>
          <p:nvPr/>
        </p:nvSpPr>
        <p:spPr>
          <a:xfrm>
            <a:off x="762000" y="2068830"/>
            <a:ext cx="8267700" cy="45720"/>
          </a:xfrm>
          <a:prstGeom prst="rect">
            <a:avLst/>
          </a:prstGeom>
          <a:solidFill>
            <a:srgbClr val="2E8BE0"/>
          </a:solidFill>
          <a:ln/>
        </p:spPr>
      </p:sp>
      <p:sp>
        <p:nvSpPr>
          <p:cNvPr id="18" name="Shape 16"/>
          <p:cNvSpPr/>
          <p:nvPr/>
        </p:nvSpPr>
        <p:spPr>
          <a:xfrm>
            <a:off x="762000" y="2068830"/>
            <a:ext cx="9525" cy="3081338"/>
          </a:xfrm>
          <a:prstGeom prst="rect">
            <a:avLst/>
          </a:prstGeom>
          <a:solidFill>
            <a:srgbClr val="E6EEF7"/>
          </a:solidFill>
          <a:ln/>
        </p:spPr>
      </p:sp>
      <p:sp>
        <p:nvSpPr>
          <p:cNvPr id="19" name="Shape 17"/>
          <p:cNvSpPr/>
          <p:nvPr/>
        </p:nvSpPr>
        <p:spPr>
          <a:xfrm>
            <a:off x="9022080" y="2068830"/>
            <a:ext cx="9525" cy="3081338"/>
          </a:xfrm>
          <a:prstGeom prst="rect">
            <a:avLst/>
          </a:prstGeom>
          <a:solidFill>
            <a:srgbClr val="E6EEF7"/>
          </a:solidFill>
          <a:ln/>
        </p:spPr>
      </p:sp>
      <p:sp>
        <p:nvSpPr>
          <p:cNvPr id="20" name="Shape 18"/>
          <p:cNvSpPr/>
          <p:nvPr/>
        </p:nvSpPr>
        <p:spPr>
          <a:xfrm>
            <a:off x="1131570" y="2460308"/>
            <a:ext cx="476250" cy="476250"/>
          </a:xfrm>
          <a:prstGeom prst="roundRect">
            <a:avLst>
              <a:gd name="adj" fmla="val 26000"/>
            </a:avLst>
          </a:prstGeom>
          <a:solidFill>
            <a:srgbClr val="EAF2FB"/>
          </a:solidFill>
          <a:ln/>
        </p:spPr>
      </p:sp>
      <p:sp>
        <p:nvSpPr>
          <p:cNvPr id="21" name="Text 19"/>
          <p:cNvSpPr/>
          <p:nvPr/>
        </p:nvSpPr>
        <p:spPr>
          <a:xfrm>
            <a:off x="1093470" y="2460308"/>
            <a:ext cx="552450" cy="514350"/>
          </a:xfrm>
          <a:prstGeom prst="rect">
            <a:avLst/>
          </a:prstGeom>
          <a:noFill/>
          <a:ln/>
        </p:spPr>
        <p:txBody>
          <a:bodyPr wrap="square" lIns="25400" tIns="25400" rIns="25400" bIns="25400" rtlCol="0" anchor="ctr">
            <a:normAutofit/>
          </a:bodyPr>
          <a:lstStyle/>
          <a:p>
            <a:pPr algn="ctr" indent="0" marL="0">
              <a:buNone/>
            </a:pPr>
            <a:r>
              <a:rPr lang="en-US" sz="1725" b="1" dirty="0">
                <a:solidFill>
                  <a:srgbClr val="2E8BE0"/>
                </a:solidFill>
                <a:latin typeface="Arial" pitchFamily="34" charset="0"/>
                <a:ea typeface="Arial" pitchFamily="34" charset="-122"/>
                <a:cs typeface="Arial" pitchFamily="34" charset="-120"/>
              </a:rPr>
              <a:t>DB</a:t>
            </a:r>
            <a:endParaRPr lang="en-US" sz="1725" dirty="0"/>
          </a:p>
        </p:txBody>
      </p:sp>
      <p:sp>
        <p:nvSpPr>
          <p:cNvPr id="22" name="Text 20"/>
          <p:cNvSpPr/>
          <p:nvPr/>
        </p:nvSpPr>
        <p:spPr>
          <a:xfrm>
            <a:off x="1741170" y="2419350"/>
            <a:ext cx="1727085" cy="352425"/>
          </a:xfrm>
          <a:prstGeom prst="rect">
            <a:avLst/>
          </a:prstGeom>
          <a:noFill/>
          <a:ln/>
        </p:spPr>
        <p:txBody>
          <a:bodyPr wrap="square" lIns="25400" tIns="25400" rIns="25400" bIns="25400" rtlCol="0" anchor="t">
            <a:normAutofit/>
          </a:bodyPr>
          <a:lstStyle/>
          <a:p>
            <a:pPr algn="l" indent="0" marL="0">
              <a:lnSpc>
                <a:spcPct val="110000"/>
              </a:lnSpc>
              <a:buNone/>
            </a:pPr>
            <a:r>
              <a:rPr lang="en-US" sz="2250" b="1" dirty="0">
                <a:solidFill>
                  <a:srgbClr val="143257"/>
                </a:solidFill>
                <a:latin typeface="Arial" pitchFamily="34" charset="0"/>
                <a:ea typeface="Arial" pitchFamily="34" charset="-122"/>
                <a:cs typeface="Arial" pitchFamily="34" charset="-120"/>
              </a:rPr>
              <a:t>MySQL</a:t>
            </a:r>
            <a:endParaRPr lang="en-US" sz="2250" dirty="0"/>
          </a:p>
        </p:txBody>
      </p:sp>
      <p:sp>
        <p:nvSpPr>
          <p:cNvPr id="23" name="Text 21"/>
          <p:cNvSpPr/>
          <p:nvPr/>
        </p:nvSpPr>
        <p:spPr>
          <a:xfrm>
            <a:off x="1741170" y="2733675"/>
            <a:ext cx="1727085" cy="281940"/>
          </a:xfrm>
          <a:prstGeom prst="rect">
            <a:avLst/>
          </a:prstGeom>
          <a:noFill/>
          <a:ln/>
        </p:spPr>
        <p:txBody>
          <a:bodyPr wrap="square" lIns="25400" tIns="25400" rIns="25400" bIns="25400" rtlCol="0" anchor="t">
            <a:normAutofit/>
          </a:bodyPr>
          <a:lstStyle/>
          <a:p>
            <a:pPr algn="l" indent="0" marL="0">
              <a:buNone/>
            </a:pPr>
            <a:r>
              <a:rPr lang="en-US" sz="1350" b="1" dirty="0">
                <a:solidFill>
                  <a:srgbClr val="94A6BA"/>
                </a:solidFill>
                <a:latin typeface="Arial" pitchFamily="34" charset="0"/>
                <a:ea typeface="Arial" pitchFamily="34" charset="-122"/>
                <a:cs typeface="Arial" pitchFamily="34" charset="-120"/>
              </a:rPr>
              <a:t>kaist_ai · 정형 데이터</a:t>
            </a:r>
            <a:endParaRPr lang="en-US" sz="1350" dirty="0"/>
          </a:p>
        </p:txBody>
      </p:sp>
      <p:sp>
        <p:nvSpPr>
          <p:cNvPr id="24" name="Text 22"/>
          <p:cNvSpPr/>
          <p:nvPr/>
        </p:nvSpPr>
        <p:spPr>
          <a:xfrm>
            <a:off x="1131570" y="3148965"/>
            <a:ext cx="8281416" cy="362903"/>
          </a:xfrm>
          <a:prstGeom prst="rect">
            <a:avLst/>
          </a:prstGeom>
          <a:noFill/>
          <a:ln/>
        </p:spPr>
        <p:txBody>
          <a:bodyPr wrap="square" lIns="25400" tIns="25400" rIns="25400" bIns="25400" rtlCol="0" anchor="t">
            <a:normAutofit/>
          </a:bodyPr>
          <a:lstStyle/>
          <a:p>
            <a:pPr algn="l" indent="0" marL="0">
              <a:lnSpc>
                <a:spcPct val="155000"/>
              </a:lnSpc>
              <a:buNone/>
            </a:pPr>
            <a:r>
              <a:rPr lang="en-US" sz="1650" b="1" dirty="0">
                <a:solidFill>
                  <a:srgbClr val="51657B"/>
                </a:solidFill>
                <a:latin typeface="Arial" pitchFamily="34" charset="0"/>
                <a:ea typeface="Arial" pitchFamily="34" charset="-122"/>
                <a:cs typeface="Arial" pitchFamily="34" charset="-120"/>
              </a:rPr>
              <a:t>조건이 명확한 정보를 표 형태로 저장 — </a:t>
            </a:r>
            <a:pPr algn="l" indent="0" marL="0">
              <a:lnSpc>
                <a:spcPct val="155000"/>
              </a:lnSpc>
              <a:buNone/>
            </a:pPr>
            <a:r>
              <a:rPr lang="en-US" sz="1650" b="1" dirty="0">
                <a:solidFill>
                  <a:srgbClr val="143257"/>
                </a:solidFill>
                <a:latin typeface="Arial" pitchFamily="34" charset="0"/>
                <a:ea typeface="Arial" pitchFamily="34" charset="-122"/>
                <a:cs typeface="Arial" pitchFamily="34" charset="-120"/>
              </a:rPr>
              <a:t>정확한 조건 검색</a:t>
            </a:r>
            <a:pPr algn="l" indent="0" marL="0">
              <a:lnSpc>
                <a:spcPct val="155000"/>
              </a:lnSpc>
              <a:buNone/>
            </a:pPr>
            <a:r>
              <a:rPr lang="en-US" sz="1650" b="1" dirty="0">
                <a:solidFill>
                  <a:srgbClr val="51657B"/>
                </a:solidFill>
                <a:latin typeface="Arial" pitchFamily="34" charset="0"/>
                <a:ea typeface="Arial" pitchFamily="34" charset="-122"/>
                <a:cs typeface="Arial" pitchFamily="34" charset="-120"/>
              </a:rPr>
              <a:t>에 강합니다</a:t>
            </a:r>
            <a:endParaRPr lang="en-US" sz="1650" dirty="0"/>
          </a:p>
        </p:txBody>
      </p:sp>
      <p:sp>
        <p:nvSpPr>
          <p:cNvPr id="25" name="Shape 23"/>
          <p:cNvSpPr/>
          <p:nvPr/>
        </p:nvSpPr>
        <p:spPr>
          <a:xfrm>
            <a:off x="1131570" y="3664268"/>
            <a:ext cx="616506" cy="430530"/>
          </a:xfrm>
          <a:prstGeom prst="roundRect">
            <a:avLst>
              <a:gd name="adj" fmla="val 22124"/>
            </a:avLst>
          </a:prstGeom>
          <a:solidFill>
            <a:srgbClr val="F4F8FC"/>
          </a:solidFill>
          <a:ln w="7620">
            <a:solidFill>
              <a:srgbClr val="E6EEF7"/>
            </a:solidFill>
            <a:prstDash val="solid"/>
          </a:ln>
        </p:spPr>
      </p:sp>
      <p:sp>
        <p:nvSpPr>
          <p:cNvPr id="26" name="Text 24"/>
          <p:cNvSpPr/>
          <p:nvPr/>
        </p:nvSpPr>
        <p:spPr>
          <a:xfrm>
            <a:off x="1282065" y="3757613"/>
            <a:ext cx="391716" cy="281940"/>
          </a:xfrm>
          <a:prstGeom prst="rect">
            <a:avLst/>
          </a:prstGeom>
          <a:noFill/>
          <a:ln/>
        </p:spPr>
        <p:txBody>
          <a:bodyPr wrap="square" lIns="25400" tIns="25400" rIns="25400" bIns="25400" rtlCol="0" anchor="t">
            <a:normAutofit/>
          </a:bodyPr>
          <a:lstStyle/>
          <a:p>
            <a:pPr algn="l" indent="0" marL="0">
              <a:buNone/>
            </a:pPr>
            <a:r>
              <a:rPr lang="en-US" sz="1350" b="1" dirty="0">
                <a:solidFill>
                  <a:srgbClr val="3C5066"/>
                </a:solidFill>
                <a:latin typeface="Arial" pitchFamily="34" charset="0"/>
                <a:ea typeface="Arial" pitchFamily="34" charset="-122"/>
                <a:cs typeface="Arial" pitchFamily="34" charset="-120"/>
              </a:rPr>
              <a:t>학과</a:t>
            </a:r>
            <a:endParaRPr lang="en-US" sz="1350" dirty="0"/>
          </a:p>
        </p:txBody>
      </p:sp>
      <p:sp>
        <p:nvSpPr>
          <p:cNvPr id="27" name="Shape 25"/>
          <p:cNvSpPr/>
          <p:nvPr/>
        </p:nvSpPr>
        <p:spPr>
          <a:xfrm>
            <a:off x="1833801" y="3664268"/>
            <a:ext cx="616506" cy="430530"/>
          </a:xfrm>
          <a:prstGeom prst="roundRect">
            <a:avLst>
              <a:gd name="adj" fmla="val 22124"/>
            </a:avLst>
          </a:prstGeom>
          <a:solidFill>
            <a:srgbClr val="F4F8FC"/>
          </a:solidFill>
          <a:ln w="7620">
            <a:solidFill>
              <a:srgbClr val="E6EEF7"/>
            </a:solidFill>
            <a:prstDash val="solid"/>
          </a:ln>
        </p:spPr>
      </p:sp>
      <p:sp>
        <p:nvSpPr>
          <p:cNvPr id="28" name="Text 26"/>
          <p:cNvSpPr/>
          <p:nvPr/>
        </p:nvSpPr>
        <p:spPr>
          <a:xfrm>
            <a:off x="1984296" y="3757613"/>
            <a:ext cx="391716" cy="281940"/>
          </a:xfrm>
          <a:prstGeom prst="rect">
            <a:avLst/>
          </a:prstGeom>
          <a:noFill/>
          <a:ln/>
        </p:spPr>
        <p:txBody>
          <a:bodyPr wrap="square" lIns="25400" tIns="25400" rIns="25400" bIns="25400" rtlCol="0" anchor="t">
            <a:normAutofit/>
          </a:bodyPr>
          <a:lstStyle/>
          <a:p>
            <a:pPr algn="l" indent="0" marL="0">
              <a:buNone/>
            </a:pPr>
            <a:r>
              <a:rPr lang="en-US" sz="1350" b="1" dirty="0">
                <a:solidFill>
                  <a:srgbClr val="3C5066"/>
                </a:solidFill>
                <a:latin typeface="Arial" pitchFamily="34" charset="0"/>
                <a:ea typeface="Arial" pitchFamily="34" charset="-122"/>
                <a:cs typeface="Arial" pitchFamily="34" charset="-120"/>
              </a:rPr>
              <a:t>교수</a:t>
            </a:r>
            <a:endParaRPr lang="en-US" sz="1350" dirty="0"/>
          </a:p>
        </p:txBody>
      </p:sp>
      <p:sp>
        <p:nvSpPr>
          <p:cNvPr id="29" name="Shape 27"/>
          <p:cNvSpPr/>
          <p:nvPr/>
        </p:nvSpPr>
        <p:spPr>
          <a:xfrm>
            <a:off x="2536031" y="3664268"/>
            <a:ext cx="774263" cy="430530"/>
          </a:xfrm>
          <a:prstGeom prst="roundRect">
            <a:avLst>
              <a:gd name="adj" fmla="val 22124"/>
            </a:avLst>
          </a:prstGeom>
          <a:solidFill>
            <a:srgbClr val="F4F8FC"/>
          </a:solidFill>
          <a:ln w="7620">
            <a:solidFill>
              <a:srgbClr val="E6EEF7"/>
            </a:solidFill>
            <a:prstDash val="solid"/>
          </a:ln>
        </p:spPr>
      </p:sp>
      <p:sp>
        <p:nvSpPr>
          <p:cNvPr id="30" name="Text 28"/>
          <p:cNvSpPr/>
          <p:nvPr/>
        </p:nvSpPr>
        <p:spPr>
          <a:xfrm>
            <a:off x="2686526" y="3757613"/>
            <a:ext cx="549473" cy="281940"/>
          </a:xfrm>
          <a:prstGeom prst="rect">
            <a:avLst/>
          </a:prstGeom>
          <a:noFill/>
          <a:ln/>
        </p:spPr>
        <p:txBody>
          <a:bodyPr wrap="square" lIns="25400" tIns="25400" rIns="25400" bIns="25400" rtlCol="0" anchor="t">
            <a:normAutofit/>
          </a:bodyPr>
          <a:lstStyle/>
          <a:p>
            <a:pPr algn="l" indent="0" marL="0">
              <a:buNone/>
            </a:pPr>
            <a:r>
              <a:rPr lang="en-US" sz="1350" b="1" dirty="0">
                <a:solidFill>
                  <a:srgbClr val="3C5066"/>
                </a:solidFill>
                <a:latin typeface="Arial" pitchFamily="34" charset="0"/>
                <a:ea typeface="Arial" pitchFamily="34" charset="-122"/>
                <a:cs typeface="Arial" pitchFamily="34" charset="-120"/>
              </a:rPr>
              <a:t>교과목</a:t>
            </a:r>
            <a:endParaRPr lang="en-US" sz="1350" dirty="0"/>
          </a:p>
        </p:txBody>
      </p:sp>
      <p:sp>
        <p:nvSpPr>
          <p:cNvPr id="31" name="Shape 29"/>
          <p:cNvSpPr/>
          <p:nvPr/>
        </p:nvSpPr>
        <p:spPr>
          <a:xfrm>
            <a:off x="3396020" y="3664268"/>
            <a:ext cx="1304568" cy="430530"/>
          </a:xfrm>
          <a:prstGeom prst="roundRect">
            <a:avLst>
              <a:gd name="adj" fmla="val 22124"/>
            </a:avLst>
          </a:prstGeom>
          <a:solidFill>
            <a:srgbClr val="F4F8FC"/>
          </a:solidFill>
          <a:ln w="7620">
            <a:solidFill>
              <a:srgbClr val="E6EEF7"/>
            </a:solidFill>
            <a:prstDash val="solid"/>
          </a:ln>
        </p:spPr>
      </p:sp>
      <p:sp>
        <p:nvSpPr>
          <p:cNvPr id="32" name="Text 30"/>
          <p:cNvSpPr/>
          <p:nvPr/>
        </p:nvSpPr>
        <p:spPr>
          <a:xfrm>
            <a:off x="3546515" y="3757613"/>
            <a:ext cx="1079778" cy="281940"/>
          </a:xfrm>
          <a:prstGeom prst="rect">
            <a:avLst/>
          </a:prstGeom>
          <a:noFill/>
          <a:ln/>
        </p:spPr>
        <p:txBody>
          <a:bodyPr wrap="square" lIns="25400" tIns="25400" rIns="25400" bIns="25400" rtlCol="0" anchor="t">
            <a:normAutofit/>
          </a:bodyPr>
          <a:lstStyle/>
          <a:p>
            <a:pPr algn="l" indent="0" marL="0">
              <a:buNone/>
            </a:pPr>
            <a:r>
              <a:rPr lang="en-US" sz="1350" b="1" dirty="0">
                <a:solidFill>
                  <a:srgbClr val="3C5066"/>
                </a:solidFill>
                <a:latin typeface="Arial" pitchFamily="34" charset="0"/>
                <a:ea typeface="Arial" pitchFamily="34" charset="-122"/>
                <a:cs typeface="Arial" pitchFamily="34" charset="-120"/>
              </a:rPr>
              <a:t>사용자·게시판</a:t>
            </a:r>
            <a:endParaRPr lang="en-US" sz="1350" dirty="0"/>
          </a:p>
        </p:txBody>
      </p:sp>
      <p:sp>
        <p:nvSpPr>
          <p:cNvPr id="33" name="Shape 31"/>
          <p:cNvSpPr/>
          <p:nvPr/>
        </p:nvSpPr>
        <p:spPr>
          <a:xfrm>
            <a:off x="1131570" y="4304347"/>
            <a:ext cx="7528560" cy="9525"/>
          </a:xfrm>
          <a:prstGeom prst="rect">
            <a:avLst/>
          </a:prstGeom>
          <a:solidFill>
            <a:srgbClr val="EDF2F8"/>
          </a:solidFill>
          <a:ln/>
        </p:spPr>
      </p:sp>
      <p:sp>
        <p:nvSpPr>
          <p:cNvPr id="34" name="Shape 32"/>
          <p:cNvSpPr/>
          <p:nvPr/>
        </p:nvSpPr>
        <p:spPr>
          <a:xfrm>
            <a:off x="1131570" y="4483418"/>
            <a:ext cx="869752" cy="354330"/>
          </a:xfrm>
          <a:prstGeom prst="roundRect">
            <a:avLst>
              <a:gd name="adj" fmla="val 21505"/>
            </a:avLst>
          </a:prstGeom>
          <a:solidFill>
            <a:srgbClr val="EAF2FB"/>
          </a:solidFill>
          <a:ln/>
        </p:spPr>
      </p:sp>
      <p:sp>
        <p:nvSpPr>
          <p:cNvPr id="35" name="Text 33"/>
          <p:cNvSpPr/>
          <p:nvPr/>
        </p:nvSpPr>
        <p:spPr>
          <a:xfrm>
            <a:off x="1255395" y="4550093"/>
            <a:ext cx="698302" cy="259080"/>
          </a:xfrm>
          <a:prstGeom prst="rect">
            <a:avLst/>
          </a:prstGeom>
          <a:noFill/>
          <a:ln/>
        </p:spPr>
        <p:txBody>
          <a:bodyPr wrap="square" lIns="25400" tIns="25400" rIns="25400" bIns="25400" rtlCol="0" anchor="t">
            <a:normAutofit/>
          </a:bodyPr>
          <a:lstStyle/>
          <a:p>
            <a:pPr algn="l" indent="0" marL="0">
              <a:buNone/>
            </a:pPr>
            <a:r>
              <a:rPr lang="en-US" sz="1200" b="1" dirty="0">
                <a:solidFill>
                  <a:srgbClr val="2E8BE0"/>
                </a:solidFill>
                <a:latin typeface="Arial" pitchFamily="34" charset="0"/>
                <a:ea typeface="Arial" pitchFamily="34" charset="-122"/>
                <a:cs typeface="Arial" pitchFamily="34" charset="-120"/>
              </a:rPr>
              <a:t>SQL 검색</a:t>
            </a:r>
            <a:endParaRPr lang="en-US" sz="1200" dirty="0"/>
          </a:p>
        </p:txBody>
      </p:sp>
      <p:sp>
        <p:nvSpPr>
          <p:cNvPr id="36" name="Text 34"/>
          <p:cNvSpPr/>
          <p:nvPr/>
        </p:nvSpPr>
        <p:spPr>
          <a:xfrm>
            <a:off x="2106097" y="4527233"/>
            <a:ext cx="1392722" cy="304800"/>
          </a:xfrm>
          <a:prstGeom prst="rect">
            <a:avLst/>
          </a:prstGeom>
          <a:noFill/>
          <a:ln/>
        </p:spPr>
        <p:txBody>
          <a:bodyPr wrap="square" lIns="25400" tIns="25400" rIns="25400" bIns="25400" rtlCol="0" anchor="t">
            <a:normAutofit/>
          </a:bodyPr>
          <a:lstStyle/>
          <a:p>
            <a:pPr algn="l" indent="0" marL="0">
              <a:buNone/>
            </a:pPr>
            <a:r>
              <a:rPr lang="en-US" sz="1425" b="1" dirty="0">
                <a:solidFill>
                  <a:srgbClr val="3C5066"/>
                </a:solidFill>
                <a:latin typeface="Arial" pitchFamily="34" charset="0"/>
                <a:ea typeface="Arial" pitchFamily="34" charset="-122"/>
                <a:cs typeface="Arial" pitchFamily="34" charset="-120"/>
              </a:rPr>
              <a:t>정확한 조건 매칭</a:t>
            </a:r>
            <a:endParaRPr lang="en-US" sz="1425" dirty="0"/>
          </a:p>
        </p:txBody>
      </p:sp>
      <p:sp>
        <p:nvSpPr>
          <p:cNvPr id="37" name="Shape 35"/>
          <p:cNvSpPr/>
          <p:nvPr/>
        </p:nvSpPr>
        <p:spPr>
          <a:xfrm>
            <a:off x="9258300" y="2068830"/>
            <a:ext cx="8267700" cy="3081338"/>
          </a:xfrm>
          <a:prstGeom prst="roundRect">
            <a:avLst>
              <a:gd name="adj" fmla="val 6182"/>
            </a:avLst>
          </a:prstGeom>
          <a:solidFill>
            <a:srgbClr val="FFFFFF"/>
          </a:solidFill>
          <a:ln/>
          <a:effectLst>
            <a:outerShdw sx="100000" sy="100000" kx="0" ky="0" algn="bl" rotWithShape="0" blurRad="285750" dist="114300" dir="5400000">
              <a:srgbClr val="9B7DE8">
                <a:alpha val="12000"/>
              </a:srgbClr>
            </a:outerShdw>
          </a:effectLst>
        </p:spPr>
      </p:sp>
      <p:sp>
        <p:nvSpPr>
          <p:cNvPr id="38" name="Shape 36"/>
          <p:cNvSpPr/>
          <p:nvPr/>
        </p:nvSpPr>
        <p:spPr>
          <a:xfrm>
            <a:off x="9258300" y="5142547"/>
            <a:ext cx="8267700" cy="9525"/>
          </a:xfrm>
          <a:prstGeom prst="rect">
            <a:avLst/>
          </a:prstGeom>
          <a:solidFill>
            <a:srgbClr val="ECE4FB"/>
          </a:solidFill>
          <a:ln/>
        </p:spPr>
      </p:sp>
      <p:sp>
        <p:nvSpPr>
          <p:cNvPr id="39" name="Shape 37"/>
          <p:cNvSpPr/>
          <p:nvPr/>
        </p:nvSpPr>
        <p:spPr>
          <a:xfrm>
            <a:off x="9258300" y="2068830"/>
            <a:ext cx="8267700" cy="45720"/>
          </a:xfrm>
          <a:prstGeom prst="rect">
            <a:avLst/>
          </a:prstGeom>
          <a:solidFill>
            <a:srgbClr val="7C5FD6"/>
          </a:solidFill>
          <a:ln/>
        </p:spPr>
      </p:sp>
      <p:sp>
        <p:nvSpPr>
          <p:cNvPr id="40" name="Shape 38"/>
          <p:cNvSpPr/>
          <p:nvPr/>
        </p:nvSpPr>
        <p:spPr>
          <a:xfrm>
            <a:off x="9258300" y="2068830"/>
            <a:ext cx="9525" cy="3081338"/>
          </a:xfrm>
          <a:prstGeom prst="rect">
            <a:avLst/>
          </a:prstGeom>
          <a:solidFill>
            <a:srgbClr val="ECE4FB"/>
          </a:solidFill>
          <a:ln/>
        </p:spPr>
      </p:sp>
      <p:sp>
        <p:nvSpPr>
          <p:cNvPr id="41" name="Shape 39"/>
          <p:cNvSpPr/>
          <p:nvPr/>
        </p:nvSpPr>
        <p:spPr>
          <a:xfrm>
            <a:off x="17518380" y="2068830"/>
            <a:ext cx="9525" cy="3081338"/>
          </a:xfrm>
          <a:prstGeom prst="rect">
            <a:avLst/>
          </a:prstGeom>
          <a:solidFill>
            <a:srgbClr val="ECE4FB"/>
          </a:solidFill>
          <a:ln/>
        </p:spPr>
      </p:sp>
      <p:sp>
        <p:nvSpPr>
          <p:cNvPr id="42" name="Shape 40"/>
          <p:cNvSpPr/>
          <p:nvPr/>
        </p:nvSpPr>
        <p:spPr>
          <a:xfrm>
            <a:off x="9627870" y="2460308"/>
            <a:ext cx="476250" cy="476250"/>
          </a:xfrm>
          <a:prstGeom prst="roundRect">
            <a:avLst>
              <a:gd name="adj" fmla="val 26000"/>
            </a:avLst>
          </a:prstGeom>
          <a:solidFill>
            <a:srgbClr val="F1ECFB"/>
          </a:solidFill>
          <a:ln/>
        </p:spPr>
      </p:sp>
      <p:sp>
        <p:nvSpPr>
          <p:cNvPr id="43" name="Text 41"/>
          <p:cNvSpPr/>
          <p:nvPr/>
        </p:nvSpPr>
        <p:spPr>
          <a:xfrm>
            <a:off x="9589770" y="2460308"/>
            <a:ext cx="552450" cy="514350"/>
          </a:xfrm>
          <a:prstGeom prst="rect">
            <a:avLst/>
          </a:prstGeom>
          <a:noFill/>
          <a:ln/>
        </p:spPr>
        <p:txBody>
          <a:bodyPr wrap="square" lIns="25400" tIns="25400" rIns="25400" bIns="25400" rtlCol="0" anchor="ctr">
            <a:normAutofit/>
          </a:bodyPr>
          <a:lstStyle/>
          <a:p>
            <a:pPr algn="ctr" indent="0" marL="0">
              <a:buNone/>
            </a:pPr>
            <a:r>
              <a:rPr lang="en-US" sz="1725" b="1" dirty="0">
                <a:solidFill>
                  <a:srgbClr val="7C5FD6"/>
                </a:solidFill>
                <a:latin typeface="Arial" pitchFamily="34" charset="0"/>
                <a:ea typeface="Arial" pitchFamily="34" charset="-122"/>
                <a:cs typeface="Arial" pitchFamily="34" charset="-120"/>
              </a:rPr>
              <a:t>V</a:t>
            </a:r>
            <a:endParaRPr lang="en-US" sz="1725" dirty="0"/>
          </a:p>
        </p:txBody>
      </p:sp>
      <p:sp>
        <p:nvSpPr>
          <p:cNvPr id="44" name="Text 42"/>
          <p:cNvSpPr/>
          <p:nvPr/>
        </p:nvSpPr>
        <p:spPr>
          <a:xfrm>
            <a:off x="10237470" y="2419350"/>
            <a:ext cx="2128635" cy="352425"/>
          </a:xfrm>
          <a:prstGeom prst="rect">
            <a:avLst/>
          </a:prstGeom>
          <a:noFill/>
          <a:ln/>
        </p:spPr>
        <p:txBody>
          <a:bodyPr wrap="square" lIns="25400" tIns="25400" rIns="25400" bIns="25400" rtlCol="0" anchor="t">
            <a:normAutofit/>
          </a:bodyPr>
          <a:lstStyle/>
          <a:p>
            <a:pPr algn="l" indent="0" marL="0">
              <a:lnSpc>
                <a:spcPct val="110000"/>
              </a:lnSpc>
              <a:buNone/>
            </a:pPr>
            <a:r>
              <a:rPr lang="en-US" sz="2250" b="1" dirty="0">
                <a:solidFill>
                  <a:srgbClr val="143257"/>
                </a:solidFill>
                <a:latin typeface="Arial" pitchFamily="34" charset="0"/>
                <a:ea typeface="Arial" pitchFamily="34" charset="-122"/>
                <a:cs typeface="Arial" pitchFamily="34" charset="-120"/>
              </a:rPr>
              <a:t>Chroma</a:t>
            </a:r>
            <a:endParaRPr lang="en-US" sz="2250" dirty="0"/>
          </a:p>
        </p:txBody>
      </p:sp>
      <p:sp>
        <p:nvSpPr>
          <p:cNvPr id="45" name="Text 43"/>
          <p:cNvSpPr/>
          <p:nvPr/>
        </p:nvSpPr>
        <p:spPr>
          <a:xfrm>
            <a:off x="10237470" y="2733675"/>
            <a:ext cx="2128635" cy="281940"/>
          </a:xfrm>
          <a:prstGeom prst="rect">
            <a:avLst/>
          </a:prstGeom>
          <a:noFill/>
          <a:ln/>
        </p:spPr>
        <p:txBody>
          <a:bodyPr wrap="square" lIns="25400" tIns="25400" rIns="25400" bIns="25400" rtlCol="0" anchor="t">
            <a:normAutofit/>
          </a:bodyPr>
          <a:lstStyle/>
          <a:p>
            <a:pPr algn="l" indent="0" marL="0">
              <a:buNone/>
            </a:pPr>
            <a:r>
              <a:rPr lang="en-US" sz="1350" b="1" dirty="0">
                <a:solidFill>
                  <a:srgbClr val="94A6BA"/>
                </a:solidFill>
                <a:latin typeface="Arial" pitchFamily="34" charset="0"/>
                <a:ea typeface="Arial" pitchFamily="34" charset="-122"/>
                <a:cs typeface="Arial" pitchFamily="34" charset="-120"/>
              </a:rPr>
              <a:t>벡터스토어 · 비정형 데이터</a:t>
            </a:r>
            <a:endParaRPr lang="en-US" sz="1350" dirty="0"/>
          </a:p>
        </p:txBody>
      </p:sp>
      <p:sp>
        <p:nvSpPr>
          <p:cNvPr id="46" name="Text 44"/>
          <p:cNvSpPr/>
          <p:nvPr/>
        </p:nvSpPr>
        <p:spPr>
          <a:xfrm>
            <a:off x="9627870" y="3148965"/>
            <a:ext cx="8281416" cy="362903"/>
          </a:xfrm>
          <a:prstGeom prst="rect">
            <a:avLst/>
          </a:prstGeom>
          <a:noFill/>
          <a:ln/>
        </p:spPr>
        <p:txBody>
          <a:bodyPr wrap="square" lIns="25400" tIns="25400" rIns="25400" bIns="25400" rtlCol="0" anchor="t">
            <a:normAutofit/>
          </a:bodyPr>
          <a:lstStyle/>
          <a:p>
            <a:pPr algn="l" indent="0" marL="0">
              <a:lnSpc>
                <a:spcPct val="155000"/>
              </a:lnSpc>
              <a:buNone/>
            </a:pPr>
            <a:r>
              <a:rPr lang="en-US" sz="1650" b="1" dirty="0">
                <a:solidFill>
                  <a:srgbClr val="51657B"/>
                </a:solidFill>
                <a:latin typeface="Arial" pitchFamily="34" charset="0"/>
                <a:ea typeface="Arial" pitchFamily="34" charset="-122"/>
                <a:cs typeface="Arial" pitchFamily="34" charset="-120"/>
              </a:rPr>
              <a:t>문장 임베딩으로 의미를 인덱싱 — </a:t>
            </a:r>
            <a:pPr algn="l" indent="0" marL="0">
              <a:lnSpc>
                <a:spcPct val="155000"/>
              </a:lnSpc>
              <a:buNone/>
            </a:pPr>
            <a:r>
              <a:rPr lang="en-US" sz="1650" b="1" dirty="0">
                <a:solidFill>
                  <a:srgbClr val="143257"/>
                </a:solidFill>
                <a:latin typeface="Arial" pitchFamily="34" charset="0"/>
                <a:ea typeface="Arial" pitchFamily="34" charset="-122"/>
                <a:cs typeface="Arial" pitchFamily="34" charset="-120"/>
              </a:rPr>
              <a:t>유사도 기반 검색</a:t>
            </a:r>
            <a:pPr algn="l" indent="0" marL="0">
              <a:lnSpc>
                <a:spcPct val="155000"/>
              </a:lnSpc>
              <a:buNone/>
            </a:pPr>
            <a:r>
              <a:rPr lang="en-US" sz="1650" b="1" dirty="0">
                <a:solidFill>
                  <a:srgbClr val="51657B"/>
                </a:solidFill>
                <a:latin typeface="Arial" pitchFamily="34" charset="0"/>
                <a:ea typeface="Arial" pitchFamily="34" charset="-122"/>
                <a:cs typeface="Arial" pitchFamily="34" charset="-120"/>
              </a:rPr>
              <a:t>에 강합니다</a:t>
            </a:r>
            <a:endParaRPr lang="en-US" sz="1650" dirty="0"/>
          </a:p>
        </p:txBody>
      </p:sp>
      <p:sp>
        <p:nvSpPr>
          <p:cNvPr id="47" name="Shape 45"/>
          <p:cNvSpPr/>
          <p:nvPr/>
        </p:nvSpPr>
        <p:spPr>
          <a:xfrm>
            <a:off x="9627870" y="3664268"/>
            <a:ext cx="1137404" cy="430530"/>
          </a:xfrm>
          <a:prstGeom prst="roundRect">
            <a:avLst>
              <a:gd name="adj" fmla="val 22124"/>
            </a:avLst>
          </a:prstGeom>
          <a:solidFill>
            <a:srgbClr val="F7F4FC"/>
          </a:solidFill>
          <a:ln w="7620">
            <a:solidFill>
              <a:srgbClr val="ECE4FB"/>
            </a:solidFill>
            <a:prstDash val="solid"/>
          </a:ln>
        </p:spPr>
      </p:sp>
      <p:sp>
        <p:nvSpPr>
          <p:cNvPr id="48" name="Text 46"/>
          <p:cNvSpPr/>
          <p:nvPr/>
        </p:nvSpPr>
        <p:spPr>
          <a:xfrm>
            <a:off x="9778365" y="3757613"/>
            <a:ext cx="912614" cy="281940"/>
          </a:xfrm>
          <a:prstGeom prst="rect">
            <a:avLst/>
          </a:prstGeom>
          <a:noFill/>
          <a:ln/>
        </p:spPr>
        <p:txBody>
          <a:bodyPr wrap="square" lIns="25400" tIns="25400" rIns="25400" bIns="25400" rtlCol="0" anchor="t">
            <a:normAutofit/>
          </a:bodyPr>
          <a:lstStyle/>
          <a:p>
            <a:pPr algn="l" indent="0" marL="0">
              <a:buNone/>
            </a:pPr>
            <a:r>
              <a:rPr lang="en-US" sz="1350" b="1" dirty="0">
                <a:solidFill>
                  <a:srgbClr val="5B4A86"/>
                </a:solidFill>
                <a:latin typeface="Arial" pitchFamily="34" charset="0"/>
                <a:ea typeface="Arial" pitchFamily="34" charset="-122"/>
                <a:cs typeface="Arial" pitchFamily="34" charset="-120"/>
              </a:rPr>
              <a:t>학과 소개문</a:t>
            </a:r>
            <a:endParaRPr lang="en-US" sz="1350" dirty="0"/>
          </a:p>
        </p:txBody>
      </p:sp>
      <p:sp>
        <p:nvSpPr>
          <p:cNvPr id="49" name="Shape 47"/>
          <p:cNvSpPr/>
          <p:nvPr/>
        </p:nvSpPr>
        <p:spPr>
          <a:xfrm>
            <a:off x="10850999" y="3664268"/>
            <a:ext cx="1322546" cy="430530"/>
          </a:xfrm>
          <a:prstGeom prst="roundRect">
            <a:avLst>
              <a:gd name="adj" fmla="val 22124"/>
            </a:avLst>
          </a:prstGeom>
          <a:solidFill>
            <a:srgbClr val="F7F4FC"/>
          </a:solidFill>
          <a:ln w="7620">
            <a:solidFill>
              <a:srgbClr val="ECE4FB"/>
            </a:solidFill>
            <a:prstDash val="solid"/>
          </a:ln>
        </p:spPr>
      </p:sp>
      <p:sp>
        <p:nvSpPr>
          <p:cNvPr id="50" name="Text 48"/>
          <p:cNvSpPr/>
          <p:nvPr/>
        </p:nvSpPr>
        <p:spPr>
          <a:xfrm>
            <a:off x="11001494" y="3757613"/>
            <a:ext cx="1097756" cy="281940"/>
          </a:xfrm>
          <a:prstGeom prst="rect">
            <a:avLst/>
          </a:prstGeom>
          <a:noFill/>
          <a:ln/>
        </p:spPr>
        <p:txBody>
          <a:bodyPr wrap="square" lIns="25400" tIns="25400" rIns="25400" bIns="25400" rtlCol="0" anchor="t">
            <a:normAutofit/>
          </a:bodyPr>
          <a:lstStyle/>
          <a:p>
            <a:pPr algn="l" indent="0" marL="0">
              <a:buNone/>
            </a:pPr>
            <a:r>
              <a:rPr lang="en-US" sz="1350" b="1" dirty="0">
                <a:solidFill>
                  <a:srgbClr val="5B4A86"/>
                </a:solidFill>
                <a:latin typeface="Arial" pitchFamily="34" charset="0"/>
                <a:ea typeface="Arial" pitchFamily="34" charset="-122"/>
                <a:cs typeface="Arial" pitchFamily="34" charset="-120"/>
              </a:rPr>
              <a:t>학사요람 PDF</a:t>
            </a:r>
            <a:endParaRPr lang="en-US" sz="1350" dirty="0"/>
          </a:p>
        </p:txBody>
      </p:sp>
      <p:sp>
        <p:nvSpPr>
          <p:cNvPr id="51" name="Shape 49"/>
          <p:cNvSpPr/>
          <p:nvPr/>
        </p:nvSpPr>
        <p:spPr>
          <a:xfrm>
            <a:off x="12259270" y="3664268"/>
            <a:ext cx="1304568" cy="430530"/>
          </a:xfrm>
          <a:prstGeom prst="roundRect">
            <a:avLst>
              <a:gd name="adj" fmla="val 22124"/>
            </a:avLst>
          </a:prstGeom>
          <a:solidFill>
            <a:srgbClr val="F7F4FC"/>
          </a:solidFill>
          <a:ln w="7620">
            <a:solidFill>
              <a:srgbClr val="ECE4FB"/>
            </a:solidFill>
            <a:prstDash val="solid"/>
          </a:ln>
        </p:spPr>
      </p:sp>
      <p:sp>
        <p:nvSpPr>
          <p:cNvPr id="52" name="Text 50"/>
          <p:cNvSpPr/>
          <p:nvPr/>
        </p:nvSpPr>
        <p:spPr>
          <a:xfrm>
            <a:off x="12409765" y="3757613"/>
            <a:ext cx="1079778" cy="281940"/>
          </a:xfrm>
          <a:prstGeom prst="rect">
            <a:avLst/>
          </a:prstGeom>
          <a:noFill/>
          <a:ln/>
        </p:spPr>
        <p:txBody>
          <a:bodyPr wrap="square" lIns="25400" tIns="25400" rIns="25400" bIns="25400" rtlCol="0" anchor="t">
            <a:normAutofit/>
          </a:bodyPr>
          <a:lstStyle/>
          <a:p>
            <a:pPr algn="l" indent="0" marL="0">
              <a:buNone/>
            </a:pPr>
            <a:r>
              <a:rPr lang="en-US" sz="1350" b="1" dirty="0">
                <a:solidFill>
                  <a:srgbClr val="5B4A86"/>
                </a:solidFill>
                <a:latin typeface="Arial" pitchFamily="34" charset="0"/>
                <a:ea typeface="Arial" pitchFamily="34" charset="-122"/>
                <a:cs typeface="Arial" pitchFamily="34" charset="-120"/>
              </a:rPr>
              <a:t>공지·안내자료</a:t>
            </a:r>
            <a:endParaRPr lang="en-US" sz="1350" dirty="0"/>
          </a:p>
        </p:txBody>
      </p:sp>
      <p:sp>
        <p:nvSpPr>
          <p:cNvPr id="53" name="Shape 51"/>
          <p:cNvSpPr/>
          <p:nvPr/>
        </p:nvSpPr>
        <p:spPr>
          <a:xfrm>
            <a:off x="9627870" y="4304347"/>
            <a:ext cx="7528560" cy="9525"/>
          </a:xfrm>
          <a:prstGeom prst="rect">
            <a:avLst/>
          </a:prstGeom>
          <a:solidFill>
            <a:srgbClr val="F0EAFB"/>
          </a:solidFill>
          <a:ln/>
        </p:spPr>
      </p:sp>
      <p:sp>
        <p:nvSpPr>
          <p:cNvPr id="54" name="Shape 52"/>
          <p:cNvSpPr/>
          <p:nvPr/>
        </p:nvSpPr>
        <p:spPr>
          <a:xfrm>
            <a:off x="9627870" y="4483418"/>
            <a:ext cx="1002506" cy="354330"/>
          </a:xfrm>
          <a:prstGeom prst="roundRect">
            <a:avLst>
              <a:gd name="adj" fmla="val 21505"/>
            </a:avLst>
          </a:prstGeom>
          <a:solidFill>
            <a:srgbClr val="F1ECFB"/>
          </a:solidFill>
          <a:ln/>
        </p:spPr>
      </p:sp>
      <p:sp>
        <p:nvSpPr>
          <p:cNvPr id="55" name="Text 53"/>
          <p:cNvSpPr/>
          <p:nvPr/>
        </p:nvSpPr>
        <p:spPr>
          <a:xfrm>
            <a:off x="9751695" y="4550093"/>
            <a:ext cx="831056" cy="259080"/>
          </a:xfrm>
          <a:prstGeom prst="rect">
            <a:avLst/>
          </a:prstGeom>
          <a:noFill/>
          <a:ln/>
        </p:spPr>
        <p:txBody>
          <a:bodyPr wrap="square" lIns="25400" tIns="25400" rIns="25400" bIns="25400" rtlCol="0" anchor="t">
            <a:normAutofit/>
          </a:bodyPr>
          <a:lstStyle/>
          <a:p>
            <a:pPr algn="l" indent="0" marL="0">
              <a:buNone/>
            </a:pPr>
            <a:r>
              <a:rPr lang="en-US" sz="1200" b="1" dirty="0">
                <a:solidFill>
                  <a:srgbClr val="7C5FD6"/>
                </a:solidFill>
                <a:latin typeface="Arial" pitchFamily="34" charset="0"/>
                <a:ea typeface="Arial" pitchFamily="34" charset="-122"/>
                <a:cs typeface="Arial" pitchFamily="34" charset="-120"/>
              </a:rPr>
              <a:t>Vector 검색</a:t>
            </a:r>
            <a:endParaRPr lang="en-US" sz="1200" dirty="0"/>
          </a:p>
        </p:txBody>
      </p:sp>
      <p:sp>
        <p:nvSpPr>
          <p:cNvPr id="56" name="Text 54"/>
          <p:cNvSpPr/>
          <p:nvPr/>
        </p:nvSpPr>
        <p:spPr>
          <a:xfrm>
            <a:off x="10735152" y="4527233"/>
            <a:ext cx="1814310" cy="304800"/>
          </a:xfrm>
          <a:prstGeom prst="rect">
            <a:avLst/>
          </a:prstGeom>
          <a:noFill/>
          <a:ln/>
        </p:spPr>
        <p:txBody>
          <a:bodyPr wrap="square" lIns="25400" tIns="25400" rIns="25400" bIns="25400" rtlCol="0" anchor="t">
            <a:normAutofit/>
          </a:bodyPr>
          <a:lstStyle/>
          <a:p>
            <a:pPr algn="l" indent="0" marL="0">
              <a:buNone/>
            </a:pPr>
            <a:r>
              <a:rPr lang="en-US" sz="1425" b="1" dirty="0">
                <a:solidFill>
                  <a:srgbClr val="3C5066"/>
                </a:solidFill>
                <a:latin typeface="Arial" pitchFamily="34" charset="0"/>
                <a:ea typeface="Arial" pitchFamily="34" charset="-122"/>
                <a:cs typeface="Arial" pitchFamily="34" charset="-120"/>
              </a:rPr>
              <a:t>의미 기반 유사도 검색</a:t>
            </a:r>
            <a:endParaRPr lang="en-US" sz="1425" dirty="0"/>
          </a:p>
        </p:txBody>
      </p:sp>
      <p:sp>
        <p:nvSpPr>
          <p:cNvPr id="57" name="Shape 55"/>
          <p:cNvSpPr/>
          <p:nvPr/>
        </p:nvSpPr>
        <p:spPr>
          <a:xfrm>
            <a:off x="762000" y="5340668"/>
            <a:ext cx="8945166" cy="1272540"/>
          </a:xfrm>
          <a:prstGeom prst="roundRect">
            <a:avLst>
              <a:gd name="adj" fmla="val 14970"/>
            </a:avLst>
          </a:prstGeom>
          <a:gradFill rotWithShape="1">
            <a:gsLst>
              <a:gs pos="0">
                <a:srgbClr val="2E86DD">
                  <a:alpha val="100000"/>
                </a:srgbClr>
              </a:gs>
              <a:gs pos="100000">
                <a:srgbClr val="1E63B5">
                  <a:alpha val="100000"/>
                </a:srgbClr>
              </a:gs>
            </a:gsLst>
            <a:lin ang="3600000" scaled="0"/>
          </a:gradFill>
          <a:ln/>
          <a:effectLst>
            <a:outerShdw sx="100000" sy="100000" kx="0" ky="0" algn="bl" rotWithShape="0" blurRad="361950" dist="152400" dir="5400000">
              <a:srgbClr val="1E63B5">
                <a:alpha val="26000"/>
              </a:srgbClr>
            </a:outerShdw>
          </a:effectLst>
        </p:spPr>
      </p:sp>
      <p:sp>
        <p:nvSpPr>
          <p:cNvPr id="58" name="Text 56"/>
          <p:cNvSpPr/>
          <p:nvPr/>
        </p:nvSpPr>
        <p:spPr>
          <a:xfrm>
            <a:off x="1123950" y="5614988"/>
            <a:ext cx="1873246" cy="762000"/>
          </a:xfrm>
          <a:prstGeom prst="rect">
            <a:avLst/>
          </a:prstGeom>
          <a:noFill/>
          <a:ln/>
        </p:spPr>
        <p:txBody>
          <a:bodyPr wrap="square" lIns="25400" tIns="25400" rIns="25400" bIns="25400" rtlCol="0" anchor="t">
            <a:normAutofit/>
          </a:bodyPr>
          <a:lstStyle/>
          <a:p>
            <a:pPr algn="l" indent="0" marL="0">
              <a:lnSpc>
                <a:spcPct val="100000"/>
              </a:lnSpc>
              <a:buNone/>
            </a:pPr>
            <a:r>
              <a:rPr lang="en-US" sz="5700" b="1" spc="-171" kern="0" dirty="0">
                <a:solidFill>
                  <a:srgbClr val="FFFFFF"/>
                </a:solidFill>
                <a:latin typeface="Arial" pitchFamily="34" charset="0"/>
                <a:ea typeface="Arial" pitchFamily="34" charset="-122"/>
                <a:cs typeface="Arial" pitchFamily="34" charset="-120"/>
              </a:rPr>
              <a:t>7,759</a:t>
            </a:r>
            <a:endParaRPr lang="en-US" sz="5700" dirty="0"/>
          </a:p>
        </p:txBody>
      </p:sp>
      <p:sp>
        <p:nvSpPr>
          <p:cNvPr id="59" name="Text 57"/>
          <p:cNvSpPr/>
          <p:nvPr/>
        </p:nvSpPr>
        <p:spPr>
          <a:xfrm>
            <a:off x="3074551" y="5694045"/>
            <a:ext cx="1650921" cy="603885"/>
          </a:xfrm>
          <a:prstGeom prst="rect">
            <a:avLst/>
          </a:prstGeom>
          <a:noFill/>
          <a:ln/>
        </p:spPr>
        <p:txBody>
          <a:bodyPr wrap="square" lIns="25400" tIns="25400" rIns="25400" bIns="25400" rtlCol="0" anchor="t">
            <a:normAutofit/>
          </a:bodyPr>
          <a:lstStyle/>
          <a:p>
            <a:pPr algn="l" indent="0" marL="0">
              <a:lnSpc>
                <a:spcPct val="135000"/>
              </a:lnSpc>
              <a:buNone/>
            </a:pPr>
            <a:r>
              <a:rPr lang="en-US" sz="1650" b="1" dirty="0">
                <a:solidFill>
                  <a:srgbClr val="FFFFFF">
                    <a:alpha val="90000"/>
                  </a:srgbClr>
                </a:solidFill>
                <a:latin typeface="Arial" pitchFamily="34" charset="0"/>
                <a:ea typeface="Arial" pitchFamily="34" charset="-122"/>
                <a:cs typeface="Arial" pitchFamily="34" charset="-120"/>
              </a:rPr>
              <a:t>Chroma에 적재된 지식 chunks</a:t>
            </a:r>
            <a:endParaRPr lang="en-US" sz="1650" dirty="0"/>
          </a:p>
        </p:txBody>
      </p:sp>
      <p:sp>
        <p:nvSpPr>
          <p:cNvPr id="60" name="Shape 58"/>
          <p:cNvSpPr/>
          <p:nvPr/>
        </p:nvSpPr>
        <p:spPr>
          <a:xfrm>
            <a:off x="9935766" y="5340668"/>
            <a:ext cx="7590234" cy="1272540"/>
          </a:xfrm>
          <a:prstGeom prst="roundRect">
            <a:avLst>
              <a:gd name="adj" fmla="val 14970"/>
            </a:avLst>
          </a:prstGeom>
          <a:solidFill>
            <a:srgbClr val="FFFFFF"/>
          </a:solidFill>
          <a:ln w="7620">
            <a:solidFill>
              <a:srgbClr val="E6EEF7"/>
            </a:solidFill>
            <a:prstDash val="solid"/>
          </a:ln>
          <a:effectLst>
            <a:outerShdw sx="100000" sy="100000" kx="0" ky="0" algn="bl" rotWithShape="0" blurRad="285750" dist="114300" dir="5400000">
              <a:srgbClr val="2E8BE0">
                <a:alpha val="8000"/>
              </a:srgbClr>
            </a:outerShdw>
          </a:effectLst>
        </p:spPr>
      </p:sp>
      <p:sp>
        <p:nvSpPr>
          <p:cNvPr id="61" name="Text 59"/>
          <p:cNvSpPr/>
          <p:nvPr/>
        </p:nvSpPr>
        <p:spPr>
          <a:xfrm>
            <a:off x="10824092" y="5614988"/>
            <a:ext cx="457200" cy="762000"/>
          </a:xfrm>
          <a:prstGeom prst="rect">
            <a:avLst/>
          </a:prstGeom>
          <a:noFill/>
          <a:ln/>
        </p:spPr>
        <p:txBody>
          <a:bodyPr wrap="square" lIns="25400" tIns="25400" rIns="25400" bIns="25400" rtlCol="0" anchor="t">
            <a:normAutofit/>
          </a:bodyPr>
          <a:lstStyle/>
          <a:p>
            <a:pPr algn="l" indent="0" marL="0">
              <a:lnSpc>
                <a:spcPct val="100000"/>
              </a:lnSpc>
              <a:buNone/>
            </a:pPr>
            <a:r>
              <a:rPr lang="en-US" sz="5700" b="1" spc="-171" kern="0" dirty="0">
                <a:solidFill>
                  <a:srgbClr val="143257"/>
                </a:solidFill>
                <a:latin typeface="Arial" pitchFamily="34" charset="0"/>
                <a:ea typeface="Arial" pitchFamily="34" charset="-122"/>
                <a:cs typeface="Arial" pitchFamily="34" charset="-120"/>
              </a:rPr>
              <a:t>3</a:t>
            </a:r>
            <a:endParaRPr lang="en-US" sz="5700" dirty="0"/>
          </a:p>
        </p:txBody>
      </p:sp>
      <p:sp>
        <p:nvSpPr>
          <p:cNvPr id="62" name="Text 60"/>
          <p:cNvSpPr/>
          <p:nvPr/>
        </p:nvSpPr>
        <p:spPr>
          <a:xfrm>
            <a:off x="11309867" y="5980748"/>
            <a:ext cx="847368" cy="342900"/>
          </a:xfrm>
          <a:prstGeom prst="rect">
            <a:avLst/>
          </a:prstGeom>
          <a:noFill/>
          <a:ln/>
        </p:spPr>
        <p:txBody>
          <a:bodyPr wrap="square" lIns="25400" tIns="25400" rIns="25400" bIns="25400" rtlCol="0" anchor="t">
            <a:normAutofit/>
          </a:bodyPr>
          <a:lstStyle/>
          <a:p>
            <a:pPr algn="l" indent="0" marL="0">
              <a:buNone/>
            </a:pPr>
            <a:r>
              <a:rPr lang="en-US" sz="1650" b="1" dirty="0">
                <a:solidFill>
                  <a:srgbClr val="6E8197"/>
                </a:solidFill>
                <a:latin typeface="Arial" pitchFamily="34" charset="0"/>
                <a:ea typeface="Arial" pitchFamily="34" charset="-122"/>
                <a:cs typeface="Arial" pitchFamily="34" charset="-120"/>
              </a:rPr>
              <a:t>단과대학</a:t>
            </a:r>
            <a:endParaRPr lang="en-US" sz="1650" dirty="0"/>
          </a:p>
        </p:txBody>
      </p:sp>
      <p:sp>
        <p:nvSpPr>
          <p:cNvPr id="63" name="Shape 61"/>
          <p:cNvSpPr/>
          <p:nvPr/>
        </p:nvSpPr>
        <p:spPr>
          <a:xfrm>
            <a:off x="13404295" y="5614988"/>
            <a:ext cx="9525" cy="723900"/>
          </a:xfrm>
          <a:prstGeom prst="rect">
            <a:avLst/>
          </a:prstGeom>
          <a:solidFill>
            <a:srgbClr val="EAF0F6"/>
          </a:solidFill>
          <a:ln/>
        </p:spPr>
      </p:sp>
      <p:sp>
        <p:nvSpPr>
          <p:cNvPr id="64" name="Text 62"/>
          <p:cNvSpPr/>
          <p:nvPr/>
        </p:nvSpPr>
        <p:spPr>
          <a:xfrm>
            <a:off x="14737199" y="5614988"/>
            <a:ext cx="838081" cy="762000"/>
          </a:xfrm>
          <a:prstGeom prst="rect">
            <a:avLst/>
          </a:prstGeom>
          <a:noFill/>
          <a:ln/>
        </p:spPr>
        <p:txBody>
          <a:bodyPr wrap="square" lIns="25400" tIns="25400" rIns="25400" bIns="25400" rtlCol="0" anchor="t">
            <a:normAutofit/>
          </a:bodyPr>
          <a:lstStyle/>
          <a:p>
            <a:pPr algn="l" indent="0" marL="0">
              <a:lnSpc>
                <a:spcPct val="100000"/>
              </a:lnSpc>
              <a:buNone/>
            </a:pPr>
            <a:r>
              <a:rPr lang="en-US" sz="5700" b="1" spc="-171" kern="0" dirty="0">
                <a:solidFill>
                  <a:srgbClr val="143257"/>
                </a:solidFill>
                <a:latin typeface="Arial" pitchFamily="34" charset="0"/>
                <a:ea typeface="Arial" pitchFamily="34" charset="-122"/>
                <a:cs typeface="Arial" pitchFamily="34" charset="-120"/>
              </a:rPr>
              <a:t>13</a:t>
            </a:r>
            <a:endParaRPr lang="en-US" sz="5700" dirty="0"/>
          </a:p>
        </p:txBody>
      </p:sp>
      <p:sp>
        <p:nvSpPr>
          <p:cNvPr id="65" name="Text 63"/>
          <p:cNvSpPr/>
          <p:nvPr/>
        </p:nvSpPr>
        <p:spPr>
          <a:xfrm>
            <a:off x="15603856" y="5980748"/>
            <a:ext cx="1110020" cy="342900"/>
          </a:xfrm>
          <a:prstGeom prst="rect">
            <a:avLst/>
          </a:prstGeom>
          <a:noFill/>
          <a:ln/>
        </p:spPr>
        <p:txBody>
          <a:bodyPr wrap="square" lIns="25400" tIns="25400" rIns="25400" bIns="25400" rtlCol="0" anchor="t">
            <a:normAutofit/>
          </a:bodyPr>
          <a:lstStyle/>
          <a:p>
            <a:pPr algn="l" indent="0" marL="0">
              <a:buNone/>
            </a:pPr>
            <a:r>
              <a:rPr lang="en-US" sz="1650" b="1" dirty="0">
                <a:solidFill>
                  <a:srgbClr val="6E8197"/>
                </a:solidFill>
                <a:latin typeface="Arial" pitchFamily="34" charset="0"/>
                <a:ea typeface="Arial" pitchFamily="34" charset="-122"/>
                <a:cs typeface="Arial" pitchFamily="34" charset="-120"/>
              </a:rPr>
              <a:t>학과·대학원</a:t>
            </a:r>
            <a:endParaRPr lang="en-US" sz="16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8FC"/>
        </a:solidFill>
      </p:bgPr>
    </p:bg>
    <p:spTree>
      <p:nvGrpSpPr>
        <p:cNvPr id="1" name=""/>
        <p:cNvGrpSpPr/>
        <p:nvPr/>
      </p:nvGrpSpPr>
      <p:grpSpPr>
        <a:xfrm>
          <a:off x="0" y="0"/>
          <a:ext cx="0" cy="0"/>
          <a:chOff x="0" y="0"/>
          <a:chExt cx="0" cy="0"/>
        </a:xfrm>
      </p:grpSpPr>
      <p:sp>
        <p:nvSpPr>
          <p:cNvPr id="2" name="Shape 0"/>
          <p:cNvSpPr/>
          <p:nvPr/>
        </p:nvSpPr>
        <p:spPr>
          <a:xfrm>
            <a:off x="14728984" y="361950"/>
            <a:ext cx="570428" cy="278130"/>
          </a:xfrm>
          <a:prstGeom prst="roundRect">
            <a:avLst>
              <a:gd name="adj" fmla="val 50000"/>
            </a:avLst>
          </a:prstGeom>
          <a:solidFill>
            <a:srgbClr val="E6EEF7"/>
          </a:solidFill>
          <a:ln/>
        </p:spPr>
      </p:sp>
      <p:sp>
        <p:nvSpPr>
          <p:cNvPr id="3" name="Text 1"/>
          <p:cNvSpPr/>
          <p:nvPr/>
        </p:nvSpPr>
        <p:spPr>
          <a:xfrm>
            <a:off x="14843284" y="409575"/>
            <a:ext cx="418028" cy="220980"/>
          </a:xfrm>
          <a:prstGeom prst="rect">
            <a:avLst/>
          </a:prstGeom>
          <a:noFill/>
          <a:ln/>
        </p:spPr>
        <p:txBody>
          <a:bodyPr wrap="square" lIns="25400" tIns="25400" rIns="25400" bIns="25400" rtlCol="0" anchor="t">
            <a:normAutofit/>
          </a:bodyPr>
          <a:lstStyle/>
          <a:p>
            <a:pPr algn="l" indent="0" marL="0">
              <a:buNone/>
            </a:pPr>
            <a:r>
              <a:rPr lang="en-US" sz="975" b="1" dirty="0">
                <a:solidFill>
                  <a:srgbClr val="A7B8CA"/>
                </a:solidFill>
                <a:latin typeface="Arial" pitchFamily="34" charset="0"/>
                <a:ea typeface="Arial" pitchFamily="34" charset="-122"/>
                <a:cs typeface="Arial" pitchFamily="34" charset="-120"/>
              </a:rPr>
              <a:t>데이터</a:t>
            </a:r>
            <a:endParaRPr lang="en-US" sz="975" dirty="0"/>
          </a:p>
        </p:txBody>
      </p:sp>
      <p:sp>
        <p:nvSpPr>
          <p:cNvPr id="4" name="Shape 2"/>
          <p:cNvSpPr/>
          <p:nvPr/>
        </p:nvSpPr>
        <p:spPr>
          <a:xfrm>
            <a:off x="15356563" y="361950"/>
            <a:ext cx="400645" cy="278130"/>
          </a:xfrm>
          <a:prstGeom prst="roundRect">
            <a:avLst>
              <a:gd name="adj" fmla="val 50000"/>
            </a:avLst>
          </a:prstGeom>
          <a:solidFill>
            <a:srgbClr val="E6EEF7"/>
          </a:solidFill>
          <a:ln/>
        </p:spPr>
      </p:sp>
      <p:sp>
        <p:nvSpPr>
          <p:cNvPr id="5" name="Text 3"/>
          <p:cNvSpPr/>
          <p:nvPr/>
        </p:nvSpPr>
        <p:spPr>
          <a:xfrm>
            <a:off x="15470863" y="409575"/>
            <a:ext cx="248245" cy="220980"/>
          </a:xfrm>
          <a:prstGeom prst="rect">
            <a:avLst/>
          </a:prstGeom>
          <a:noFill/>
          <a:ln/>
        </p:spPr>
        <p:txBody>
          <a:bodyPr wrap="square" lIns="25400" tIns="25400" rIns="25400" bIns="25400" rtlCol="0" anchor="t">
            <a:normAutofit/>
          </a:bodyPr>
          <a:lstStyle/>
          <a:p>
            <a:pPr algn="l" indent="0" marL="0">
              <a:buNone/>
            </a:pPr>
            <a:r>
              <a:rPr lang="en-US" sz="975" b="1" dirty="0">
                <a:solidFill>
                  <a:srgbClr val="A7B8CA"/>
                </a:solidFill>
                <a:latin typeface="Arial" pitchFamily="34" charset="0"/>
                <a:ea typeface="Arial" pitchFamily="34" charset="-122"/>
                <a:cs typeface="Arial" pitchFamily="34" charset="-120"/>
              </a:rPr>
              <a:t>DB</a:t>
            </a:r>
            <a:endParaRPr lang="en-US" sz="975" dirty="0"/>
          </a:p>
        </p:txBody>
      </p:sp>
      <p:sp>
        <p:nvSpPr>
          <p:cNvPr id="6" name="Shape 4"/>
          <p:cNvSpPr/>
          <p:nvPr/>
        </p:nvSpPr>
        <p:spPr>
          <a:xfrm>
            <a:off x="15814358" y="361950"/>
            <a:ext cx="570428" cy="278130"/>
          </a:xfrm>
          <a:prstGeom prst="roundRect">
            <a:avLst>
              <a:gd name="adj" fmla="val 50000"/>
            </a:avLst>
          </a:prstGeom>
          <a:solidFill>
            <a:srgbClr val="2E8BE0"/>
          </a:solidFill>
          <a:ln/>
        </p:spPr>
      </p:sp>
      <p:sp>
        <p:nvSpPr>
          <p:cNvPr id="7" name="Text 5"/>
          <p:cNvSpPr/>
          <p:nvPr/>
        </p:nvSpPr>
        <p:spPr>
          <a:xfrm>
            <a:off x="15928658" y="409575"/>
            <a:ext cx="418028" cy="220980"/>
          </a:xfrm>
          <a:prstGeom prst="rect">
            <a:avLst/>
          </a:prstGeom>
          <a:noFill/>
          <a:ln/>
        </p:spPr>
        <p:txBody>
          <a:bodyPr wrap="square" lIns="25400" tIns="25400" rIns="25400" bIns="25400" rtlCol="0" anchor="t">
            <a:normAutofit/>
          </a:bodyPr>
          <a:lstStyle/>
          <a:p>
            <a:pPr algn="l" indent="0" marL="0">
              <a:buNone/>
            </a:pPr>
            <a:r>
              <a:rPr lang="en-US" sz="975" b="1" dirty="0">
                <a:solidFill>
                  <a:srgbClr val="FFFFFF"/>
                </a:solidFill>
                <a:latin typeface="Arial" pitchFamily="34" charset="0"/>
                <a:ea typeface="Arial" pitchFamily="34" charset="-122"/>
                <a:cs typeface="Arial" pitchFamily="34" charset="-120"/>
              </a:rPr>
              <a:t>백엔드</a:t>
            </a:r>
            <a:endParaRPr lang="en-US" sz="975" dirty="0"/>
          </a:p>
        </p:txBody>
      </p:sp>
      <p:sp>
        <p:nvSpPr>
          <p:cNvPr id="8" name="Shape 6"/>
          <p:cNvSpPr/>
          <p:nvPr/>
        </p:nvSpPr>
        <p:spPr>
          <a:xfrm>
            <a:off x="16441936" y="361950"/>
            <a:ext cx="570428" cy="278130"/>
          </a:xfrm>
          <a:prstGeom prst="roundRect">
            <a:avLst>
              <a:gd name="adj" fmla="val 50000"/>
            </a:avLst>
          </a:prstGeom>
          <a:solidFill>
            <a:srgbClr val="E6EEF7"/>
          </a:solidFill>
          <a:ln/>
        </p:spPr>
      </p:sp>
      <p:sp>
        <p:nvSpPr>
          <p:cNvPr id="9" name="Text 7"/>
          <p:cNvSpPr/>
          <p:nvPr/>
        </p:nvSpPr>
        <p:spPr>
          <a:xfrm>
            <a:off x="16556236" y="409575"/>
            <a:ext cx="418028" cy="220980"/>
          </a:xfrm>
          <a:prstGeom prst="rect">
            <a:avLst/>
          </a:prstGeom>
          <a:noFill/>
          <a:ln/>
        </p:spPr>
        <p:txBody>
          <a:bodyPr wrap="square" lIns="25400" tIns="25400" rIns="25400" bIns="25400" rtlCol="0" anchor="t">
            <a:normAutofit/>
          </a:bodyPr>
          <a:lstStyle/>
          <a:p>
            <a:pPr algn="l" indent="0" marL="0">
              <a:buNone/>
            </a:pPr>
            <a:r>
              <a:rPr lang="en-US" sz="975" b="1" dirty="0">
                <a:solidFill>
                  <a:srgbClr val="A7B8CA"/>
                </a:solidFill>
                <a:latin typeface="Arial" pitchFamily="34" charset="0"/>
                <a:ea typeface="Arial" pitchFamily="34" charset="-122"/>
                <a:cs typeface="Arial" pitchFamily="34" charset="-120"/>
              </a:rPr>
              <a:t>프론트</a:t>
            </a:r>
            <a:endParaRPr lang="en-US" sz="975" dirty="0"/>
          </a:p>
        </p:txBody>
      </p:sp>
      <p:sp>
        <p:nvSpPr>
          <p:cNvPr id="10" name="Shape 8"/>
          <p:cNvSpPr/>
          <p:nvPr/>
        </p:nvSpPr>
        <p:spPr>
          <a:xfrm>
            <a:off x="17069515" y="361950"/>
            <a:ext cx="456486" cy="278130"/>
          </a:xfrm>
          <a:prstGeom prst="roundRect">
            <a:avLst>
              <a:gd name="adj" fmla="val 50000"/>
            </a:avLst>
          </a:prstGeom>
          <a:solidFill>
            <a:srgbClr val="E6EEF7"/>
          </a:solidFill>
          <a:ln/>
        </p:spPr>
      </p:sp>
      <p:sp>
        <p:nvSpPr>
          <p:cNvPr id="11" name="Text 9"/>
          <p:cNvSpPr/>
          <p:nvPr/>
        </p:nvSpPr>
        <p:spPr>
          <a:xfrm>
            <a:off x="17183815" y="409575"/>
            <a:ext cx="304086" cy="220980"/>
          </a:xfrm>
          <a:prstGeom prst="rect">
            <a:avLst/>
          </a:prstGeom>
          <a:noFill/>
          <a:ln/>
        </p:spPr>
        <p:txBody>
          <a:bodyPr wrap="square" lIns="25400" tIns="25400" rIns="25400" bIns="25400" rtlCol="0" anchor="t">
            <a:normAutofit/>
          </a:bodyPr>
          <a:lstStyle/>
          <a:p>
            <a:pPr algn="l" indent="0" marL="0">
              <a:buNone/>
            </a:pPr>
            <a:r>
              <a:rPr lang="en-US" sz="975" b="1" dirty="0">
                <a:solidFill>
                  <a:srgbClr val="A7B8CA"/>
                </a:solidFill>
                <a:latin typeface="Arial" pitchFamily="34" charset="0"/>
                <a:ea typeface="Arial" pitchFamily="34" charset="-122"/>
                <a:cs typeface="Arial" pitchFamily="34" charset="-120"/>
              </a:rPr>
              <a:t>배포</a:t>
            </a:r>
            <a:endParaRPr lang="en-US" sz="975" dirty="0"/>
          </a:p>
        </p:txBody>
      </p:sp>
      <p:sp>
        <p:nvSpPr>
          <p:cNvPr id="12" name="Text 10"/>
          <p:cNvSpPr/>
          <p:nvPr/>
        </p:nvSpPr>
        <p:spPr>
          <a:xfrm>
            <a:off x="762000" y="647700"/>
            <a:ext cx="1742277" cy="259080"/>
          </a:xfrm>
          <a:prstGeom prst="rect">
            <a:avLst/>
          </a:prstGeom>
          <a:noFill/>
          <a:ln/>
        </p:spPr>
        <p:txBody>
          <a:bodyPr wrap="square" lIns="25400" tIns="25400" rIns="25400" bIns="25400" rtlCol="0" anchor="t">
            <a:normAutofit/>
          </a:bodyPr>
          <a:lstStyle/>
          <a:p>
            <a:pPr algn="l" indent="0" marL="0">
              <a:buNone/>
            </a:pPr>
            <a:r>
              <a:rPr lang="en-US" sz="1200" b="1" spc="48" kern="0" dirty="0">
                <a:solidFill>
                  <a:srgbClr val="1E6FBF"/>
                </a:solidFill>
                <a:latin typeface="Arial" pitchFamily="34" charset="0"/>
                <a:ea typeface="Arial" pitchFamily="34" charset="-122"/>
                <a:cs typeface="Arial" pitchFamily="34" charset="-120"/>
              </a:rPr>
              <a:t>09 · 백엔드 · LLM 계층</a:t>
            </a:r>
            <a:endParaRPr lang="en-US" sz="1200" dirty="0"/>
          </a:p>
        </p:txBody>
      </p:sp>
      <p:sp>
        <p:nvSpPr>
          <p:cNvPr id="13" name="Shape 11"/>
          <p:cNvSpPr/>
          <p:nvPr/>
        </p:nvSpPr>
        <p:spPr>
          <a:xfrm>
            <a:off x="2479238" y="609600"/>
            <a:ext cx="1452563" cy="297180"/>
          </a:xfrm>
          <a:prstGeom prst="roundRect">
            <a:avLst>
              <a:gd name="adj" fmla="val 50000"/>
            </a:avLst>
          </a:prstGeom>
          <a:solidFill>
            <a:srgbClr val="FDF0DD"/>
          </a:solidFill>
          <a:ln/>
        </p:spPr>
      </p:sp>
      <p:sp>
        <p:nvSpPr>
          <p:cNvPr id="14" name="Text 12"/>
          <p:cNvSpPr/>
          <p:nvPr/>
        </p:nvSpPr>
        <p:spPr>
          <a:xfrm>
            <a:off x="2612588" y="666750"/>
            <a:ext cx="1262063" cy="220980"/>
          </a:xfrm>
          <a:prstGeom prst="rect">
            <a:avLst/>
          </a:prstGeom>
          <a:noFill/>
          <a:ln/>
        </p:spPr>
        <p:txBody>
          <a:bodyPr wrap="square" lIns="25400" tIns="25400" rIns="25400" bIns="25400" rtlCol="0" anchor="t">
            <a:normAutofit/>
          </a:bodyPr>
          <a:lstStyle/>
          <a:p>
            <a:pPr algn="l" indent="0" marL="0">
              <a:buNone/>
            </a:pPr>
            <a:r>
              <a:rPr lang="en-US" sz="975" b="1" dirty="0">
                <a:solidFill>
                  <a:srgbClr val="C77E1E"/>
                </a:solidFill>
                <a:latin typeface="Arial" pitchFamily="34" charset="0"/>
                <a:ea typeface="Arial" pitchFamily="34" charset="-122"/>
                <a:cs typeface="Arial" pitchFamily="34" charset="-120"/>
              </a:rPr>
              <a:t>평가 ③ LLM 연동 웹앱</a:t>
            </a:r>
            <a:endParaRPr lang="en-US" sz="975" dirty="0"/>
          </a:p>
        </p:txBody>
      </p:sp>
      <p:sp>
        <p:nvSpPr>
          <p:cNvPr id="15" name="Text 13"/>
          <p:cNvSpPr/>
          <p:nvPr/>
        </p:nvSpPr>
        <p:spPr>
          <a:xfrm>
            <a:off x="762000" y="1002030"/>
            <a:ext cx="18440400" cy="731520"/>
          </a:xfrm>
          <a:prstGeom prst="rect">
            <a:avLst/>
          </a:prstGeom>
          <a:noFill/>
          <a:ln/>
        </p:spPr>
        <p:txBody>
          <a:bodyPr wrap="square" lIns="25400" tIns="25400" rIns="25400" bIns="25400" rtlCol="0" anchor="t">
            <a:normAutofit/>
          </a:bodyPr>
          <a:lstStyle/>
          <a:p>
            <a:pPr algn="l" indent="0" marL="0">
              <a:buNone/>
            </a:pPr>
            <a:r>
              <a:rPr lang="en-US" sz="3750" b="1" spc="-112" kern="0" dirty="0">
                <a:solidFill>
                  <a:srgbClr val="143257"/>
                </a:solidFill>
                <a:latin typeface="Arial" pitchFamily="34" charset="0"/>
                <a:ea typeface="Arial" pitchFamily="34" charset="-122"/>
                <a:cs typeface="Arial" pitchFamily="34" charset="-120"/>
              </a:rPr>
              <a:t>SQL + Vector 하이브리드 RAG</a:t>
            </a:r>
            <a:endParaRPr lang="en-US" sz="3750" dirty="0"/>
          </a:p>
        </p:txBody>
      </p:sp>
      <p:sp>
        <p:nvSpPr>
          <p:cNvPr id="16" name="Text 14"/>
          <p:cNvSpPr/>
          <p:nvPr/>
        </p:nvSpPr>
        <p:spPr>
          <a:xfrm>
            <a:off x="762000" y="1752600"/>
            <a:ext cx="18440400" cy="297180"/>
          </a:xfrm>
          <a:prstGeom prst="rect">
            <a:avLst/>
          </a:prstGeom>
          <a:noFill/>
          <a:ln/>
        </p:spPr>
        <p:txBody>
          <a:bodyPr wrap="square" lIns="25400" tIns="25400" rIns="25400" bIns="25400" rtlCol="0" anchor="t">
            <a:normAutofit/>
          </a:bodyPr>
          <a:lstStyle/>
          <a:p>
            <a:pPr algn="l" indent="0" marL="0">
              <a:buNone/>
            </a:pPr>
            <a:r>
              <a:rPr lang="en-US" sz="1725" b="1" dirty="0">
                <a:solidFill>
                  <a:srgbClr val="6E8197"/>
                </a:solidFill>
                <a:latin typeface="Arial" pitchFamily="34" charset="0"/>
                <a:ea typeface="Arial" pitchFamily="34" charset="-122"/>
                <a:cs typeface="Arial" pitchFamily="34" charset="-120"/>
              </a:rPr>
              <a:t>정형의 정확함과 의미 검색의 유연함을 함께 — 답변엔 항상 출처를 붙입니다</a:t>
            </a:r>
            <a:endParaRPr lang="en-US" sz="1725" dirty="0"/>
          </a:p>
        </p:txBody>
      </p:sp>
      <p:sp>
        <p:nvSpPr>
          <p:cNvPr id="17" name="Shape 15"/>
          <p:cNvSpPr/>
          <p:nvPr/>
        </p:nvSpPr>
        <p:spPr>
          <a:xfrm>
            <a:off x="762000" y="2240280"/>
            <a:ext cx="3625334" cy="2096453"/>
          </a:xfrm>
          <a:prstGeom prst="roundRect">
            <a:avLst>
              <a:gd name="adj" fmla="val 8178"/>
            </a:avLst>
          </a:prstGeom>
          <a:solidFill>
            <a:srgbClr val="FFFFFF"/>
          </a:solidFill>
          <a:ln w="7620">
            <a:solidFill>
              <a:srgbClr val="E6EEF7"/>
            </a:solidFill>
            <a:prstDash val="solid"/>
          </a:ln>
          <a:effectLst>
            <a:outerShdw sx="100000" sy="100000" kx="0" ky="0" algn="bl" rotWithShape="0" blurRad="266700" dist="114300" dir="5400000">
              <a:srgbClr val="2E8BE0">
                <a:alpha val="8000"/>
              </a:srgbClr>
            </a:outerShdw>
          </a:effectLst>
        </p:spPr>
      </p:sp>
      <p:sp>
        <p:nvSpPr>
          <p:cNvPr id="18" name="Text 16"/>
          <p:cNvSpPr/>
          <p:nvPr/>
        </p:nvSpPr>
        <p:spPr>
          <a:xfrm>
            <a:off x="840575" y="2476500"/>
            <a:ext cx="3468184" cy="205740"/>
          </a:xfrm>
          <a:prstGeom prst="rect">
            <a:avLst/>
          </a:prstGeom>
          <a:noFill/>
          <a:ln/>
        </p:spPr>
        <p:txBody>
          <a:bodyPr wrap="square" lIns="25400" tIns="25400" rIns="25400" bIns="25400" rtlCol="0" anchor="t">
            <a:normAutofit/>
          </a:bodyPr>
          <a:lstStyle/>
          <a:p>
            <a:pPr algn="ctr" indent="0" marL="0">
              <a:buNone/>
            </a:pPr>
            <a:r>
              <a:rPr lang="en-US" sz="1125" b="1" spc="45" kern="0" dirty="0">
                <a:solidFill>
                  <a:srgbClr val="2E8BE0"/>
                </a:solidFill>
                <a:latin typeface="Arial" pitchFamily="34" charset="0"/>
                <a:ea typeface="Arial" pitchFamily="34" charset="-122"/>
                <a:cs typeface="Arial" pitchFamily="34" charset="-120"/>
              </a:rPr>
              <a:t>STEP 1</a:t>
            </a:r>
            <a:endParaRPr lang="en-US" sz="1125" dirty="0"/>
          </a:p>
        </p:txBody>
      </p:sp>
      <p:sp>
        <p:nvSpPr>
          <p:cNvPr id="19" name="Text 17"/>
          <p:cNvSpPr/>
          <p:nvPr/>
        </p:nvSpPr>
        <p:spPr>
          <a:xfrm>
            <a:off x="840575" y="2739390"/>
            <a:ext cx="3468184" cy="396240"/>
          </a:xfrm>
          <a:prstGeom prst="rect">
            <a:avLst/>
          </a:prstGeom>
          <a:noFill/>
          <a:ln/>
        </p:spPr>
        <p:txBody>
          <a:bodyPr wrap="square" lIns="25400" tIns="25400" rIns="25400" bIns="25400" rtlCol="0" anchor="t">
            <a:normAutofit/>
          </a:bodyPr>
          <a:lstStyle/>
          <a:p>
            <a:pPr algn="ctr" indent="0" marL="0">
              <a:buNone/>
            </a:pPr>
            <a:r>
              <a:rPr lang="en-US" sz="1950" b="1" dirty="0">
                <a:solidFill>
                  <a:srgbClr val="143257"/>
                </a:solidFill>
                <a:latin typeface="Arial" pitchFamily="34" charset="0"/>
                <a:ea typeface="Arial" pitchFamily="34" charset="-122"/>
                <a:cs typeface="Arial" pitchFamily="34" charset="-120"/>
              </a:rPr>
              <a:t>질의 분석</a:t>
            </a:r>
            <a:endParaRPr lang="en-US" sz="1950" dirty="0"/>
          </a:p>
        </p:txBody>
      </p:sp>
      <p:sp>
        <p:nvSpPr>
          <p:cNvPr id="20" name="Text 18"/>
          <p:cNvSpPr/>
          <p:nvPr/>
        </p:nvSpPr>
        <p:spPr>
          <a:xfrm>
            <a:off x="840575" y="3154680"/>
            <a:ext cx="3468184" cy="286703"/>
          </a:xfrm>
          <a:prstGeom prst="rect">
            <a:avLst/>
          </a:prstGeom>
          <a:noFill/>
          <a:ln/>
        </p:spPr>
        <p:txBody>
          <a:bodyPr wrap="square" lIns="25400" tIns="25400" rIns="25400" bIns="25400" rtlCol="0" anchor="t">
            <a:normAutofit/>
          </a:bodyPr>
          <a:lstStyle/>
          <a:p>
            <a:pPr algn="ctr" indent="0" marL="0">
              <a:lnSpc>
                <a:spcPct val="145000"/>
              </a:lnSpc>
              <a:buNone/>
            </a:pPr>
            <a:r>
              <a:rPr lang="en-US" sz="1350" b="1" dirty="0">
                <a:solidFill>
                  <a:srgbClr val="51657B"/>
                </a:solidFill>
                <a:latin typeface="Arial" pitchFamily="34" charset="0"/>
                <a:ea typeface="Arial" pitchFamily="34" charset="-122"/>
                <a:cs typeface="Arial" pitchFamily="34" charset="-120"/>
              </a:rPr>
              <a:t>학과·의도 파악</a:t>
            </a:r>
            <a:endParaRPr lang="en-US" sz="1350" dirty="0"/>
          </a:p>
        </p:txBody>
      </p:sp>
      <p:sp>
        <p:nvSpPr>
          <p:cNvPr id="21" name="Shape 19"/>
          <p:cNvSpPr/>
          <p:nvPr/>
        </p:nvSpPr>
        <p:spPr>
          <a:xfrm>
            <a:off x="998220" y="3536633"/>
            <a:ext cx="3152894" cy="563880"/>
          </a:xfrm>
          <a:prstGeom prst="roundRect">
            <a:avLst>
              <a:gd name="adj" fmla="val 15203"/>
            </a:avLst>
          </a:prstGeom>
          <a:solidFill>
            <a:srgbClr val="EAF2FB"/>
          </a:solidFill>
          <a:ln/>
        </p:spPr>
      </p:sp>
      <p:sp>
        <p:nvSpPr>
          <p:cNvPr id="22" name="Text 20"/>
          <p:cNvSpPr/>
          <p:nvPr/>
        </p:nvSpPr>
        <p:spPr>
          <a:xfrm>
            <a:off x="1065227" y="3612833"/>
            <a:ext cx="3018881" cy="449580"/>
          </a:xfrm>
          <a:prstGeom prst="rect">
            <a:avLst/>
          </a:prstGeom>
          <a:noFill/>
          <a:ln/>
        </p:spPr>
        <p:txBody>
          <a:bodyPr wrap="square" lIns="25400" tIns="25400" rIns="25400" bIns="25400" rtlCol="0" anchor="t">
            <a:normAutofit/>
          </a:bodyPr>
          <a:lstStyle/>
          <a:p>
            <a:pPr algn="ctr" indent="0" marL="0">
              <a:lnSpc>
                <a:spcPct val="135000"/>
              </a:lnSpc>
              <a:buNone/>
            </a:pPr>
            <a:r>
              <a:rPr lang="en-US" sz="1200" b="1" dirty="0">
                <a:solidFill>
                  <a:srgbClr val="2E8BE0"/>
                </a:solidFill>
                <a:highlight>
                  <a:srgbClr val="EAF2FB"/>
                </a:highlight>
                <a:latin typeface="Arial" pitchFamily="34" charset="0"/>
                <a:ea typeface="Arial" pitchFamily="34" charset="-122"/>
                <a:cs typeface="Arial" pitchFamily="34" charset="-120"/>
              </a:rPr>
              <a:t>예) "물리학과 교수님 알려줘"</a:t>
            </a:r>
            <a:endParaRPr lang="en-US" sz="1200" dirty="0"/>
          </a:p>
        </p:txBody>
      </p:sp>
      <p:sp>
        <p:nvSpPr>
          <p:cNvPr id="23" name="Text 21"/>
          <p:cNvSpPr/>
          <p:nvPr/>
        </p:nvSpPr>
        <p:spPr>
          <a:xfrm>
            <a:off x="4501634" y="2240280"/>
            <a:ext cx="361950" cy="2134553"/>
          </a:xfrm>
          <a:prstGeom prst="rect">
            <a:avLst/>
          </a:prstGeom>
          <a:noFill/>
          <a:ln/>
        </p:spPr>
        <p:txBody>
          <a:bodyPr wrap="square" lIns="25400" tIns="25400" rIns="25400" bIns="25400" rtlCol="0" anchor="ctr">
            <a:normAutofit/>
          </a:bodyPr>
          <a:lstStyle/>
          <a:p>
            <a:pPr algn="l" indent="0" marL="0">
              <a:buNone/>
            </a:pPr>
            <a:r>
              <a:rPr lang="en-US" sz="2250" dirty="0">
                <a:solidFill>
                  <a:srgbClr val="C3D2E0"/>
                </a:solidFill>
                <a:latin typeface="Arial" pitchFamily="34" charset="0"/>
                <a:ea typeface="Arial" pitchFamily="34" charset="-122"/>
                <a:cs typeface="Arial" pitchFamily="34" charset="-120"/>
              </a:rPr>
              <a:t>→</a:t>
            </a:r>
            <a:endParaRPr lang="en-US" sz="2250" dirty="0"/>
          </a:p>
        </p:txBody>
      </p:sp>
      <p:sp>
        <p:nvSpPr>
          <p:cNvPr id="24" name="Shape 22"/>
          <p:cNvSpPr/>
          <p:nvPr/>
        </p:nvSpPr>
        <p:spPr>
          <a:xfrm>
            <a:off x="4901684" y="2240280"/>
            <a:ext cx="4360188" cy="2096453"/>
          </a:xfrm>
          <a:prstGeom prst="roundRect">
            <a:avLst>
              <a:gd name="adj" fmla="val 8178"/>
            </a:avLst>
          </a:prstGeom>
          <a:solidFill>
            <a:srgbClr val="143257"/>
          </a:solidFill>
          <a:ln/>
          <a:effectLst>
            <a:outerShdw sx="100000" sy="100000" kx="0" ky="0" algn="bl" rotWithShape="0" blurRad="304800" dist="133350" dir="5400000">
              <a:srgbClr val="143257">
                <a:alpha val="22000"/>
              </a:srgbClr>
            </a:outerShdw>
          </a:effectLst>
        </p:spPr>
      </p:sp>
      <p:sp>
        <p:nvSpPr>
          <p:cNvPr id="25" name="Text 23"/>
          <p:cNvSpPr/>
          <p:nvPr/>
        </p:nvSpPr>
        <p:spPr>
          <a:xfrm>
            <a:off x="4914180" y="2614136"/>
            <a:ext cx="4335197" cy="243840"/>
          </a:xfrm>
          <a:prstGeom prst="rect">
            <a:avLst/>
          </a:prstGeom>
          <a:noFill/>
          <a:ln/>
        </p:spPr>
        <p:txBody>
          <a:bodyPr wrap="square" lIns="25400" tIns="25400" rIns="25400" bIns="25400" rtlCol="0" anchor="t">
            <a:normAutofit/>
          </a:bodyPr>
          <a:lstStyle/>
          <a:p>
            <a:pPr algn="ctr" indent="0" marL="0">
              <a:buNone/>
            </a:pPr>
            <a:r>
              <a:rPr lang="en-US" sz="1125" b="1" spc="45" kern="0" dirty="0">
                <a:solidFill>
                  <a:srgbClr val="7CC2F5"/>
                </a:solidFill>
                <a:latin typeface="Arial" pitchFamily="34" charset="0"/>
                <a:ea typeface="Arial" pitchFamily="34" charset="-122"/>
                <a:cs typeface="Arial" pitchFamily="34" charset="-120"/>
              </a:rPr>
              <a:t>STEP 2 · 하이브리드 검색</a:t>
            </a:r>
            <a:endParaRPr lang="en-US" sz="1125" dirty="0"/>
          </a:p>
        </p:txBody>
      </p:sp>
      <p:sp>
        <p:nvSpPr>
          <p:cNvPr id="26" name="Shape 24"/>
          <p:cNvSpPr/>
          <p:nvPr/>
        </p:nvSpPr>
        <p:spPr>
          <a:xfrm>
            <a:off x="5111234" y="2934176"/>
            <a:ext cx="1922859" cy="727710"/>
          </a:xfrm>
          <a:prstGeom prst="roundRect">
            <a:avLst>
              <a:gd name="adj" fmla="val 14398"/>
            </a:avLst>
          </a:prstGeom>
          <a:solidFill>
            <a:srgbClr val="7CC2F5">
              <a:alpha val="18000"/>
            </a:srgbClr>
          </a:solidFill>
          <a:ln/>
        </p:spPr>
      </p:sp>
      <p:sp>
        <p:nvSpPr>
          <p:cNvPr id="27" name="Text 25"/>
          <p:cNvSpPr/>
          <p:nvPr/>
        </p:nvSpPr>
        <p:spPr>
          <a:xfrm>
            <a:off x="5149334" y="3058001"/>
            <a:ext cx="1846659" cy="518160"/>
          </a:xfrm>
          <a:prstGeom prst="rect">
            <a:avLst/>
          </a:prstGeom>
          <a:noFill/>
          <a:ln/>
        </p:spPr>
        <p:txBody>
          <a:bodyPr wrap="square" lIns="25400" tIns="25400" rIns="25400" bIns="25400" rtlCol="0" anchor="t">
            <a:normAutofit/>
          </a:bodyPr>
          <a:lstStyle/>
          <a:p>
            <a:pPr algn="ctr" indent="0" marL="0">
              <a:buNone/>
            </a:pPr>
            <a:r>
              <a:rPr lang="en-US" sz="1425" b="1" dirty="0">
                <a:solidFill>
                  <a:srgbClr val="BFE0FA"/>
                </a:solidFill>
                <a:highlight>
                  <a:srgbClr val="E7F4FD"/>
                </a:highlight>
                <a:latin typeface="Arial" pitchFamily="34" charset="0"/>
                <a:ea typeface="Arial" pitchFamily="34" charset="-122"/>
                <a:cs typeface="Arial" pitchFamily="34" charset="-120"/>
              </a:rPr>
              <a:t>SQL 검색 </a:t>
            </a:r>
            <a:pPr algn="ctr" indent="0" marL="0">
              <a:buNone/>
            </a:pPr>
            <a:r>
              <a:rPr lang="en-US" sz="975" b="1" dirty="0">
                <a:solidFill>
                  <a:srgbClr val="9FCBED"/>
                </a:solidFill>
                <a:latin typeface="Arial" pitchFamily="34" charset="0"/>
                <a:ea typeface="Arial" pitchFamily="34" charset="-122"/>
                <a:cs typeface="Arial" pitchFamily="34" charset="-120"/>
              </a:rPr>
              <a:t>정형</a:t>
            </a:r>
            <a:endParaRPr lang="en-US" sz="1425" dirty="0"/>
          </a:p>
        </p:txBody>
      </p:sp>
      <p:sp>
        <p:nvSpPr>
          <p:cNvPr id="28" name="Shape 26"/>
          <p:cNvSpPr/>
          <p:nvPr/>
        </p:nvSpPr>
        <p:spPr>
          <a:xfrm>
            <a:off x="7129343" y="2934176"/>
            <a:ext cx="1922978" cy="727710"/>
          </a:xfrm>
          <a:prstGeom prst="roundRect">
            <a:avLst>
              <a:gd name="adj" fmla="val 14398"/>
            </a:avLst>
          </a:prstGeom>
          <a:solidFill>
            <a:srgbClr val="A88BF0">
              <a:alpha val="20000"/>
            </a:srgbClr>
          </a:solidFill>
          <a:ln/>
        </p:spPr>
      </p:sp>
      <p:sp>
        <p:nvSpPr>
          <p:cNvPr id="29" name="Text 27"/>
          <p:cNvSpPr/>
          <p:nvPr/>
        </p:nvSpPr>
        <p:spPr>
          <a:xfrm>
            <a:off x="7167443" y="3058001"/>
            <a:ext cx="1846778" cy="518160"/>
          </a:xfrm>
          <a:prstGeom prst="rect">
            <a:avLst/>
          </a:prstGeom>
          <a:noFill/>
          <a:ln/>
        </p:spPr>
        <p:txBody>
          <a:bodyPr wrap="square" lIns="25400" tIns="25400" rIns="25400" bIns="25400" rtlCol="0" anchor="t">
            <a:normAutofit/>
          </a:bodyPr>
          <a:lstStyle/>
          <a:p>
            <a:pPr algn="ctr" indent="0" marL="0">
              <a:buNone/>
            </a:pPr>
            <a:r>
              <a:rPr lang="en-US" sz="1425" b="1" dirty="0">
                <a:solidFill>
                  <a:srgbClr val="D6C7F7"/>
                </a:solidFill>
                <a:highlight>
                  <a:srgbClr val="EEE8FC"/>
                </a:highlight>
                <a:latin typeface="Arial" pitchFamily="34" charset="0"/>
                <a:ea typeface="Arial" pitchFamily="34" charset="-122"/>
                <a:cs typeface="Arial" pitchFamily="34" charset="-120"/>
              </a:rPr>
              <a:t>Vector 검색 </a:t>
            </a:r>
            <a:pPr algn="ctr" indent="0" marL="0">
              <a:buNone/>
            </a:pPr>
            <a:r>
              <a:rPr lang="en-US" sz="975" b="1" dirty="0">
                <a:solidFill>
                  <a:srgbClr val="C2AEF0"/>
                </a:solidFill>
                <a:latin typeface="Arial" pitchFamily="34" charset="0"/>
                <a:ea typeface="Arial" pitchFamily="34" charset="-122"/>
                <a:cs typeface="Arial" pitchFamily="34" charset="-120"/>
              </a:rPr>
              <a:t>의미</a:t>
            </a:r>
            <a:endParaRPr lang="en-US" sz="1425" dirty="0"/>
          </a:p>
        </p:txBody>
      </p:sp>
      <p:sp>
        <p:nvSpPr>
          <p:cNvPr id="30" name="Text 28"/>
          <p:cNvSpPr/>
          <p:nvPr/>
        </p:nvSpPr>
        <p:spPr>
          <a:xfrm>
            <a:off x="4914180" y="3757136"/>
            <a:ext cx="4335197" cy="243840"/>
          </a:xfrm>
          <a:prstGeom prst="rect">
            <a:avLst/>
          </a:prstGeom>
          <a:noFill/>
          <a:ln/>
        </p:spPr>
        <p:txBody>
          <a:bodyPr wrap="square" lIns="25400" tIns="25400" rIns="25400" bIns="25400" rtlCol="0" anchor="t">
            <a:normAutofit/>
          </a:bodyPr>
          <a:lstStyle/>
          <a:p>
            <a:pPr algn="ctr" indent="0" marL="0">
              <a:buNone/>
            </a:pPr>
            <a:r>
              <a:rPr lang="en-US" sz="1125" b="1" dirty="0">
                <a:solidFill>
                  <a:srgbClr val="FFFFFF">
                    <a:alpha val="70000"/>
                  </a:srgbClr>
                </a:solidFill>
                <a:latin typeface="Arial" pitchFamily="34" charset="0"/>
                <a:ea typeface="Arial" pitchFamily="34" charset="-122"/>
                <a:cs typeface="Arial" pitchFamily="34" charset="-120"/>
              </a:rPr>
              <a:t>결과 통합 · 랭킹</a:t>
            </a:r>
            <a:endParaRPr lang="en-US" sz="1125" dirty="0"/>
          </a:p>
        </p:txBody>
      </p:sp>
      <p:sp>
        <p:nvSpPr>
          <p:cNvPr id="31" name="Text 29"/>
          <p:cNvSpPr/>
          <p:nvPr/>
        </p:nvSpPr>
        <p:spPr>
          <a:xfrm>
            <a:off x="9376172" y="2240280"/>
            <a:ext cx="361950" cy="2134553"/>
          </a:xfrm>
          <a:prstGeom prst="rect">
            <a:avLst/>
          </a:prstGeom>
          <a:noFill/>
          <a:ln/>
        </p:spPr>
        <p:txBody>
          <a:bodyPr wrap="square" lIns="25400" tIns="25400" rIns="25400" bIns="25400" rtlCol="0" anchor="ctr">
            <a:normAutofit/>
          </a:bodyPr>
          <a:lstStyle/>
          <a:p>
            <a:pPr algn="l" indent="0" marL="0">
              <a:buNone/>
            </a:pPr>
            <a:r>
              <a:rPr lang="en-US" sz="2250" dirty="0">
                <a:solidFill>
                  <a:srgbClr val="C3D2E0"/>
                </a:solidFill>
                <a:latin typeface="Arial" pitchFamily="34" charset="0"/>
                <a:ea typeface="Arial" pitchFamily="34" charset="-122"/>
                <a:cs typeface="Arial" pitchFamily="34" charset="-120"/>
              </a:rPr>
              <a:t>→</a:t>
            </a:r>
            <a:endParaRPr lang="en-US" sz="2250" dirty="0"/>
          </a:p>
        </p:txBody>
      </p:sp>
      <p:sp>
        <p:nvSpPr>
          <p:cNvPr id="32" name="Shape 30"/>
          <p:cNvSpPr/>
          <p:nvPr/>
        </p:nvSpPr>
        <p:spPr>
          <a:xfrm>
            <a:off x="9776222" y="2240280"/>
            <a:ext cx="3625334" cy="2096453"/>
          </a:xfrm>
          <a:prstGeom prst="roundRect">
            <a:avLst>
              <a:gd name="adj" fmla="val 8178"/>
            </a:avLst>
          </a:prstGeom>
          <a:solidFill>
            <a:srgbClr val="FFFFFF"/>
          </a:solidFill>
          <a:ln w="7620">
            <a:solidFill>
              <a:srgbClr val="E6EEF7"/>
            </a:solidFill>
            <a:prstDash val="solid"/>
          </a:ln>
          <a:effectLst>
            <a:outerShdw sx="100000" sy="100000" kx="0" ky="0" algn="bl" rotWithShape="0" blurRad="266700" dist="114300" dir="5400000">
              <a:srgbClr val="2E8BE0">
                <a:alpha val="8000"/>
              </a:srgbClr>
            </a:outerShdw>
          </a:effectLst>
        </p:spPr>
      </p:sp>
      <p:sp>
        <p:nvSpPr>
          <p:cNvPr id="33" name="Text 31"/>
          <p:cNvSpPr/>
          <p:nvPr/>
        </p:nvSpPr>
        <p:spPr>
          <a:xfrm>
            <a:off x="9854798" y="2476500"/>
            <a:ext cx="3468184" cy="205740"/>
          </a:xfrm>
          <a:prstGeom prst="rect">
            <a:avLst/>
          </a:prstGeom>
          <a:noFill/>
          <a:ln/>
        </p:spPr>
        <p:txBody>
          <a:bodyPr wrap="square" lIns="25400" tIns="25400" rIns="25400" bIns="25400" rtlCol="0" anchor="t">
            <a:normAutofit/>
          </a:bodyPr>
          <a:lstStyle/>
          <a:p>
            <a:pPr algn="ctr" indent="0" marL="0">
              <a:buNone/>
            </a:pPr>
            <a:r>
              <a:rPr lang="en-US" sz="1125" b="1" spc="45" kern="0" dirty="0">
                <a:solidFill>
                  <a:srgbClr val="2E8BE0"/>
                </a:solidFill>
                <a:latin typeface="Arial" pitchFamily="34" charset="0"/>
                <a:ea typeface="Arial" pitchFamily="34" charset="-122"/>
                <a:cs typeface="Arial" pitchFamily="34" charset="-120"/>
              </a:rPr>
              <a:t>STEP 3</a:t>
            </a:r>
            <a:endParaRPr lang="en-US" sz="1125" dirty="0"/>
          </a:p>
        </p:txBody>
      </p:sp>
      <p:sp>
        <p:nvSpPr>
          <p:cNvPr id="34" name="Text 32"/>
          <p:cNvSpPr/>
          <p:nvPr/>
        </p:nvSpPr>
        <p:spPr>
          <a:xfrm>
            <a:off x="9854798" y="2739390"/>
            <a:ext cx="3468184" cy="396240"/>
          </a:xfrm>
          <a:prstGeom prst="rect">
            <a:avLst/>
          </a:prstGeom>
          <a:noFill/>
          <a:ln/>
        </p:spPr>
        <p:txBody>
          <a:bodyPr wrap="square" lIns="25400" tIns="25400" rIns="25400" bIns="25400" rtlCol="0" anchor="t">
            <a:normAutofit/>
          </a:bodyPr>
          <a:lstStyle/>
          <a:p>
            <a:pPr algn="ctr" indent="0" marL="0">
              <a:buNone/>
            </a:pPr>
            <a:r>
              <a:rPr lang="en-US" sz="1950" b="1" dirty="0">
                <a:solidFill>
                  <a:srgbClr val="143257"/>
                </a:solidFill>
                <a:latin typeface="Arial" pitchFamily="34" charset="0"/>
                <a:ea typeface="Arial" pitchFamily="34" charset="-122"/>
                <a:cs typeface="Arial" pitchFamily="34" charset="-120"/>
              </a:rPr>
              <a:t>LLM 답변</a:t>
            </a:r>
            <a:endParaRPr lang="en-US" sz="1950" dirty="0"/>
          </a:p>
        </p:txBody>
      </p:sp>
      <p:sp>
        <p:nvSpPr>
          <p:cNvPr id="35" name="Text 33"/>
          <p:cNvSpPr/>
          <p:nvPr/>
        </p:nvSpPr>
        <p:spPr>
          <a:xfrm>
            <a:off x="9854798" y="3154680"/>
            <a:ext cx="3468184" cy="286703"/>
          </a:xfrm>
          <a:prstGeom prst="rect">
            <a:avLst/>
          </a:prstGeom>
          <a:noFill/>
          <a:ln/>
        </p:spPr>
        <p:txBody>
          <a:bodyPr wrap="square" lIns="25400" tIns="25400" rIns="25400" bIns="25400" rtlCol="0" anchor="t">
            <a:normAutofit/>
          </a:bodyPr>
          <a:lstStyle/>
          <a:p>
            <a:pPr algn="ctr" indent="0" marL="0">
              <a:lnSpc>
                <a:spcPct val="145000"/>
              </a:lnSpc>
              <a:buNone/>
            </a:pPr>
            <a:r>
              <a:rPr lang="en-US" sz="1350" b="1" dirty="0">
                <a:solidFill>
                  <a:srgbClr val="51657B"/>
                </a:solidFill>
                <a:latin typeface="Arial" pitchFamily="34" charset="0"/>
                <a:ea typeface="Arial" pitchFamily="34" charset="-122"/>
                <a:cs typeface="Arial" pitchFamily="34" charset="-120"/>
              </a:rPr>
              <a:t>검색 근거로 생성</a:t>
            </a:r>
            <a:endParaRPr lang="en-US" sz="1350" dirty="0"/>
          </a:p>
        </p:txBody>
      </p:sp>
      <p:sp>
        <p:nvSpPr>
          <p:cNvPr id="36" name="Shape 34"/>
          <p:cNvSpPr/>
          <p:nvPr/>
        </p:nvSpPr>
        <p:spPr>
          <a:xfrm>
            <a:off x="10012442" y="3536633"/>
            <a:ext cx="3152894" cy="563880"/>
          </a:xfrm>
          <a:prstGeom prst="roundRect">
            <a:avLst>
              <a:gd name="adj" fmla="val 15203"/>
            </a:avLst>
          </a:prstGeom>
          <a:solidFill>
            <a:srgbClr val="EAF2FB"/>
          </a:solidFill>
          <a:ln/>
        </p:spPr>
      </p:sp>
      <p:sp>
        <p:nvSpPr>
          <p:cNvPr id="37" name="Text 35"/>
          <p:cNvSpPr/>
          <p:nvPr/>
        </p:nvSpPr>
        <p:spPr>
          <a:xfrm>
            <a:off x="10079449" y="3612833"/>
            <a:ext cx="3018881" cy="449580"/>
          </a:xfrm>
          <a:prstGeom prst="rect">
            <a:avLst/>
          </a:prstGeom>
          <a:noFill/>
          <a:ln/>
        </p:spPr>
        <p:txBody>
          <a:bodyPr wrap="square" lIns="25400" tIns="25400" rIns="25400" bIns="25400" rtlCol="0" anchor="t">
            <a:normAutofit/>
          </a:bodyPr>
          <a:lstStyle/>
          <a:p>
            <a:pPr algn="ctr" indent="0" marL="0">
              <a:lnSpc>
                <a:spcPct val="135000"/>
              </a:lnSpc>
              <a:buNone/>
            </a:pPr>
            <a:r>
              <a:rPr lang="en-US" sz="1200" b="1" dirty="0">
                <a:solidFill>
                  <a:srgbClr val="2E8BE0"/>
                </a:solidFill>
                <a:highlight>
                  <a:srgbClr val="EAF2FB"/>
                </a:highlight>
                <a:latin typeface="Arial" pitchFamily="34" charset="0"/>
                <a:ea typeface="Arial" pitchFamily="34" charset="-122"/>
                <a:cs typeface="Arial" pitchFamily="34" charset="-120"/>
              </a:rPr>
              <a:t>검색된 내용만 근거로 사용</a:t>
            </a:r>
            <a:endParaRPr lang="en-US" sz="1200" dirty="0"/>
          </a:p>
        </p:txBody>
      </p:sp>
      <p:sp>
        <p:nvSpPr>
          <p:cNvPr id="38" name="Text 36"/>
          <p:cNvSpPr/>
          <p:nvPr/>
        </p:nvSpPr>
        <p:spPr>
          <a:xfrm>
            <a:off x="13515856" y="2240280"/>
            <a:ext cx="361950" cy="2134553"/>
          </a:xfrm>
          <a:prstGeom prst="rect">
            <a:avLst/>
          </a:prstGeom>
          <a:noFill/>
          <a:ln/>
        </p:spPr>
        <p:txBody>
          <a:bodyPr wrap="square" lIns="25400" tIns="25400" rIns="25400" bIns="25400" rtlCol="0" anchor="ctr">
            <a:normAutofit/>
          </a:bodyPr>
          <a:lstStyle/>
          <a:p>
            <a:pPr algn="l" indent="0" marL="0">
              <a:buNone/>
            </a:pPr>
            <a:r>
              <a:rPr lang="en-US" sz="2250" dirty="0">
                <a:solidFill>
                  <a:srgbClr val="C3D2E0"/>
                </a:solidFill>
                <a:latin typeface="Arial" pitchFamily="34" charset="0"/>
                <a:ea typeface="Arial" pitchFamily="34" charset="-122"/>
                <a:cs typeface="Arial" pitchFamily="34" charset="-120"/>
              </a:rPr>
              <a:t>→</a:t>
            </a:r>
            <a:endParaRPr lang="en-US" sz="2250" dirty="0"/>
          </a:p>
        </p:txBody>
      </p:sp>
      <p:sp>
        <p:nvSpPr>
          <p:cNvPr id="39" name="Shape 37"/>
          <p:cNvSpPr/>
          <p:nvPr/>
        </p:nvSpPr>
        <p:spPr>
          <a:xfrm>
            <a:off x="13915906" y="2240280"/>
            <a:ext cx="3610094" cy="2096453"/>
          </a:xfrm>
          <a:prstGeom prst="roundRect">
            <a:avLst>
              <a:gd name="adj" fmla="val 8178"/>
            </a:avLst>
          </a:prstGeom>
          <a:gradFill rotWithShape="1">
            <a:gsLst>
              <a:gs pos="0">
                <a:srgbClr val="2E86DD">
                  <a:alpha val="100000"/>
                </a:srgbClr>
              </a:gs>
              <a:gs pos="100000">
                <a:srgbClr val="1E63B5">
                  <a:alpha val="100000"/>
                </a:srgbClr>
              </a:gs>
            </a:gsLst>
            <a:lin ang="3900000" scaled="0"/>
          </a:gradFill>
          <a:ln/>
          <a:effectLst>
            <a:outerShdw sx="100000" sy="100000" kx="0" ky="0" algn="bl" rotWithShape="0" blurRad="304800" dist="133350" dir="5400000">
              <a:srgbClr val="1E63B5">
                <a:alpha val="26000"/>
              </a:srgbClr>
            </a:outerShdw>
          </a:effectLst>
        </p:spPr>
      </p:sp>
      <p:sp>
        <p:nvSpPr>
          <p:cNvPr id="40" name="Text 38"/>
          <p:cNvSpPr/>
          <p:nvPr/>
        </p:nvSpPr>
        <p:spPr>
          <a:xfrm>
            <a:off x="13986862" y="2476500"/>
            <a:ext cx="3468184" cy="205740"/>
          </a:xfrm>
          <a:prstGeom prst="rect">
            <a:avLst/>
          </a:prstGeom>
          <a:noFill/>
          <a:ln/>
        </p:spPr>
        <p:txBody>
          <a:bodyPr wrap="square" lIns="25400" tIns="25400" rIns="25400" bIns="25400" rtlCol="0" anchor="t">
            <a:normAutofit/>
          </a:bodyPr>
          <a:lstStyle/>
          <a:p>
            <a:pPr algn="ctr" indent="0" marL="0">
              <a:buNone/>
            </a:pPr>
            <a:r>
              <a:rPr lang="en-US" sz="1125" b="1" spc="45" kern="0" dirty="0">
                <a:solidFill>
                  <a:srgbClr val="FFFFFF">
                    <a:alpha val="80000"/>
                  </a:srgbClr>
                </a:solidFill>
                <a:latin typeface="Arial" pitchFamily="34" charset="0"/>
                <a:ea typeface="Arial" pitchFamily="34" charset="-122"/>
                <a:cs typeface="Arial" pitchFamily="34" charset="-120"/>
              </a:rPr>
              <a:t>STEP 4</a:t>
            </a:r>
            <a:endParaRPr lang="en-US" sz="1125" dirty="0"/>
          </a:p>
        </p:txBody>
      </p:sp>
      <p:sp>
        <p:nvSpPr>
          <p:cNvPr id="41" name="Text 39"/>
          <p:cNvSpPr/>
          <p:nvPr/>
        </p:nvSpPr>
        <p:spPr>
          <a:xfrm>
            <a:off x="13986862" y="2739390"/>
            <a:ext cx="3468184" cy="396240"/>
          </a:xfrm>
          <a:prstGeom prst="rect">
            <a:avLst/>
          </a:prstGeom>
          <a:noFill/>
          <a:ln/>
        </p:spPr>
        <p:txBody>
          <a:bodyPr wrap="square" lIns="25400" tIns="25400" rIns="25400" bIns="25400" rtlCol="0" anchor="t">
            <a:normAutofit/>
          </a:bodyPr>
          <a:lstStyle/>
          <a:p>
            <a:pPr algn="ctr" indent="0" marL="0">
              <a:buNone/>
            </a:pPr>
            <a:r>
              <a:rPr lang="en-US" sz="1950" b="1" dirty="0">
                <a:solidFill>
                  <a:srgbClr val="FFFFFF"/>
                </a:solidFill>
                <a:latin typeface="Arial" pitchFamily="34" charset="0"/>
                <a:ea typeface="Arial" pitchFamily="34" charset="-122"/>
                <a:cs typeface="Arial" pitchFamily="34" charset="-120"/>
              </a:rPr>
              <a:t>출처·피드백</a:t>
            </a:r>
            <a:endParaRPr lang="en-US" sz="1950" dirty="0"/>
          </a:p>
        </p:txBody>
      </p:sp>
      <p:sp>
        <p:nvSpPr>
          <p:cNvPr id="42" name="Text 40"/>
          <p:cNvSpPr/>
          <p:nvPr/>
        </p:nvSpPr>
        <p:spPr>
          <a:xfrm>
            <a:off x="13986862" y="3154680"/>
            <a:ext cx="3468184" cy="286703"/>
          </a:xfrm>
          <a:prstGeom prst="rect">
            <a:avLst/>
          </a:prstGeom>
          <a:noFill/>
          <a:ln/>
        </p:spPr>
        <p:txBody>
          <a:bodyPr wrap="square" lIns="25400" tIns="25400" rIns="25400" bIns="25400" rtlCol="0" anchor="t">
            <a:normAutofit/>
          </a:bodyPr>
          <a:lstStyle/>
          <a:p>
            <a:pPr algn="ctr" indent="0" marL="0">
              <a:lnSpc>
                <a:spcPct val="145000"/>
              </a:lnSpc>
              <a:buNone/>
            </a:pPr>
            <a:r>
              <a:rPr lang="en-US" sz="1350" b="1" dirty="0">
                <a:solidFill>
                  <a:srgbClr val="FFFFFF">
                    <a:alpha val="90000"/>
                  </a:srgbClr>
                </a:solidFill>
                <a:latin typeface="Arial" pitchFamily="34" charset="0"/>
                <a:ea typeface="Arial" pitchFamily="34" charset="-122"/>
                <a:cs typeface="Arial" pitchFamily="34" charset="-120"/>
              </a:rPr>
              <a:t>근거 카드 + 평가</a:t>
            </a:r>
            <a:endParaRPr lang="en-US" sz="1350" dirty="0"/>
          </a:p>
        </p:txBody>
      </p:sp>
      <p:sp>
        <p:nvSpPr>
          <p:cNvPr id="43" name="Shape 41"/>
          <p:cNvSpPr/>
          <p:nvPr/>
        </p:nvSpPr>
        <p:spPr>
          <a:xfrm>
            <a:off x="14144506" y="3536633"/>
            <a:ext cx="3152894" cy="563880"/>
          </a:xfrm>
          <a:prstGeom prst="roundRect">
            <a:avLst>
              <a:gd name="adj" fmla="val 15203"/>
            </a:avLst>
          </a:prstGeom>
          <a:solidFill>
            <a:srgbClr val="FFFFFF">
              <a:alpha val="18000"/>
            </a:srgbClr>
          </a:solidFill>
          <a:ln/>
        </p:spPr>
      </p:sp>
      <p:sp>
        <p:nvSpPr>
          <p:cNvPr id="44" name="Text 42"/>
          <p:cNvSpPr/>
          <p:nvPr/>
        </p:nvSpPr>
        <p:spPr>
          <a:xfrm>
            <a:off x="14211513" y="3612833"/>
            <a:ext cx="3018881" cy="449580"/>
          </a:xfrm>
          <a:prstGeom prst="rect">
            <a:avLst/>
          </a:prstGeom>
          <a:noFill/>
          <a:ln/>
        </p:spPr>
        <p:txBody>
          <a:bodyPr wrap="square" lIns="25400" tIns="25400" rIns="25400" bIns="25400" rtlCol="0" anchor="t">
            <a:normAutofit/>
          </a:bodyPr>
          <a:lstStyle/>
          <a:p>
            <a:pPr algn="ctr" indent="0" marL="0">
              <a:lnSpc>
                <a:spcPct val="135000"/>
              </a:lnSpc>
              <a:buNone/>
            </a:pPr>
            <a:r>
              <a:rPr lang="en-US" sz="1200" b="1" dirty="0">
                <a:solidFill>
                  <a:srgbClr val="FFFFFF"/>
                </a:solidFill>
                <a:highlight>
                  <a:srgbClr val="FFFFFF"/>
                </a:highlight>
                <a:latin typeface="Arial" pitchFamily="34" charset="0"/>
                <a:ea typeface="Arial" pitchFamily="34" charset="-122"/>
                <a:cs typeface="Arial" pitchFamily="34" charset="-120"/>
              </a:rPr>
              <a:t>출처 카드 + 👍 👎 피드백</a:t>
            </a:r>
            <a:endParaRPr lang="en-US" sz="1200" dirty="0"/>
          </a:p>
        </p:txBody>
      </p:sp>
      <p:sp>
        <p:nvSpPr>
          <p:cNvPr id="45" name="Shape 43"/>
          <p:cNvSpPr/>
          <p:nvPr/>
        </p:nvSpPr>
        <p:spPr>
          <a:xfrm>
            <a:off x="762000" y="4527233"/>
            <a:ext cx="16764000" cy="1230630"/>
          </a:xfrm>
          <a:prstGeom prst="roundRect">
            <a:avLst>
              <a:gd name="adj" fmla="val 13932"/>
            </a:avLst>
          </a:prstGeom>
          <a:solidFill>
            <a:srgbClr val="FFFFFF"/>
          </a:solidFill>
          <a:ln/>
          <a:effectLst>
            <a:outerShdw sx="100000" sy="100000" kx="0" ky="0" algn="bl" rotWithShape="0" blurRad="285750" dist="114300" dir="5400000">
              <a:srgbClr val="2E8BE0">
                <a:alpha val="8000"/>
              </a:srgbClr>
            </a:outerShdw>
          </a:effectLst>
        </p:spPr>
      </p:sp>
      <p:sp>
        <p:nvSpPr>
          <p:cNvPr id="46" name="Shape 44"/>
          <p:cNvSpPr/>
          <p:nvPr/>
        </p:nvSpPr>
        <p:spPr>
          <a:xfrm>
            <a:off x="762000" y="5750243"/>
            <a:ext cx="16764000" cy="9525"/>
          </a:xfrm>
          <a:prstGeom prst="rect">
            <a:avLst/>
          </a:prstGeom>
          <a:solidFill>
            <a:srgbClr val="E6EEF7"/>
          </a:solidFill>
          <a:ln/>
        </p:spPr>
      </p:sp>
      <p:sp>
        <p:nvSpPr>
          <p:cNvPr id="47" name="Shape 45"/>
          <p:cNvSpPr/>
          <p:nvPr/>
        </p:nvSpPr>
        <p:spPr>
          <a:xfrm>
            <a:off x="762000" y="4527233"/>
            <a:ext cx="16764000" cy="9525"/>
          </a:xfrm>
          <a:prstGeom prst="rect">
            <a:avLst/>
          </a:prstGeom>
          <a:solidFill>
            <a:srgbClr val="E6EEF7"/>
          </a:solidFill>
          <a:ln/>
        </p:spPr>
      </p:sp>
      <p:sp>
        <p:nvSpPr>
          <p:cNvPr id="48" name="Shape 46"/>
          <p:cNvSpPr/>
          <p:nvPr/>
        </p:nvSpPr>
        <p:spPr>
          <a:xfrm>
            <a:off x="762000" y="4527233"/>
            <a:ext cx="53340" cy="1230630"/>
          </a:xfrm>
          <a:prstGeom prst="rect">
            <a:avLst/>
          </a:prstGeom>
          <a:solidFill>
            <a:srgbClr val="1E6FBF"/>
          </a:solidFill>
          <a:ln/>
        </p:spPr>
      </p:sp>
      <p:sp>
        <p:nvSpPr>
          <p:cNvPr id="49" name="Shape 47"/>
          <p:cNvSpPr/>
          <p:nvPr/>
        </p:nvSpPr>
        <p:spPr>
          <a:xfrm>
            <a:off x="17518380" y="4527233"/>
            <a:ext cx="9525" cy="1230630"/>
          </a:xfrm>
          <a:prstGeom prst="rect">
            <a:avLst/>
          </a:prstGeom>
          <a:solidFill>
            <a:srgbClr val="E6EEF7"/>
          </a:solidFill>
          <a:ln/>
        </p:spPr>
      </p:sp>
      <p:sp>
        <p:nvSpPr>
          <p:cNvPr id="50" name="Text 48"/>
          <p:cNvSpPr/>
          <p:nvPr/>
        </p:nvSpPr>
        <p:spPr>
          <a:xfrm>
            <a:off x="1120140" y="4744403"/>
            <a:ext cx="1397437" cy="228600"/>
          </a:xfrm>
          <a:prstGeom prst="rect">
            <a:avLst/>
          </a:prstGeom>
          <a:noFill/>
          <a:ln/>
        </p:spPr>
        <p:txBody>
          <a:bodyPr wrap="square" lIns="25400" tIns="25400" rIns="25400" bIns="25400" rtlCol="0" anchor="t">
            <a:normAutofit/>
          </a:bodyPr>
          <a:lstStyle/>
          <a:p>
            <a:pPr algn="l" indent="0" marL="0">
              <a:buNone/>
            </a:pPr>
            <a:r>
              <a:rPr lang="en-US" sz="1050" b="1" spc="63" kern="0" dirty="0">
                <a:solidFill>
                  <a:srgbClr val="94A6BA"/>
                </a:solidFill>
                <a:latin typeface="Arial" pitchFamily="34" charset="0"/>
                <a:ea typeface="Arial" pitchFamily="34" charset="-122"/>
                <a:cs typeface="Arial" pitchFamily="34" charset="-120"/>
              </a:rPr>
              <a:t>API 계층</a:t>
            </a:r>
            <a:endParaRPr lang="en-US" sz="1050" dirty="0"/>
          </a:p>
        </p:txBody>
      </p:sp>
      <p:sp>
        <p:nvSpPr>
          <p:cNvPr id="51" name="Text 49"/>
          <p:cNvSpPr/>
          <p:nvPr/>
        </p:nvSpPr>
        <p:spPr>
          <a:xfrm>
            <a:off x="1120140" y="4992053"/>
            <a:ext cx="1397437" cy="365760"/>
          </a:xfrm>
          <a:prstGeom prst="rect">
            <a:avLst/>
          </a:prstGeom>
          <a:noFill/>
          <a:ln/>
        </p:spPr>
        <p:txBody>
          <a:bodyPr wrap="square" lIns="25400" tIns="25400" rIns="25400" bIns="25400" rtlCol="0" anchor="t">
            <a:normAutofit/>
          </a:bodyPr>
          <a:lstStyle/>
          <a:p>
            <a:pPr algn="l" indent="0" marL="0">
              <a:buNone/>
            </a:pPr>
            <a:r>
              <a:rPr lang="en-US" sz="2250" b="1" spc="-45" kern="0" dirty="0">
                <a:solidFill>
                  <a:srgbClr val="143257"/>
                </a:solidFill>
                <a:latin typeface="Arial" pitchFamily="34" charset="0"/>
                <a:ea typeface="Arial" pitchFamily="34" charset="-122"/>
                <a:cs typeface="Arial" pitchFamily="34" charset="-120"/>
              </a:rPr>
              <a:t>Django</a:t>
            </a:r>
            <a:endParaRPr lang="en-US" sz="2250" dirty="0"/>
          </a:p>
        </p:txBody>
      </p:sp>
      <p:sp>
        <p:nvSpPr>
          <p:cNvPr id="52" name="Text 50"/>
          <p:cNvSpPr/>
          <p:nvPr/>
        </p:nvSpPr>
        <p:spPr>
          <a:xfrm>
            <a:off x="1120140" y="5357813"/>
            <a:ext cx="1397437" cy="220980"/>
          </a:xfrm>
          <a:prstGeom prst="rect">
            <a:avLst/>
          </a:prstGeom>
          <a:noFill/>
          <a:ln/>
        </p:spPr>
        <p:txBody>
          <a:bodyPr wrap="square" lIns="25400" tIns="25400" rIns="25400" bIns="25400" rtlCol="0" anchor="t">
            <a:normAutofit/>
          </a:bodyPr>
          <a:lstStyle/>
          <a:p>
            <a:pPr algn="l" indent="0" marL="0">
              <a:buNone/>
            </a:pPr>
            <a:r>
              <a:rPr lang="en-US" sz="1200" b="1" dirty="0">
                <a:solidFill>
                  <a:srgbClr val="6E8197"/>
                </a:solidFill>
                <a:latin typeface="Arial" pitchFamily="34" charset="0"/>
                <a:ea typeface="Arial" pitchFamily="34" charset="-122"/>
                <a:cs typeface="Arial" pitchFamily="34" charset="-120"/>
              </a:rPr>
              <a:t>프론트 ↔ RAG 연결</a:t>
            </a:r>
            <a:endParaRPr lang="en-US" sz="1200" dirty="0"/>
          </a:p>
        </p:txBody>
      </p:sp>
      <p:sp>
        <p:nvSpPr>
          <p:cNvPr id="53" name="Shape 51"/>
          <p:cNvSpPr/>
          <p:nvPr/>
        </p:nvSpPr>
        <p:spPr>
          <a:xfrm>
            <a:off x="2676287" y="4744403"/>
            <a:ext cx="9525" cy="796290"/>
          </a:xfrm>
          <a:prstGeom prst="rect">
            <a:avLst/>
          </a:prstGeom>
          <a:solidFill>
            <a:srgbClr val="EAF0F6"/>
          </a:solidFill>
          <a:ln/>
        </p:spPr>
      </p:sp>
      <p:sp>
        <p:nvSpPr>
          <p:cNvPr id="54" name="Shape 52"/>
          <p:cNvSpPr/>
          <p:nvPr/>
        </p:nvSpPr>
        <p:spPr>
          <a:xfrm>
            <a:off x="2971562" y="4891088"/>
            <a:ext cx="3086100" cy="502920"/>
          </a:xfrm>
          <a:prstGeom prst="roundRect">
            <a:avLst>
              <a:gd name="adj" fmla="val 20833"/>
            </a:avLst>
          </a:prstGeom>
          <a:solidFill>
            <a:srgbClr val="F6FAFE"/>
          </a:solidFill>
          <a:ln/>
        </p:spPr>
      </p:sp>
      <p:sp>
        <p:nvSpPr>
          <p:cNvPr id="55" name="Text 53"/>
          <p:cNvSpPr/>
          <p:nvPr/>
        </p:nvSpPr>
        <p:spPr>
          <a:xfrm>
            <a:off x="3020520" y="5024437"/>
            <a:ext cx="2988183" cy="274320"/>
          </a:xfrm>
          <a:prstGeom prst="rect">
            <a:avLst/>
          </a:prstGeom>
          <a:noFill/>
          <a:ln/>
        </p:spPr>
        <p:txBody>
          <a:bodyPr wrap="square" lIns="25400" tIns="25400" rIns="25400" bIns="25400" rtlCol="0" anchor="t">
            <a:normAutofit/>
          </a:bodyPr>
          <a:lstStyle/>
          <a:p>
            <a:pPr algn="ctr" indent="0" marL="0">
              <a:buNone/>
            </a:pPr>
            <a:r>
              <a:rPr lang="en-US" sz="1275" b="1" dirty="0">
                <a:solidFill>
                  <a:srgbClr val="3C5066"/>
                </a:solidFill>
                <a:latin typeface="Arial" pitchFamily="34" charset="0"/>
                <a:ea typeface="Arial" pitchFamily="34" charset="-122"/>
                <a:cs typeface="Arial" pitchFamily="34" charset="-120"/>
              </a:rPr>
              <a:t>입력값 검증</a:t>
            </a:r>
            <a:endParaRPr lang="en-US" sz="1275" dirty="0"/>
          </a:p>
        </p:txBody>
      </p:sp>
      <p:sp>
        <p:nvSpPr>
          <p:cNvPr id="56" name="Text 54"/>
          <p:cNvSpPr/>
          <p:nvPr/>
        </p:nvSpPr>
        <p:spPr>
          <a:xfrm>
            <a:off x="6133862" y="5032057"/>
            <a:ext cx="266700" cy="259080"/>
          </a:xfrm>
          <a:prstGeom prst="rect">
            <a:avLst/>
          </a:prstGeom>
          <a:noFill/>
          <a:ln/>
        </p:spPr>
        <p:txBody>
          <a:bodyPr wrap="square" lIns="25400" tIns="25400" rIns="25400" bIns="25400" rtlCol="0" anchor="t">
            <a:normAutofit/>
          </a:bodyPr>
          <a:lstStyle/>
          <a:p>
            <a:pPr algn="l" indent="0" marL="0">
              <a:buNone/>
            </a:pPr>
            <a:r>
              <a:rPr lang="en-US" sz="1500" dirty="0">
                <a:solidFill>
                  <a:srgbClr val="C3D2E0"/>
                </a:solidFill>
                <a:latin typeface="Arial" pitchFamily="34" charset="0"/>
                <a:ea typeface="Arial" pitchFamily="34" charset="-122"/>
                <a:cs typeface="Arial" pitchFamily="34" charset="-120"/>
              </a:rPr>
              <a:t>→</a:t>
            </a:r>
            <a:endParaRPr lang="en-US" sz="1500" dirty="0"/>
          </a:p>
        </p:txBody>
      </p:sp>
      <p:sp>
        <p:nvSpPr>
          <p:cNvPr id="57" name="Shape 55"/>
          <p:cNvSpPr/>
          <p:nvPr/>
        </p:nvSpPr>
        <p:spPr>
          <a:xfrm>
            <a:off x="6400562" y="4891088"/>
            <a:ext cx="3086219" cy="502920"/>
          </a:xfrm>
          <a:prstGeom prst="roundRect">
            <a:avLst>
              <a:gd name="adj" fmla="val 20833"/>
            </a:avLst>
          </a:prstGeom>
          <a:solidFill>
            <a:srgbClr val="F6FAFE"/>
          </a:solidFill>
          <a:ln/>
        </p:spPr>
      </p:sp>
      <p:sp>
        <p:nvSpPr>
          <p:cNvPr id="58" name="Text 56"/>
          <p:cNvSpPr/>
          <p:nvPr/>
        </p:nvSpPr>
        <p:spPr>
          <a:xfrm>
            <a:off x="6449519" y="5024437"/>
            <a:ext cx="2988306" cy="274320"/>
          </a:xfrm>
          <a:prstGeom prst="rect">
            <a:avLst/>
          </a:prstGeom>
          <a:noFill/>
          <a:ln/>
        </p:spPr>
        <p:txBody>
          <a:bodyPr wrap="square" lIns="25400" tIns="25400" rIns="25400" bIns="25400" rtlCol="0" anchor="t">
            <a:normAutofit/>
          </a:bodyPr>
          <a:lstStyle/>
          <a:p>
            <a:pPr algn="ctr" indent="0" marL="0">
              <a:buNone/>
            </a:pPr>
            <a:r>
              <a:rPr lang="en-US" sz="1275" b="1" dirty="0">
                <a:solidFill>
                  <a:srgbClr val="3C5066"/>
                </a:solidFill>
                <a:latin typeface="Arial" pitchFamily="34" charset="0"/>
                <a:ea typeface="Arial" pitchFamily="34" charset="-122"/>
                <a:cs typeface="Arial" pitchFamily="34" charset="-120"/>
              </a:rPr>
              <a:t>세션·메시지 저장</a:t>
            </a:r>
            <a:endParaRPr lang="en-US" sz="1275" dirty="0"/>
          </a:p>
        </p:txBody>
      </p:sp>
      <p:sp>
        <p:nvSpPr>
          <p:cNvPr id="59" name="Text 57"/>
          <p:cNvSpPr/>
          <p:nvPr/>
        </p:nvSpPr>
        <p:spPr>
          <a:xfrm>
            <a:off x="9562981" y="5032057"/>
            <a:ext cx="266700" cy="259080"/>
          </a:xfrm>
          <a:prstGeom prst="rect">
            <a:avLst/>
          </a:prstGeom>
          <a:noFill/>
          <a:ln/>
        </p:spPr>
        <p:txBody>
          <a:bodyPr wrap="square" lIns="25400" tIns="25400" rIns="25400" bIns="25400" rtlCol="0" anchor="t">
            <a:normAutofit/>
          </a:bodyPr>
          <a:lstStyle/>
          <a:p>
            <a:pPr algn="l" indent="0" marL="0">
              <a:buNone/>
            </a:pPr>
            <a:r>
              <a:rPr lang="en-US" sz="1500" dirty="0">
                <a:solidFill>
                  <a:srgbClr val="C3D2E0"/>
                </a:solidFill>
                <a:latin typeface="Arial" pitchFamily="34" charset="0"/>
                <a:ea typeface="Arial" pitchFamily="34" charset="-122"/>
                <a:cs typeface="Arial" pitchFamily="34" charset="-120"/>
              </a:rPr>
              <a:t>→</a:t>
            </a:r>
            <a:endParaRPr lang="en-US" sz="1500" dirty="0"/>
          </a:p>
        </p:txBody>
      </p:sp>
      <p:sp>
        <p:nvSpPr>
          <p:cNvPr id="60" name="Shape 58"/>
          <p:cNvSpPr/>
          <p:nvPr/>
        </p:nvSpPr>
        <p:spPr>
          <a:xfrm>
            <a:off x="9829681" y="4891088"/>
            <a:ext cx="3086100" cy="502920"/>
          </a:xfrm>
          <a:prstGeom prst="roundRect">
            <a:avLst>
              <a:gd name="adj" fmla="val 20833"/>
            </a:avLst>
          </a:prstGeom>
          <a:solidFill>
            <a:srgbClr val="F6FAFE"/>
          </a:solidFill>
          <a:ln/>
        </p:spPr>
      </p:sp>
      <p:sp>
        <p:nvSpPr>
          <p:cNvPr id="61" name="Text 59"/>
          <p:cNvSpPr/>
          <p:nvPr/>
        </p:nvSpPr>
        <p:spPr>
          <a:xfrm>
            <a:off x="9878640" y="5024437"/>
            <a:ext cx="2988183" cy="274320"/>
          </a:xfrm>
          <a:prstGeom prst="rect">
            <a:avLst/>
          </a:prstGeom>
          <a:noFill/>
          <a:ln/>
        </p:spPr>
        <p:txBody>
          <a:bodyPr wrap="square" lIns="25400" tIns="25400" rIns="25400" bIns="25400" rtlCol="0" anchor="t">
            <a:normAutofit/>
          </a:bodyPr>
          <a:lstStyle/>
          <a:p>
            <a:pPr algn="ctr" indent="0" marL="0">
              <a:buNone/>
            </a:pPr>
            <a:r>
              <a:rPr lang="en-US" sz="1275" b="1" dirty="0">
                <a:solidFill>
                  <a:srgbClr val="3C5066"/>
                </a:solidFill>
                <a:latin typeface="Arial" pitchFamily="34" charset="0"/>
                <a:ea typeface="Arial" pitchFamily="34" charset="-122"/>
                <a:cs typeface="Arial" pitchFamily="34" charset="-120"/>
              </a:rPr>
              <a:t>RAG 파이프라인 호출</a:t>
            </a:r>
            <a:endParaRPr lang="en-US" sz="1275" dirty="0"/>
          </a:p>
        </p:txBody>
      </p:sp>
      <p:sp>
        <p:nvSpPr>
          <p:cNvPr id="62" name="Text 60"/>
          <p:cNvSpPr/>
          <p:nvPr/>
        </p:nvSpPr>
        <p:spPr>
          <a:xfrm>
            <a:off x="12991981" y="5032057"/>
            <a:ext cx="266700" cy="259080"/>
          </a:xfrm>
          <a:prstGeom prst="rect">
            <a:avLst/>
          </a:prstGeom>
          <a:noFill/>
          <a:ln/>
        </p:spPr>
        <p:txBody>
          <a:bodyPr wrap="square" lIns="25400" tIns="25400" rIns="25400" bIns="25400" rtlCol="0" anchor="t">
            <a:normAutofit/>
          </a:bodyPr>
          <a:lstStyle/>
          <a:p>
            <a:pPr algn="l" indent="0" marL="0">
              <a:buNone/>
            </a:pPr>
            <a:r>
              <a:rPr lang="en-US" sz="1500" dirty="0">
                <a:solidFill>
                  <a:srgbClr val="C3D2E0"/>
                </a:solidFill>
                <a:latin typeface="Arial" pitchFamily="34" charset="0"/>
                <a:ea typeface="Arial" pitchFamily="34" charset="-122"/>
                <a:cs typeface="Arial" pitchFamily="34" charset="-120"/>
              </a:rPr>
              <a:t>→</a:t>
            </a:r>
            <a:endParaRPr lang="en-US" sz="1500" dirty="0"/>
          </a:p>
        </p:txBody>
      </p:sp>
      <p:sp>
        <p:nvSpPr>
          <p:cNvPr id="63" name="Shape 61"/>
          <p:cNvSpPr/>
          <p:nvPr/>
        </p:nvSpPr>
        <p:spPr>
          <a:xfrm>
            <a:off x="13258681" y="4827270"/>
            <a:ext cx="3954899" cy="630555"/>
          </a:xfrm>
          <a:prstGeom prst="roundRect">
            <a:avLst>
              <a:gd name="adj" fmla="val 16616"/>
            </a:avLst>
          </a:prstGeom>
          <a:solidFill>
            <a:srgbClr val="EAF2FB"/>
          </a:solidFill>
          <a:ln/>
        </p:spPr>
      </p:sp>
      <p:sp>
        <p:nvSpPr>
          <p:cNvPr id="64" name="Text 62"/>
          <p:cNvSpPr/>
          <p:nvPr/>
        </p:nvSpPr>
        <p:spPr>
          <a:xfrm>
            <a:off x="13294608" y="4932045"/>
            <a:ext cx="3883046" cy="459105"/>
          </a:xfrm>
          <a:prstGeom prst="rect">
            <a:avLst/>
          </a:prstGeom>
          <a:noFill/>
          <a:ln/>
        </p:spPr>
        <p:txBody>
          <a:bodyPr wrap="square" lIns="25400" tIns="25400" rIns="25400" bIns="25400" rtlCol="0" anchor="t">
            <a:normAutofit/>
          </a:bodyPr>
          <a:lstStyle/>
          <a:p>
            <a:pPr algn="ctr" indent="0" marL="0">
              <a:lnSpc>
                <a:spcPct val="130000"/>
              </a:lnSpc>
              <a:buNone/>
            </a:pPr>
            <a:r>
              <a:rPr lang="en-US" sz="1275" b="1" dirty="0">
                <a:solidFill>
                  <a:srgbClr val="1E6FBF"/>
                </a:solidFill>
                <a:highlight>
                  <a:srgbClr val="EAF2FB"/>
                </a:highlight>
                <a:latin typeface="Arial" pitchFamily="34" charset="0"/>
                <a:ea typeface="Arial" pitchFamily="34" charset="-122"/>
                <a:cs typeface="Arial" pitchFamily="34" charset="-120"/>
              </a:rPr>
              <a:t>JSON 반환 </a:t>
            </a:r>
            <a:pPr algn="ctr" indent="0" marL="0">
              <a:lnSpc>
                <a:spcPct val="130000"/>
              </a:lnSpc>
              <a:buNone/>
            </a:pPr>
            <a:r>
              <a:rPr lang="en-US" sz="975" b="1" dirty="0">
                <a:solidFill>
                  <a:srgbClr val="6E8197"/>
                </a:solidFill>
                <a:latin typeface="Arial" pitchFamily="34" charset="0"/>
                <a:ea typeface="Arial" pitchFamily="34" charset="-122"/>
                <a:cs typeface="Arial" pitchFamily="34" charset="-120"/>
              </a:rPr>
              <a:t>답변·출처·라우팅·경고</a:t>
            </a:r>
            <a:endParaRPr lang="en-US" sz="127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EAF3FC">
                  <a:alpha val="100000"/>
                </a:srgbClr>
              </a:gs>
              <a:gs pos="100000">
                <a:srgbClr val="DDEBF8">
                  <a:alpha val="100000"/>
                </a:srgbClr>
              </a:gs>
            </a:gsLst>
            <a:lin ang="4200000" scaled="0"/>
          </a:gradFill>
          <a:ln/>
        </p:spPr>
      </p:sp>
      <p:sp>
        <p:nvSpPr>
          <p:cNvPr id="3" name="Shape 1"/>
          <p:cNvSpPr/>
          <p:nvPr/>
        </p:nvSpPr>
        <p:spPr>
          <a:xfrm>
            <a:off x="14728984" y="361950"/>
            <a:ext cx="570428" cy="278130"/>
          </a:xfrm>
          <a:prstGeom prst="roundRect">
            <a:avLst>
              <a:gd name="adj" fmla="val 50000"/>
            </a:avLst>
          </a:prstGeom>
          <a:solidFill>
            <a:srgbClr val="E6EEF7"/>
          </a:solidFill>
          <a:ln/>
        </p:spPr>
      </p:sp>
      <p:sp>
        <p:nvSpPr>
          <p:cNvPr id="4" name="Text 2"/>
          <p:cNvSpPr/>
          <p:nvPr/>
        </p:nvSpPr>
        <p:spPr>
          <a:xfrm>
            <a:off x="14843284" y="409575"/>
            <a:ext cx="418028" cy="220980"/>
          </a:xfrm>
          <a:prstGeom prst="rect">
            <a:avLst/>
          </a:prstGeom>
          <a:noFill/>
          <a:ln/>
        </p:spPr>
        <p:txBody>
          <a:bodyPr wrap="square" lIns="25400" tIns="25400" rIns="25400" bIns="25400" rtlCol="0" anchor="t">
            <a:normAutofit/>
          </a:bodyPr>
          <a:lstStyle/>
          <a:p>
            <a:pPr algn="l" indent="0" marL="0">
              <a:buNone/>
            </a:pPr>
            <a:r>
              <a:rPr lang="en-US" sz="975" b="1" dirty="0">
                <a:solidFill>
                  <a:srgbClr val="A7B8CA"/>
                </a:solidFill>
                <a:latin typeface="Arial" pitchFamily="34" charset="0"/>
                <a:ea typeface="Arial" pitchFamily="34" charset="-122"/>
                <a:cs typeface="Arial" pitchFamily="34" charset="-120"/>
              </a:rPr>
              <a:t>데이터</a:t>
            </a:r>
            <a:endParaRPr lang="en-US" sz="975" dirty="0"/>
          </a:p>
        </p:txBody>
      </p:sp>
      <p:sp>
        <p:nvSpPr>
          <p:cNvPr id="5" name="Shape 3"/>
          <p:cNvSpPr/>
          <p:nvPr/>
        </p:nvSpPr>
        <p:spPr>
          <a:xfrm>
            <a:off x="15356563" y="361950"/>
            <a:ext cx="400645" cy="278130"/>
          </a:xfrm>
          <a:prstGeom prst="roundRect">
            <a:avLst>
              <a:gd name="adj" fmla="val 50000"/>
            </a:avLst>
          </a:prstGeom>
          <a:solidFill>
            <a:srgbClr val="E6EEF7"/>
          </a:solidFill>
          <a:ln/>
        </p:spPr>
      </p:sp>
      <p:sp>
        <p:nvSpPr>
          <p:cNvPr id="6" name="Text 4"/>
          <p:cNvSpPr/>
          <p:nvPr/>
        </p:nvSpPr>
        <p:spPr>
          <a:xfrm>
            <a:off x="15470863" y="409575"/>
            <a:ext cx="248245" cy="220980"/>
          </a:xfrm>
          <a:prstGeom prst="rect">
            <a:avLst/>
          </a:prstGeom>
          <a:noFill/>
          <a:ln/>
        </p:spPr>
        <p:txBody>
          <a:bodyPr wrap="square" lIns="25400" tIns="25400" rIns="25400" bIns="25400" rtlCol="0" anchor="t">
            <a:normAutofit/>
          </a:bodyPr>
          <a:lstStyle/>
          <a:p>
            <a:pPr algn="l" indent="0" marL="0">
              <a:buNone/>
            </a:pPr>
            <a:r>
              <a:rPr lang="en-US" sz="975" b="1" dirty="0">
                <a:solidFill>
                  <a:srgbClr val="A7B8CA"/>
                </a:solidFill>
                <a:latin typeface="Arial" pitchFamily="34" charset="0"/>
                <a:ea typeface="Arial" pitchFamily="34" charset="-122"/>
                <a:cs typeface="Arial" pitchFamily="34" charset="-120"/>
              </a:rPr>
              <a:t>DB</a:t>
            </a:r>
            <a:endParaRPr lang="en-US" sz="975" dirty="0"/>
          </a:p>
        </p:txBody>
      </p:sp>
      <p:sp>
        <p:nvSpPr>
          <p:cNvPr id="7" name="Shape 5"/>
          <p:cNvSpPr/>
          <p:nvPr/>
        </p:nvSpPr>
        <p:spPr>
          <a:xfrm>
            <a:off x="15814358" y="361950"/>
            <a:ext cx="570428" cy="278130"/>
          </a:xfrm>
          <a:prstGeom prst="roundRect">
            <a:avLst>
              <a:gd name="adj" fmla="val 50000"/>
            </a:avLst>
          </a:prstGeom>
          <a:solidFill>
            <a:srgbClr val="2E8BE0"/>
          </a:solidFill>
          <a:ln/>
        </p:spPr>
      </p:sp>
      <p:sp>
        <p:nvSpPr>
          <p:cNvPr id="8" name="Text 6"/>
          <p:cNvSpPr/>
          <p:nvPr/>
        </p:nvSpPr>
        <p:spPr>
          <a:xfrm>
            <a:off x="15928658" y="409575"/>
            <a:ext cx="418028" cy="220980"/>
          </a:xfrm>
          <a:prstGeom prst="rect">
            <a:avLst/>
          </a:prstGeom>
          <a:noFill/>
          <a:ln/>
        </p:spPr>
        <p:txBody>
          <a:bodyPr wrap="square" lIns="25400" tIns="25400" rIns="25400" bIns="25400" rtlCol="0" anchor="t">
            <a:normAutofit/>
          </a:bodyPr>
          <a:lstStyle/>
          <a:p>
            <a:pPr algn="l" indent="0" marL="0">
              <a:buNone/>
            </a:pPr>
            <a:r>
              <a:rPr lang="en-US" sz="975" b="1" dirty="0">
                <a:solidFill>
                  <a:srgbClr val="FFFFFF"/>
                </a:solidFill>
                <a:latin typeface="Arial" pitchFamily="34" charset="0"/>
                <a:ea typeface="Arial" pitchFamily="34" charset="-122"/>
                <a:cs typeface="Arial" pitchFamily="34" charset="-120"/>
              </a:rPr>
              <a:t>백엔드</a:t>
            </a:r>
            <a:endParaRPr lang="en-US" sz="975" dirty="0"/>
          </a:p>
        </p:txBody>
      </p:sp>
      <p:sp>
        <p:nvSpPr>
          <p:cNvPr id="9" name="Shape 7"/>
          <p:cNvSpPr/>
          <p:nvPr/>
        </p:nvSpPr>
        <p:spPr>
          <a:xfrm>
            <a:off x="16441936" y="361950"/>
            <a:ext cx="570428" cy="278130"/>
          </a:xfrm>
          <a:prstGeom prst="roundRect">
            <a:avLst>
              <a:gd name="adj" fmla="val 50000"/>
            </a:avLst>
          </a:prstGeom>
          <a:solidFill>
            <a:srgbClr val="E6EEF7"/>
          </a:solidFill>
          <a:ln/>
        </p:spPr>
      </p:sp>
      <p:sp>
        <p:nvSpPr>
          <p:cNvPr id="10" name="Text 8"/>
          <p:cNvSpPr/>
          <p:nvPr/>
        </p:nvSpPr>
        <p:spPr>
          <a:xfrm>
            <a:off x="16556236" y="409575"/>
            <a:ext cx="418028" cy="220980"/>
          </a:xfrm>
          <a:prstGeom prst="rect">
            <a:avLst/>
          </a:prstGeom>
          <a:noFill/>
          <a:ln/>
        </p:spPr>
        <p:txBody>
          <a:bodyPr wrap="square" lIns="25400" tIns="25400" rIns="25400" bIns="25400" rtlCol="0" anchor="t">
            <a:normAutofit/>
          </a:bodyPr>
          <a:lstStyle/>
          <a:p>
            <a:pPr algn="l" indent="0" marL="0">
              <a:buNone/>
            </a:pPr>
            <a:r>
              <a:rPr lang="en-US" sz="975" b="1" dirty="0">
                <a:solidFill>
                  <a:srgbClr val="A7B8CA"/>
                </a:solidFill>
                <a:latin typeface="Arial" pitchFamily="34" charset="0"/>
                <a:ea typeface="Arial" pitchFamily="34" charset="-122"/>
                <a:cs typeface="Arial" pitchFamily="34" charset="-120"/>
              </a:rPr>
              <a:t>프론트</a:t>
            </a:r>
            <a:endParaRPr lang="en-US" sz="975" dirty="0"/>
          </a:p>
        </p:txBody>
      </p:sp>
      <p:sp>
        <p:nvSpPr>
          <p:cNvPr id="11" name="Shape 9"/>
          <p:cNvSpPr/>
          <p:nvPr/>
        </p:nvSpPr>
        <p:spPr>
          <a:xfrm>
            <a:off x="17069515" y="361950"/>
            <a:ext cx="456486" cy="278130"/>
          </a:xfrm>
          <a:prstGeom prst="roundRect">
            <a:avLst>
              <a:gd name="adj" fmla="val 50000"/>
            </a:avLst>
          </a:prstGeom>
          <a:solidFill>
            <a:srgbClr val="E6EEF7"/>
          </a:solidFill>
          <a:ln/>
        </p:spPr>
      </p:sp>
      <p:sp>
        <p:nvSpPr>
          <p:cNvPr id="12" name="Text 10"/>
          <p:cNvSpPr/>
          <p:nvPr/>
        </p:nvSpPr>
        <p:spPr>
          <a:xfrm>
            <a:off x="17183815" y="409575"/>
            <a:ext cx="304086" cy="220980"/>
          </a:xfrm>
          <a:prstGeom prst="rect">
            <a:avLst/>
          </a:prstGeom>
          <a:noFill/>
          <a:ln/>
        </p:spPr>
        <p:txBody>
          <a:bodyPr wrap="square" lIns="25400" tIns="25400" rIns="25400" bIns="25400" rtlCol="0" anchor="t">
            <a:normAutofit/>
          </a:bodyPr>
          <a:lstStyle/>
          <a:p>
            <a:pPr algn="l" indent="0" marL="0">
              <a:buNone/>
            </a:pPr>
            <a:r>
              <a:rPr lang="en-US" sz="975" b="1" dirty="0">
                <a:solidFill>
                  <a:srgbClr val="A7B8CA"/>
                </a:solidFill>
                <a:latin typeface="Arial" pitchFamily="34" charset="0"/>
                <a:ea typeface="Arial" pitchFamily="34" charset="-122"/>
                <a:cs typeface="Arial" pitchFamily="34" charset="-120"/>
              </a:rPr>
              <a:t>배포</a:t>
            </a:r>
            <a:endParaRPr lang="en-US" sz="975" dirty="0"/>
          </a:p>
        </p:txBody>
      </p:sp>
      <p:sp>
        <p:nvSpPr>
          <p:cNvPr id="13" name="Text 11"/>
          <p:cNvSpPr/>
          <p:nvPr/>
        </p:nvSpPr>
        <p:spPr>
          <a:xfrm>
            <a:off x="762000" y="609600"/>
            <a:ext cx="1441180" cy="259080"/>
          </a:xfrm>
          <a:prstGeom prst="rect">
            <a:avLst/>
          </a:prstGeom>
          <a:noFill/>
          <a:ln/>
        </p:spPr>
        <p:txBody>
          <a:bodyPr wrap="square" lIns="25400" tIns="25400" rIns="25400" bIns="25400" rtlCol="0" anchor="t">
            <a:normAutofit/>
          </a:bodyPr>
          <a:lstStyle/>
          <a:p>
            <a:pPr algn="l" indent="0" marL="0">
              <a:buNone/>
            </a:pPr>
            <a:r>
              <a:rPr lang="en-US" sz="1200" b="1" spc="48" kern="0" dirty="0">
                <a:solidFill>
                  <a:srgbClr val="1E6FBF"/>
                </a:solidFill>
                <a:latin typeface="Arial" pitchFamily="34" charset="0"/>
                <a:ea typeface="Arial" pitchFamily="34" charset="-122"/>
                <a:cs typeface="Arial" pitchFamily="34" charset="-120"/>
              </a:rPr>
              <a:t>10 · 측정 기반 개선</a:t>
            </a:r>
            <a:endParaRPr lang="en-US" sz="1200" dirty="0"/>
          </a:p>
        </p:txBody>
      </p:sp>
      <p:sp>
        <p:nvSpPr>
          <p:cNvPr id="14" name="Text 12"/>
          <p:cNvSpPr/>
          <p:nvPr/>
        </p:nvSpPr>
        <p:spPr>
          <a:xfrm>
            <a:off x="2224564" y="617220"/>
            <a:ext cx="824270" cy="243840"/>
          </a:xfrm>
          <a:prstGeom prst="rect">
            <a:avLst/>
          </a:prstGeom>
          <a:noFill/>
          <a:ln/>
        </p:spPr>
        <p:txBody>
          <a:bodyPr wrap="square" lIns="25400" tIns="25400" rIns="25400" bIns="25400" rtlCol="0" anchor="t">
            <a:normAutofit/>
          </a:bodyPr>
          <a:lstStyle/>
          <a:p>
            <a:pPr algn="l" indent="0" marL="0">
              <a:buNone/>
            </a:pPr>
            <a:r>
              <a:rPr lang="en-US" sz="1125" b="1" dirty="0">
                <a:solidFill>
                  <a:srgbClr val="8AA0B6"/>
                </a:solidFill>
                <a:latin typeface="Arial" pitchFamily="34" charset="0"/>
                <a:ea typeface="Arial" pitchFamily="34" charset="-122"/>
                <a:cs typeface="Arial" pitchFamily="34" charset="-120"/>
              </a:rPr>
              <a:t>★ 핵심 성과</a:t>
            </a:r>
            <a:endParaRPr lang="en-US" sz="1125" dirty="0"/>
          </a:p>
        </p:txBody>
      </p:sp>
      <p:sp>
        <p:nvSpPr>
          <p:cNvPr id="15" name="Text 13"/>
          <p:cNvSpPr/>
          <p:nvPr/>
        </p:nvSpPr>
        <p:spPr>
          <a:xfrm>
            <a:off x="762000" y="925830"/>
            <a:ext cx="18440400" cy="754380"/>
          </a:xfrm>
          <a:prstGeom prst="rect">
            <a:avLst/>
          </a:prstGeom>
          <a:noFill/>
          <a:ln/>
        </p:spPr>
        <p:txBody>
          <a:bodyPr wrap="square" lIns="25400" tIns="25400" rIns="25400" bIns="25400" rtlCol="0" anchor="t">
            <a:normAutofit/>
          </a:bodyPr>
          <a:lstStyle/>
          <a:p>
            <a:pPr algn="l" indent="0" marL="0">
              <a:buNone/>
            </a:pPr>
            <a:r>
              <a:rPr lang="en-US" sz="3900" b="1" spc="-117" kern="0" dirty="0">
                <a:solidFill>
                  <a:srgbClr val="143257"/>
                </a:solidFill>
                <a:latin typeface="Arial" pitchFamily="34" charset="0"/>
                <a:ea typeface="Arial" pitchFamily="34" charset="-122"/>
                <a:cs typeface="Arial" pitchFamily="34" charset="-120"/>
              </a:rPr>
              <a:t>추측이 아니라, </a:t>
            </a:r>
            <a:pPr algn="l" indent="0" marL="0">
              <a:buNone/>
            </a:pPr>
            <a:r>
              <a:rPr lang="en-US" sz="3900" b="1" spc="-117" kern="0" dirty="0">
                <a:solidFill>
                  <a:srgbClr val="2E8BE0"/>
                </a:solidFill>
                <a:latin typeface="Arial" pitchFamily="34" charset="0"/>
                <a:ea typeface="Arial" pitchFamily="34" charset="-122"/>
                <a:cs typeface="Arial" pitchFamily="34" charset="-120"/>
              </a:rPr>
              <a:t>수치로 </a:t>
            </a:r>
            <a:pPr algn="l" indent="0" marL="0">
              <a:buNone/>
            </a:pPr>
            <a:r>
              <a:rPr lang="en-US" sz="3900" b="1" spc="-117" kern="0" dirty="0">
                <a:solidFill>
                  <a:srgbClr val="143257"/>
                </a:solidFill>
                <a:latin typeface="Arial" pitchFamily="34" charset="0"/>
                <a:ea typeface="Arial" pitchFamily="34" charset="-122"/>
                <a:cs typeface="Arial" pitchFamily="34" charset="-120"/>
              </a:rPr>
              <a:t>개선했습니다</a:t>
            </a:r>
            <a:endParaRPr lang="en-US" sz="3900" dirty="0"/>
          </a:p>
        </p:txBody>
      </p:sp>
      <p:sp>
        <p:nvSpPr>
          <p:cNvPr id="16" name="Text 14"/>
          <p:cNvSpPr/>
          <p:nvPr/>
        </p:nvSpPr>
        <p:spPr>
          <a:xfrm>
            <a:off x="762000" y="1699260"/>
            <a:ext cx="18440400" cy="350520"/>
          </a:xfrm>
          <a:prstGeom prst="rect">
            <a:avLst/>
          </a:prstGeom>
          <a:noFill/>
          <a:ln/>
        </p:spPr>
        <p:txBody>
          <a:bodyPr wrap="square" lIns="25400" tIns="25400" rIns="25400" bIns="25400" rtlCol="0" anchor="t">
            <a:normAutofit/>
          </a:bodyPr>
          <a:lstStyle/>
          <a:p>
            <a:pPr algn="l" indent="0" marL="0">
              <a:buNone/>
            </a:pPr>
            <a:r>
              <a:rPr lang="en-US" sz="1725" b="1" dirty="0">
                <a:solidFill>
                  <a:srgbClr val="51657B"/>
                </a:solidFill>
                <a:latin typeface="Arial" pitchFamily="34" charset="0"/>
                <a:ea typeface="Arial" pitchFamily="34" charset="-122"/>
                <a:cs typeface="Arial" pitchFamily="34" charset="-120"/>
              </a:rPr>
              <a:t>평가셋 39문항으로 측정 → 병목은 검색이 아니라 </a:t>
            </a:r>
            <a:pPr algn="l" indent="0" marL="0">
              <a:buNone/>
            </a:pPr>
            <a:r>
              <a:rPr lang="en-US" sz="1725" b="1" dirty="0">
                <a:solidFill>
                  <a:srgbClr val="143257"/>
                </a:solidFill>
                <a:latin typeface="Arial" pitchFamily="34" charset="0"/>
                <a:ea typeface="Arial" pitchFamily="34" charset="-122"/>
                <a:cs typeface="Arial" pitchFamily="34" charset="-120"/>
              </a:rPr>
              <a:t>라우팅</a:t>
            </a:r>
            <a:pPr algn="l" indent="0" marL="0">
              <a:buNone/>
            </a:pPr>
            <a:r>
              <a:rPr lang="en-US" sz="1725" b="1" dirty="0">
                <a:solidFill>
                  <a:srgbClr val="51657B"/>
                </a:solidFill>
                <a:latin typeface="Arial" pitchFamily="34" charset="0"/>
                <a:ea typeface="Arial" pitchFamily="34" charset="-122"/>
                <a:cs typeface="Arial" pitchFamily="34" charset="-120"/>
              </a:rPr>
              <a:t>임을 발견</a:t>
            </a:r>
            <a:endParaRPr lang="en-US" sz="1725" dirty="0"/>
          </a:p>
        </p:txBody>
      </p:sp>
      <p:sp>
        <p:nvSpPr>
          <p:cNvPr id="17" name="Shape 15"/>
          <p:cNvSpPr/>
          <p:nvPr/>
        </p:nvSpPr>
        <p:spPr>
          <a:xfrm>
            <a:off x="762000" y="2392680"/>
            <a:ext cx="5435561" cy="7284720"/>
          </a:xfrm>
          <a:prstGeom prst="roundRect">
            <a:avLst>
              <a:gd name="adj" fmla="val 3855"/>
            </a:avLst>
          </a:prstGeom>
          <a:solidFill>
            <a:srgbClr val="FFFFFF"/>
          </a:solidFill>
          <a:ln/>
          <a:effectLst>
            <a:outerShdw sx="100000" sy="100000" kx="0" ky="0" algn="bl" rotWithShape="0" blurRad="361950" dist="152400" dir="5400000">
              <a:srgbClr val="2E8BE0">
                <a:alpha val="14000"/>
              </a:srgbClr>
            </a:outerShdw>
          </a:effectLst>
        </p:spPr>
      </p:sp>
      <p:sp>
        <p:nvSpPr>
          <p:cNvPr id="18" name="Text 16"/>
          <p:cNvSpPr/>
          <p:nvPr/>
        </p:nvSpPr>
        <p:spPr>
          <a:xfrm>
            <a:off x="1085850" y="2716530"/>
            <a:ext cx="654606" cy="342900"/>
          </a:xfrm>
          <a:prstGeom prst="rect">
            <a:avLst/>
          </a:prstGeom>
          <a:noFill/>
          <a:ln/>
        </p:spPr>
        <p:txBody>
          <a:bodyPr wrap="square" lIns="25400" tIns="25400" rIns="25400" bIns="25400" rtlCol="0" anchor="t">
            <a:normAutofit/>
          </a:bodyPr>
          <a:lstStyle/>
          <a:p>
            <a:pPr algn="l" indent="0" marL="0">
              <a:buNone/>
            </a:pPr>
            <a:r>
              <a:rPr lang="en-US" sz="1650" b="1" dirty="0">
                <a:solidFill>
                  <a:srgbClr val="143257"/>
                </a:solidFill>
                <a:latin typeface="Arial" pitchFamily="34" charset="0"/>
                <a:ea typeface="Arial" pitchFamily="34" charset="-122"/>
                <a:cs typeface="Arial" pitchFamily="34" charset="-120"/>
              </a:rPr>
              <a:t>답변율</a:t>
            </a:r>
            <a:endParaRPr lang="en-US" sz="1650" dirty="0"/>
          </a:p>
        </p:txBody>
      </p:sp>
      <p:sp>
        <p:nvSpPr>
          <p:cNvPr id="19" name="Shape 17"/>
          <p:cNvSpPr/>
          <p:nvPr/>
        </p:nvSpPr>
        <p:spPr>
          <a:xfrm>
            <a:off x="5123498" y="2720340"/>
            <a:ext cx="750213" cy="297180"/>
          </a:xfrm>
          <a:prstGeom prst="roundRect">
            <a:avLst>
              <a:gd name="adj" fmla="val 50000"/>
            </a:avLst>
          </a:prstGeom>
          <a:solidFill>
            <a:srgbClr val="EAF2FB"/>
          </a:solidFill>
          <a:ln/>
        </p:spPr>
      </p:sp>
      <p:sp>
        <p:nvSpPr>
          <p:cNvPr id="20" name="Text 18"/>
          <p:cNvSpPr/>
          <p:nvPr/>
        </p:nvSpPr>
        <p:spPr>
          <a:xfrm>
            <a:off x="5247323" y="2777490"/>
            <a:ext cx="578763" cy="220980"/>
          </a:xfrm>
          <a:prstGeom prst="rect">
            <a:avLst/>
          </a:prstGeom>
          <a:noFill/>
          <a:ln/>
        </p:spPr>
        <p:txBody>
          <a:bodyPr wrap="square" lIns="25400" tIns="25400" rIns="25400" bIns="25400" rtlCol="0" anchor="t">
            <a:normAutofit/>
          </a:bodyPr>
          <a:lstStyle/>
          <a:p>
            <a:pPr algn="l" indent="0" marL="0">
              <a:buNone/>
            </a:pPr>
            <a:r>
              <a:rPr lang="en-US" sz="975" b="1" spc="20" kern="0" dirty="0">
                <a:solidFill>
                  <a:srgbClr val="2E8BE0"/>
                </a:solidFill>
                <a:latin typeface="Arial" pitchFamily="34" charset="0"/>
                <a:ea typeface="Arial" pitchFamily="34" charset="-122"/>
                <a:cs typeface="Arial" pitchFamily="34" charset="-120"/>
              </a:rPr>
              <a:t>측정 전후</a:t>
            </a:r>
            <a:endParaRPr lang="en-US" sz="975" dirty="0"/>
          </a:p>
        </p:txBody>
      </p:sp>
      <p:sp>
        <p:nvSpPr>
          <p:cNvPr id="21" name="Text 19"/>
          <p:cNvSpPr/>
          <p:nvPr/>
        </p:nvSpPr>
        <p:spPr>
          <a:xfrm>
            <a:off x="1085850" y="4457105"/>
            <a:ext cx="1822168" cy="781050"/>
          </a:xfrm>
          <a:prstGeom prst="rect">
            <a:avLst/>
          </a:prstGeom>
          <a:noFill/>
          <a:ln/>
        </p:spPr>
        <p:txBody>
          <a:bodyPr wrap="square" lIns="25400" tIns="25400" rIns="25400" bIns="25400" rtlCol="0" anchor="t">
            <a:normAutofit/>
          </a:bodyPr>
          <a:lstStyle/>
          <a:p>
            <a:pPr algn="l" indent="0" marL="0">
              <a:lnSpc>
                <a:spcPct val="100000"/>
              </a:lnSpc>
              <a:buNone/>
            </a:pPr>
            <a:r>
              <a:rPr lang="en-US" sz="5850" b="1" spc="-175" kern="0" dirty="0">
                <a:solidFill>
                  <a:srgbClr val="2E8BE0"/>
                </a:solidFill>
                <a:latin typeface="Arial" pitchFamily="34" charset="0"/>
                <a:ea typeface="Arial" pitchFamily="34" charset="-122"/>
                <a:cs typeface="Arial" pitchFamily="34" charset="-120"/>
              </a:rPr>
              <a:t>94.9</a:t>
            </a:r>
            <a:pPr algn="l" indent="0" marL="0">
              <a:lnSpc>
                <a:spcPct val="100000"/>
              </a:lnSpc>
              <a:buNone/>
            </a:pPr>
            <a:r>
              <a:rPr lang="en-US" sz="2850" b="1" spc="-175" kern="0" dirty="0">
                <a:solidFill>
                  <a:srgbClr val="2E8BE0"/>
                </a:solidFill>
                <a:latin typeface="Arial" pitchFamily="34" charset="0"/>
                <a:ea typeface="Arial" pitchFamily="34" charset="-122"/>
                <a:cs typeface="Arial" pitchFamily="34" charset="-120"/>
              </a:rPr>
              <a:t>%</a:t>
            </a:r>
            <a:endParaRPr lang="en-US" sz="5850" dirty="0"/>
          </a:p>
        </p:txBody>
      </p:sp>
      <p:sp>
        <p:nvSpPr>
          <p:cNvPr id="22" name="Shape 20"/>
          <p:cNvSpPr/>
          <p:nvPr/>
        </p:nvSpPr>
        <p:spPr>
          <a:xfrm>
            <a:off x="2875717" y="4870490"/>
            <a:ext cx="1021199" cy="323850"/>
          </a:xfrm>
          <a:prstGeom prst="roundRect">
            <a:avLst>
              <a:gd name="adj" fmla="val 50000"/>
            </a:avLst>
          </a:prstGeom>
          <a:solidFill>
            <a:srgbClr val="E7F6EF"/>
          </a:solidFill>
          <a:ln/>
        </p:spPr>
      </p:sp>
      <p:sp>
        <p:nvSpPr>
          <p:cNvPr id="23" name="Text 21"/>
          <p:cNvSpPr/>
          <p:nvPr/>
        </p:nvSpPr>
        <p:spPr>
          <a:xfrm>
            <a:off x="3009067" y="4937165"/>
            <a:ext cx="830699" cy="228600"/>
          </a:xfrm>
          <a:prstGeom prst="rect">
            <a:avLst/>
          </a:prstGeom>
          <a:noFill/>
          <a:ln/>
        </p:spPr>
        <p:txBody>
          <a:bodyPr wrap="square" lIns="25400" tIns="25400" rIns="25400" bIns="25400" rtlCol="0" anchor="t">
            <a:normAutofit/>
          </a:bodyPr>
          <a:lstStyle/>
          <a:p>
            <a:pPr algn="l" indent="0" marL="0">
              <a:buNone/>
            </a:pPr>
            <a:r>
              <a:rPr lang="en-US" sz="1275" b="1" dirty="0">
                <a:solidFill>
                  <a:srgbClr val="22A06B"/>
                </a:solidFill>
                <a:latin typeface="Arial" pitchFamily="34" charset="0"/>
                <a:ea typeface="Arial" pitchFamily="34" charset="-122"/>
                <a:cs typeface="Arial" pitchFamily="34" charset="-120"/>
              </a:rPr>
              <a:t>▲ 28.2%p</a:t>
            </a:r>
            <a:endParaRPr lang="en-US" sz="1275" dirty="0"/>
          </a:p>
        </p:txBody>
      </p:sp>
      <p:sp>
        <p:nvSpPr>
          <p:cNvPr id="24" name="Text 22"/>
          <p:cNvSpPr/>
          <p:nvPr/>
        </p:nvSpPr>
        <p:spPr>
          <a:xfrm>
            <a:off x="1085850" y="6635711"/>
            <a:ext cx="347663" cy="243840"/>
          </a:xfrm>
          <a:prstGeom prst="rect">
            <a:avLst/>
          </a:prstGeom>
          <a:noFill/>
          <a:ln/>
        </p:spPr>
        <p:txBody>
          <a:bodyPr wrap="square" lIns="25400" tIns="25400" rIns="25400" bIns="25400" rtlCol="0" anchor="t">
            <a:normAutofit/>
          </a:bodyPr>
          <a:lstStyle/>
          <a:p>
            <a:pPr algn="l" indent="0" marL="0">
              <a:buNone/>
            </a:pPr>
            <a:r>
              <a:rPr lang="en-US" sz="1125" b="1" spc="34" kern="0" dirty="0">
                <a:solidFill>
                  <a:srgbClr val="94A6BA"/>
                </a:solidFill>
                <a:latin typeface="Arial" pitchFamily="34" charset="0"/>
                <a:ea typeface="Arial" pitchFamily="34" charset="-122"/>
                <a:cs typeface="Arial" pitchFamily="34" charset="-120"/>
              </a:rPr>
              <a:t>이전</a:t>
            </a:r>
            <a:endParaRPr lang="en-US" sz="1125" dirty="0"/>
          </a:p>
        </p:txBody>
      </p:sp>
      <p:sp>
        <p:nvSpPr>
          <p:cNvPr id="25" name="Text 23"/>
          <p:cNvSpPr/>
          <p:nvPr/>
        </p:nvSpPr>
        <p:spPr>
          <a:xfrm>
            <a:off x="5387459" y="6650950"/>
            <a:ext cx="562451" cy="236220"/>
          </a:xfrm>
          <a:prstGeom prst="rect">
            <a:avLst/>
          </a:prstGeom>
          <a:noFill/>
          <a:ln/>
        </p:spPr>
        <p:txBody>
          <a:bodyPr wrap="square" lIns="25400" tIns="25400" rIns="25400" bIns="25400" rtlCol="0" anchor="t">
            <a:normAutofit/>
          </a:bodyPr>
          <a:lstStyle/>
          <a:p>
            <a:pPr algn="l" indent="0" marL="0">
              <a:buNone/>
            </a:pPr>
            <a:r>
              <a:rPr lang="en-US" sz="1350" b="1" dirty="0">
                <a:solidFill>
                  <a:srgbClr val="94A6BA"/>
                </a:solidFill>
                <a:latin typeface="Arial" pitchFamily="34" charset="0"/>
                <a:ea typeface="Arial" pitchFamily="34" charset="-122"/>
                <a:cs typeface="Arial" pitchFamily="34" charset="-120"/>
              </a:rPr>
              <a:t>66.7%</a:t>
            </a:r>
            <a:endParaRPr lang="en-US" sz="1350" dirty="0"/>
          </a:p>
        </p:txBody>
      </p:sp>
      <p:sp>
        <p:nvSpPr>
          <p:cNvPr id="26" name="Shape 24"/>
          <p:cNvSpPr/>
          <p:nvPr/>
        </p:nvSpPr>
        <p:spPr>
          <a:xfrm>
            <a:off x="1085850" y="6915745"/>
            <a:ext cx="4787860" cy="123825"/>
          </a:xfrm>
          <a:prstGeom prst="roundRect">
            <a:avLst>
              <a:gd name="adj" fmla="val 50000"/>
            </a:avLst>
          </a:prstGeom>
          <a:solidFill>
            <a:srgbClr val="EBF0F6"/>
          </a:solidFill>
          <a:ln/>
        </p:spPr>
      </p:sp>
      <p:sp>
        <p:nvSpPr>
          <p:cNvPr id="27" name="Shape 25"/>
          <p:cNvSpPr/>
          <p:nvPr/>
        </p:nvSpPr>
        <p:spPr>
          <a:xfrm>
            <a:off x="1085850" y="6915745"/>
            <a:ext cx="3193494" cy="123825"/>
          </a:xfrm>
          <a:prstGeom prst="roundRect">
            <a:avLst>
              <a:gd name="adj" fmla="val 50000"/>
            </a:avLst>
          </a:prstGeom>
          <a:solidFill>
            <a:srgbClr val="C2D0DE"/>
          </a:solidFill>
          <a:ln/>
        </p:spPr>
      </p:sp>
      <p:sp>
        <p:nvSpPr>
          <p:cNvPr id="28" name="Text 26"/>
          <p:cNvSpPr/>
          <p:nvPr/>
        </p:nvSpPr>
        <p:spPr>
          <a:xfrm>
            <a:off x="1085850" y="7182445"/>
            <a:ext cx="347663" cy="243840"/>
          </a:xfrm>
          <a:prstGeom prst="rect">
            <a:avLst/>
          </a:prstGeom>
          <a:noFill/>
          <a:ln/>
        </p:spPr>
        <p:txBody>
          <a:bodyPr wrap="square" lIns="25400" tIns="25400" rIns="25400" bIns="25400" rtlCol="0" anchor="t">
            <a:normAutofit/>
          </a:bodyPr>
          <a:lstStyle/>
          <a:p>
            <a:pPr algn="l" indent="0" marL="0">
              <a:buNone/>
            </a:pPr>
            <a:r>
              <a:rPr lang="en-US" sz="1125" b="1" spc="34" kern="0" dirty="0">
                <a:solidFill>
                  <a:srgbClr val="2E8BE0"/>
                </a:solidFill>
                <a:latin typeface="Arial" pitchFamily="34" charset="0"/>
                <a:ea typeface="Arial" pitchFamily="34" charset="-122"/>
                <a:cs typeface="Arial" pitchFamily="34" charset="-120"/>
              </a:rPr>
              <a:t>현재</a:t>
            </a:r>
            <a:endParaRPr lang="en-US" sz="1125" dirty="0"/>
          </a:p>
        </p:txBody>
      </p:sp>
      <p:sp>
        <p:nvSpPr>
          <p:cNvPr id="29" name="Text 27"/>
          <p:cNvSpPr/>
          <p:nvPr/>
        </p:nvSpPr>
        <p:spPr>
          <a:xfrm>
            <a:off x="5387459" y="7197686"/>
            <a:ext cx="562451" cy="236220"/>
          </a:xfrm>
          <a:prstGeom prst="rect">
            <a:avLst/>
          </a:prstGeom>
          <a:noFill/>
          <a:ln/>
        </p:spPr>
        <p:txBody>
          <a:bodyPr wrap="square" lIns="25400" tIns="25400" rIns="25400" bIns="25400" rtlCol="0" anchor="t">
            <a:normAutofit/>
          </a:bodyPr>
          <a:lstStyle/>
          <a:p>
            <a:pPr algn="l" indent="0" marL="0">
              <a:buNone/>
            </a:pPr>
            <a:r>
              <a:rPr lang="en-US" sz="1350" b="1" dirty="0">
                <a:solidFill>
                  <a:srgbClr val="2E8BE0"/>
                </a:solidFill>
                <a:latin typeface="Arial" pitchFamily="34" charset="0"/>
                <a:ea typeface="Arial" pitchFamily="34" charset="-122"/>
                <a:cs typeface="Arial" pitchFamily="34" charset="-120"/>
              </a:rPr>
              <a:t>94.9%</a:t>
            </a:r>
            <a:endParaRPr lang="en-US" sz="1350" dirty="0"/>
          </a:p>
        </p:txBody>
      </p:sp>
      <p:sp>
        <p:nvSpPr>
          <p:cNvPr id="30" name="Shape 28"/>
          <p:cNvSpPr/>
          <p:nvPr/>
        </p:nvSpPr>
        <p:spPr>
          <a:xfrm>
            <a:off x="1085850" y="7462481"/>
            <a:ext cx="4787860" cy="123825"/>
          </a:xfrm>
          <a:prstGeom prst="roundRect">
            <a:avLst>
              <a:gd name="adj" fmla="val 50000"/>
            </a:avLst>
          </a:prstGeom>
          <a:solidFill>
            <a:srgbClr val="EBF0F6"/>
          </a:solidFill>
          <a:ln/>
        </p:spPr>
      </p:sp>
      <p:sp>
        <p:nvSpPr>
          <p:cNvPr id="31" name="Shape 29"/>
          <p:cNvSpPr/>
          <p:nvPr/>
        </p:nvSpPr>
        <p:spPr>
          <a:xfrm>
            <a:off x="1085850" y="7462481"/>
            <a:ext cx="4543663" cy="123825"/>
          </a:xfrm>
          <a:prstGeom prst="roundRect">
            <a:avLst>
              <a:gd name="adj" fmla="val 50000"/>
            </a:avLst>
          </a:prstGeom>
          <a:gradFill rotWithShape="1">
            <a:gsLst>
              <a:gs pos="0">
                <a:srgbClr val="43A0EC">
                  <a:alpha val="100000"/>
                </a:srgbClr>
              </a:gs>
              <a:gs pos="100000">
                <a:srgbClr val="2477CE">
                  <a:alpha val="100000"/>
                </a:srgbClr>
              </a:gs>
            </a:gsLst>
            <a:lin ang="0" scaled="0"/>
          </a:gradFill>
          <a:ln/>
        </p:spPr>
      </p:sp>
      <p:sp>
        <p:nvSpPr>
          <p:cNvPr id="32" name="Shape 30"/>
          <p:cNvSpPr/>
          <p:nvPr/>
        </p:nvSpPr>
        <p:spPr>
          <a:xfrm>
            <a:off x="1085850" y="9022080"/>
            <a:ext cx="4787860" cy="9525"/>
          </a:xfrm>
          <a:prstGeom prst="rect">
            <a:avLst/>
          </a:prstGeom>
          <a:solidFill>
            <a:srgbClr val="EDF2F8"/>
          </a:solidFill>
          <a:ln/>
        </p:spPr>
      </p:sp>
      <p:sp>
        <p:nvSpPr>
          <p:cNvPr id="33" name="Text 31"/>
          <p:cNvSpPr/>
          <p:nvPr/>
        </p:nvSpPr>
        <p:spPr>
          <a:xfrm>
            <a:off x="1085850" y="9153525"/>
            <a:ext cx="4931496" cy="238125"/>
          </a:xfrm>
          <a:prstGeom prst="rect">
            <a:avLst/>
          </a:prstGeom>
          <a:noFill/>
          <a:ln/>
        </p:spPr>
        <p:txBody>
          <a:bodyPr wrap="none" lIns="25400" tIns="25400" rIns="25400" bIns="25400" rtlCol="0" anchor="t">
            <a:normAutofit/>
          </a:bodyPr>
          <a:lstStyle/>
          <a:p>
            <a:pPr algn="l" indent="0" marL="0">
              <a:lnSpc>
                <a:spcPct val="140000"/>
              </a:lnSpc>
              <a:buNone/>
            </a:pPr>
            <a:r>
              <a:rPr lang="en-US" sz="1125" b="1" dirty="0">
                <a:solidFill>
                  <a:srgbClr val="6E8197"/>
                </a:solidFill>
                <a:latin typeface="Arial" pitchFamily="34" charset="0"/>
                <a:ea typeface="Arial" pitchFamily="34" charset="-122"/>
                <a:cs typeface="Arial" pitchFamily="34" charset="-120"/>
              </a:rPr>
              <a:t>답을 못 하던 질문까지 </a:t>
            </a:r>
            <a:pPr algn="l" indent="0" marL="0">
              <a:lnSpc>
                <a:spcPct val="140000"/>
              </a:lnSpc>
              <a:buNone/>
            </a:pPr>
            <a:r>
              <a:rPr lang="en-US" sz="1125" b="1" dirty="0">
                <a:solidFill>
                  <a:srgbClr val="143257"/>
                </a:solidFill>
                <a:latin typeface="Arial" pitchFamily="34" charset="0"/>
                <a:ea typeface="Arial" pitchFamily="34" charset="-122"/>
                <a:cs typeface="Arial" pitchFamily="34" charset="-120"/>
              </a:rPr>
              <a:t>답변 성공</a:t>
            </a:r>
            <a:endParaRPr lang="en-US" sz="1125" dirty="0"/>
          </a:p>
        </p:txBody>
      </p:sp>
      <p:sp>
        <p:nvSpPr>
          <p:cNvPr id="34" name="Shape 32"/>
          <p:cNvSpPr/>
          <p:nvPr/>
        </p:nvSpPr>
        <p:spPr>
          <a:xfrm>
            <a:off x="6426161" y="2392680"/>
            <a:ext cx="5435679" cy="7284720"/>
          </a:xfrm>
          <a:prstGeom prst="roundRect">
            <a:avLst>
              <a:gd name="adj" fmla="val 3855"/>
            </a:avLst>
          </a:prstGeom>
          <a:solidFill>
            <a:srgbClr val="FFFFFF"/>
          </a:solidFill>
          <a:ln/>
          <a:effectLst>
            <a:outerShdw sx="100000" sy="100000" kx="0" ky="0" algn="bl" rotWithShape="0" blurRad="361950" dist="152400" dir="5400000">
              <a:srgbClr val="2E8BE0">
                <a:alpha val="14000"/>
              </a:srgbClr>
            </a:outerShdw>
          </a:effectLst>
        </p:spPr>
      </p:sp>
      <p:sp>
        <p:nvSpPr>
          <p:cNvPr id="35" name="Text 33"/>
          <p:cNvSpPr/>
          <p:nvPr/>
        </p:nvSpPr>
        <p:spPr>
          <a:xfrm>
            <a:off x="6750011" y="2716530"/>
            <a:ext cx="1098352" cy="342900"/>
          </a:xfrm>
          <a:prstGeom prst="rect">
            <a:avLst/>
          </a:prstGeom>
          <a:noFill/>
          <a:ln/>
        </p:spPr>
        <p:txBody>
          <a:bodyPr wrap="square" lIns="25400" tIns="25400" rIns="25400" bIns="25400" rtlCol="0" anchor="t">
            <a:normAutofit/>
          </a:bodyPr>
          <a:lstStyle/>
          <a:p>
            <a:pPr algn="l" indent="0" marL="0">
              <a:buNone/>
            </a:pPr>
            <a:r>
              <a:rPr lang="en-US" sz="1650" b="1" dirty="0">
                <a:solidFill>
                  <a:srgbClr val="143257"/>
                </a:solidFill>
                <a:latin typeface="Arial" pitchFamily="34" charset="0"/>
                <a:ea typeface="Arial" pitchFamily="34" charset="-122"/>
                <a:cs typeface="Arial" pitchFamily="34" charset="-120"/>
              </a:rPr>
              <a:t>출처 정확도</a:t>
            </a:r>
            <a:endParaRPr lang="en-US" sz="1650" dirty="0"/>
          </a:p>
        </p:txBody>
      </p:sp>
      <p:sp>
        <p:nvSpPr>
          <p:cNvPr id="36" name="Shape 34"/>
          <p:cNvSpPr/>
          <p:nvPr/>
        </p:nvSpPr>
        <p:spPr>
          <a:xfrm>
            <a:off x="10787778" y="2720340"/>
            <a:ext cx="750213" cy="297180"/>
          </a:xfrm>
          <a:prstGeom prst="roundRect">
            <a:avLst>
              <a:gd name="adj" fmla="val 50000"/>
            </a:avLst>
          </a:prstGeom>
          <a:solidFill>
            <a:srgbClr val="EAF2FB"/>
          </a:solidFill>
          <a:ln/>
        </p:spPr>
      </p:sp>
      <p:sp>
        <p:nvSpPr>
          <p:cNvPr id="37" name="Text 35"/>
          <p:cNvSpPr/>
          <p:nvPr/>
        </p:nvSpPr>
        <p:spPr>
          <a:xfrm>
            <a:off x="10911603" y="2777490"/>
            <a:ext cx="578763" cy="220980"/>
          </a:xfrm>
          <a:prstGeom prst="rect">
            <a:avLst/>
          </a:prstGeom>
          <a:noFill/>
          <a:ln/>
        </p:spPr>
        <p:txBody>
          <a:bodyPr wrap="square" lIns="25400" tIns="25400" rIns="25400" bIns="25400" rtlCol="0" anchor="t">
            <a:normAutofit/>
          </a:bodyPr>
          <a:lstStyle/>
          <a:p>
            <a:pPr algn="l" indent="0" marL="0">
              <a:buNone/>
            </a:pPr>
            <a:r>
              <a:rPr lang="en-US" sz="975" b="1" spc="20" kern="0" dirty="0">
                <a:solidFill>
                  <a:srgbClr val="2E8BE0"/>
                </a:solidFill>
                <a:latin typeface="Arial" pitchFamily="34" charset="0"/>
                <a:ea typeface="Arial" pitchFamily="34" charset="-122"/>
                <a:cs typeface="Arial" pitchFamily="34" charset="-120"/>
              </a:rPr>
              <a:t>측정 전후</a:t>
            </a:r>
            <a:endParaRPr lang="en-US" sz="975" dirty="0"/>
          </a:p>
        </p:txBody>
      </p:sp>
      <p:sp>
        <p:nvSpPr>
          <p:cNvPr id="38" name="Text 36"/>
          <p:cNvSpPr/>
          <p:nvPr/>
        </p:nvSpPr>
        <p:spPr>
          <a:xfrm>
            <a:off x="6750011" y="4457105"/>
            <a:ext cx="1822168" cy="781050"/>
          </a:xfrm>
          <a:prstGeom prst="rect">
            <a:avLst/>
          </a:prstGeom>
          <a:noFill/>
          <a:ln/>
        </p:spPr>
        <p:txBody>
          <a:bodyPr wrap="square" lIns="25400" tIns="25400" rIns="25400" bIns="25400" rtlCol="0" anchor="t">
            <a:normAutofit/>
          </a:bodyPr>
          <a:lstStyle/>
          <a:p>
            <a:pPr algn="l" indent="0" marL="0">
              <a:lnSpc>
                <a:spcPct val="100000"/>
              </a:lnSpc>
              <a:buNone/>
            </a:pPr>
            <a:r>
              <a:rPr lang="en-US" sz="5850" b="1" spc="-175" kern="0" dirty="0">
                <a:solidFill>
                  <a:srgbClr val="2E8BE0"/>
                </a:solidFill>
                <a:latin typeface="Arial" pitchFamily="34" charset="0"/>
                <a:ea typeface="Arial" pitchFamily="34" charset="-122"/>
                <a:cs typeface="Arial" pitchFamily="34" charset="-120"/>
              </a:rPr>
              <a:t>87.2</a:t>
            </a:r>
            <a:pPr algn="l" indent="0" marL="0">
              <a:lnSpc>
                <a:spcPct val="100000"/>
              </a:lnSpc>
              <a:buNone/>
            </a:pPr>
            <a:r>
              <a:rPr lang="en-US" sz="2850" b="1" spc="-175" kern="0" dirty="0">
                <a:solidFill>
                  <a:srgbClr val="2E8BE0"/>
                </a:solidFill>
                <a:latin typeface="Arial" pitchFamily="34" charset="0"/>
                <a:ea typeface="Arial" pitchFamily="34" charset="-122"/>
                <a:cs typeface="Arial" pitchFamily="34" charset="-120"/>
              </a:rPr>
              <a:t>%</a:t>
            </a:r>
            <a:endParaRPr lang="en-US" sz="5850" dirty="0"/>
          </a:p>
        </p:txBody>
      </p:sp>
      <p:sp>
        <p:nvSpPr>
          <p:cNvPr id="39" name="Shape 37"/>
          <p:cNvSpPr/>
          <p:nvPr/>
        </p:nvSpPr>
        <p:spPr>
          <a:xfrm>
            <a:off x="8539877" y="4870490"/>
            <a:ext cx="1021199" cy="323850"/>
          </a:xfrm>
          <a:prstGeom prst="roundRect">
            <a:avLst>
              <a:gd name="adj" fmla="val 50000"/>
            </a:avLst>
          </a:prstGeom>
          <a:solidFill>
            <a:srgbClr val="E7F6EF"/>
          </a:solidFill>
          <a:ln/>
        </p:spPr>
      </p:sp>
      <p:sp>
        <p:nvSpPr>
          <p:cNvPr id="40" name="Text 38"/>
          <p:cNvSpPr/>
          <p:nvPr/>
        </p:nvSpPr>
        <p:spPr>
          <a:xfrm>
            <a:off x="8673227" y="4937165"/>
            <a:ext cx="830699" cy="228600"/>
          </a:xfrm>
          <a:prstGeom prst="rect">
            <a:avLst/>
          </a:prstGeom>
          <a:noFill/>
          <a:ln/>
        </p:spPr>
        <p:txBody>
          <a:bodyPr wrap="square" lIns="25400" tIns="25400" rIns="25400" bIns="25400" rtlCol="0" anchor="t">
            <a:normAutofit/>
          </a:bodyPr>
          <a:lstStyle/>
          <a:p>
            <a:pPr algn="l" indent="0" marL="0">
              <a:buNone/>
            </a:pPr>
            <a:r>
              <a:rPr lang="en-US" sz="1275" b="1" dirty="0">
                <a:solidFill>
                  <a:srgbClr val="22A06B"/>
                </a:solidFill>
                <a:latin typeface="Arial" pitchFamily="34" charset="0"/>
                <a:ea typeface="Arial" pitchFamily="34" charset="-122"/>
                <a:cs typeface="Arial" pitchFamily="34" charset="-120"/>
              </a:rPr>
              <a:t>▲ 28.2%p</a:t>
            </a:r>
            <a:endParaRPr lang="en-US" sz="1275" dirty="0"/>
          </a:p>
        </p:txBody>
      </p:sp>
      <p:sp>
        <p:nvSpPr>
          <p:cNvPr id="41" name="Text 39"/>
          <p:cNvSpPr/>
          <p:nvPr/>
        </p:nvSpPr>
        <p:spPr>
          <a:xfrm>
            <a:off x="6750011" y="6635711"/>
            <a:ext cx="347663" cy="243840"/>
          </a:xfrm>
          <a:prstGeom prst="rect">
            <a:avLst/>
          </a:prstGeom>
          <a:noFill/>
          <a:ln/>
        </p:spPr>
        <p:txBody>
          <a:bodyPr wrap="square" lIns="25400" tIns="25400" rIns="25400" bIns="25400" rtlCol="0" anchor="t">
            <a:normAutofit/>
          </a:bodyPr>
          <a:lstStyle/>
          <a:p>
            <a:pPr algn="l" indent="0" marL="0">
              <a:buNone/>
            </a:pPr>
            <a:r>
              <a:rPr lang="en-US" sz="1125" b="1" spc="34" kern="0" dirty="0">
                <a:solidFill>
                  <a:srgbClr val="94A6BA"/>
                </a:solidFill>
                <a:latin typeface="Arial" pitchFamily="34" charset="0"/>
                <a:ea typeface="Arial" pitchFamily="34" charset="-122"/>
                <a:cs typeface="Arial" pitchFamily="34" charset="-120"/>
              </a:rPr>
              <a:t>이전</a:t>
            </a:r>
            <a:endParaRPr lang="en-US" sz="1125" dirty="0"/>
          </a:p>
        </p:txBody>
      </p:sp>
      <p:sp>
        <p:nvSpPr>
          <p:cNvPr id="42" name="Text 40"/>
          <p:cNvSpPr/>
          <p:nvPr/>
        </p:nvSpPr>
        <p:spPr>
          <a:xfrm>
            <a:off x="11194733" y="6650950"/>
            <a:ext cx="419457" cy="236220"/>
          </a:xfrm>
          <a:prstGeom prst="rect">
            <a:avLst/>
          </a:prstGeom>
          <a:noFill/>
          <a:ln/>
        </p:spPr>
        <p:txBody>
          <a:bodyPr wrap="square" lIns="25400" tIns="25400" rIns="25400" bIns="25400" rtlCol="0" anchor="t">
            <a:normAutofit/>
          </a:bodyPr>
          <a:lstStyle/>
          <a:p>
            <a:pPr algn="l" indent="0" marL="0">
              <a:buNone/>
            </a:pPr>
            <a:r>
              <a:rPr lang="en-US" sz="1350" b="1" dirty="0">
                <a:solidFill>
                  <a:srgbClr val="94A6BA"/>
                </a:solidFill>
                <a:latin typeface="Arial" pitchFamily="34" charset="0"/>
                <a:ea typeface="Arial" pitchFamily="34" charset="-122"/>
                <a:cs typeface="Arial" pitchFamily="34" charset="-120"/>
              </a:rPr>
              <a:t>59%</a:t>
            </a:r>
            <a:endParaRPr lang="en-US" sz="1350" dirty="0"/>
          </a:p>
        </p:txBody>
      </p:sp>
      <p:sp>
        <p:nvSpPr>
          <p:cNvPr id="43" name="Shape 41"/>
          <p:cNvSpPr/>
          <p:nvPr/>
        </p:nvSpPr>
        <p:spPr>
          <a:xfrm>
            <a:off x="6750011" y="6915745"/>
            <a:ext cx="4787980" cy="123825"/>
          </a:xfrm>
          <a:prstGeom prst="roundRect">
            <a:avLst>
              <a:gd name="adj" fmla="val 50000"/>
            </a:avLst>
          </a:prstGeom>
          <a:solidFill>
            <a:srgbClr val="EBF0F6"/>
          </a:solidFill>
          <a:ln/>
        </p:spPr>
      </p:sp>
      <p:sp>
        <p:nvSpPr>
          <p:cNvPr id="44" name="Shape 42"/>
          <p:cNvSpPr/>
          <p:nvPr/>
        </p:nvSpPr>
        <p:spPr>
          <a:xfrm>
            <a:off x="6750011" y="6915745"/>
            <a:ext cx="2824877" cy="123825"/>
          </a:xfrm>
          <a:prstGeom prst="roundRect">
            <a:avLst>
              <a:gd name="adj" fmla="val 50000"/>
            </a:avLst>
          </a:prstGeom>
          <a:solidFill>
            <a:srgbClr val="C2D0DE"/>
          </a:solidFill>
          <a:ln/>
        </p:spPr>
      </p:sp>
      <p:sp>
        <p:nvSpPr>
          <p:cNvPr id="45" name="Text 43"/>
          <p:cNvSpPr/>
          <p:nvPr/>
        </p:nvSpPr>
        <p:spPr>
          <a:xfrm>
            <a:off x="6750011" y="7182445"/>
            <a:ext cx="347663" cy="243840"/>
          </a:xfrm>
          <a:prstGeom prst="rect">
            <a:avLst/>
          </a:prstGeom>
          <a:noFill/>
          <a:ln/>
        </p:spPr>
        <p:txBody>
          <a:bodyPr wrap="square" lIns="25400" tIns="25400" rIns="25400" bIns="25400" rtlCol="0" anchor="t">
            <a:normAutofit/>
          </a:bodyPr>
          <a:lstStyle/>
          <a:p>
            <a:pPr algn="l" indent="0" marL="0">
              <a:buNone/>
            </a:pPr>
            <a:r>
              <a:rPr lang="en-US" sz="1125" b="1" spc="34" kern="0" dirty="0">
                <a:solidFill>
                  <a:srgbClr val="2E8BE0"/>
                </a:solidFill>
                <a:latin typeface="Arial" pitchFamily="34" charset="0"/>
                <a:ea typeface="Arial" pitchFamily="34" charset="-122"/>
                <a:cs typeface="Arial" pitchFamily="34" charset="-120"/>
              </a:rPr>
              <a:t>현재</a:t>
            </a:r>
            <a:endParaRPr lang="en-US" sz="1125" dirty="0"/>
          </a:p>
        </p:txBody>
      </p:sp>
      <p:sp>
        <p:nvSpPr>
          <p:cNvPr id="46" name="Text 44"/>
          <p:cNvSpPr/>
          <p:nvPr/>
        </p:nvSpPr>
        <p:spPr>
          <a:xfrm>
            <a:off x="11051738" y="7197686"/>
            <a:ext cx="562451" cy="236220"/>
          </a:xfrm>
          <a:prstGeom prst="rect">
            <a:avLst/>
          </a:prstGeom>
          <a:noFill/>
          <a:ln/>
        </p:spPr>
        <p:txBody>
          <a:bodyPr wrap="square" lIns="25400" tIns="25400" rIns="25400" bIns="25400" rtlCol="0" anchor="t">
            <a:normAutofit/>
          </a:bodyPr>
          <a:lstStyle/>
          <a:p>
            <a:pPr algn="l" indent="0" marL="0">
              <a:buNone/>
            </a:pPr>
            <a:r>
              <a:rPr lang="en-US" sz="1350" b="1" dirty="0">
                <a:solidFill>
                  <a:srgbClr val="2E8BE0"/>
                </a:solidFill>
                <a:latin typeface="Arial" pitchFamily="34" charset="0"/>
                <a:ea typeface="Arial" pitchFamily="34" charset="-122"/>
                <a:cs typeface="Arial" pitchFamily="34" charset="-120"/>
              </a:rPr>
              <a:t>87.2%</a:t>
            </a:r>
            <a:endParaRPr lang="en-US" sz="1350" dirty="0"/>
          </a:p>
        </p:txBody>
      </p:sp>
      <p:sp>
        <p:nvSpPr>
          <p:cNvPr id="47" name="Shape 45"/>
          <p:cNvSpPr/>
          <p:nvPr/>
        </p:nvSpPr>
        <p:spPr>
          <a:xfrm>
            <a:off x="6750011" y="7462481"/>
            <a:ext cx="4787980" cy="123825"/>
          </a:xfrm>
          <a:prstGeom prst="roundRect">
            <a:avLst>
              <a:gd name="adj" fmla="val 50000"/>
            </a:avLst>
          </a:prstGeom>
          <a:solidFill>
            <a:srgbClr val="EBF0F6"/>
          </a:solidFill>
          <a:ln/>
        </p:spPr>
      </p:sp>
      <p:sp>
        <p:nvSpPr>
          <p:cNvPr id="48" name="Shape 46"/>
          <p:cNvSpPr/>
          <p:nvPr/>
        </p:nvSpPr>
        <p:spPr>
          <a:xfrm>
            <a:off x="6750011" y="7462481"/>
            <a:ext cx="4175046" cy="123825"/>
          </a:xfrm>
          <a:prstGeom prst="roundRect">
            <a:avLst>
              <a:gd name="adj" fmla="val 50000"/>
            </a:avLst>
          </a:prstGeom>
          <a:gradFill rotWithShape="1">
            <a:gsLst>
              <a:gs pos="0">
                <a:srgbClr val="43A0EC">
                  <a:alpha val="100000"/>
                </a:srgbClr>
              </a:gs>
              <a:gs pos="100000">
                <a:srgbClr val="2477CE">
                  <a:alpha val="100000"/>
                </a:srgbClr>
              </a:gs>
            </a:gsLst>
            <a:lin ang="0" scaled="0"/>
          </a:gradFill>
          <a:ln/>
        </p:spPr>
      </p:sp>
      <p:sp>
        <p:nvSpPr>
          <p:cNvPr id="49" name="Shape 47"/>
          <p:cNvSpPr/>
          <p:nvPr/>
        </p:nvSpPr>
        <p:spPr>
          <a:xfrm>
            <a:off x="6750011" y="9022080"/>
            <a:ext cx="4787980" cy="9525"/>
          </a:xfrm>
          <a:prstGeom prst="rect">
            <a:avLst/>
          </a:prstGeom>
          <a:solidFill>
            <a:srgbClr val="EDF2F8"/>
          </a:solidFill>
          <a:ln/>
        </p:spPr>
      </p:sp>
      <p:sp>
        <p:nvSpPr>
          <p:cNvPr id="50" name="Text 48"/>
          <p:cNvSpPr/>
          <p:nvPr/>
        </p:nvSpPr>
        <p:spPr>
          <a:xfrm>
            <a:off x="6750011" y="9153525"/>
            <a:ext cx="4931619" cy="238125"/>
          </a:xfrm>
          <a:prstGeom prst="rect">
            <a:avLst/>
          </a:prstGeom>
          <a:noFill/>
          <a:ln/>
        </p:spPr>
        <p:txBody>
          <a:bodyPr wrap="none" lIns="25400" tIns="25400" rIns="25400" bIns="25400" rtlCol="0" anchor="t">
            <a:normAutofit/>
          </a:bodyPr>
          <a:lstStyle/>
          <a:p>
            <a:pPr algn="l" indent="0" marL="0">
              <a:lnSpc>
                <a:spcPct val="140000"/>
              </a:lnSpc>
              <a:buNone/>
            </a:pPr>
            <a:r>
              <a:rPr lang="en-US" sz="1125" b="1" dirty="0">
                <a:solidFill>
                  <a:srgbClr val="6E8197"/>
                </a:solidFill>
                <a:latin typeface="Arial" pitchFamily="34" charset="0"/>
                <a:ea typeface="Arial" pitchFamily="34" charset="-122"/>
                <a:cs typeface="Arial" pitchFamily="34" charset="-120"/>
              </a:rPr>
              <a:t>맞는 출처를 </a:t>
            </a:r>
            <a:pPr algn="l" indent="0" marL="0">
              <a:lnSpc>
                <a:spcPct val="140000"/>
              </a:lnSpc>
              <a:buNone/>
            </a:pPr>
            <a:r>
              <a:rPr lang="en-US" sz="1125" b="1" dirty="0">
                <a:solidFill>
                  <a:srgbClr val="143257"/>
                </a:solidFill>
                <a:latin typeface="Arial" pitchFamily="34" charset="0"/>
                <a:ea typeface="Arial" pitchFamily="34" charset="-122"/>
                <a:cs typeface="Arial" pitchFamily="34" charset="-120"/>
              </a:rPr>
              <a:t>더 정확히 </a:t>
            </a:r>
            <a:pPr algn="l" indent="0" marL="0">
              <a:lnSpc>
                <a:spcPct val="140000"/>
              </a:lnSpc>
              <a:buNone/>
            </a:pPr>
            <a:r>
              <a:rPr lang="en-US" sz="1125" b="1" dirty="0">
                <a:solidFill>
                  <a:srgbClr val="6E8197"/>
                </a:solidFill>
                <a:latin typeface="Arial" pitchFamily="34" charset="0"/>
                <a:ea typeface="Arial" pitchFamily="34" charset="-122"/>
                <a:cs typeface="Arial" pitchFamily="34" charset="-120"/>
              </a:rPr>
              <a:t>제시</a:t>
            </a:r>
            <a:endParaRPr lang="en-US" sz="1125" dirty="0"/>
          </a:p>
        </p:txBody>
      </p:sp>
      <p:sp>
        <p:nvSpPr>
          <p:cNvPr id="51" name="Shape 49"/>
          <p:cNvSpPr/>
          <p:nvPr/>
        </p:nvSpPr>
        <p:spPr>
          <a:xfrm>
            <a:off x="12090440" y="2392680"/>
            <a:ext cx="5435561" cy="7284720"/>
          </a:xfrm>
          <a:prstGeom prst="roundRect">
            <a:avLst>
              <a:gd name="adj" fmla="val 3855"/>
            </a:avLst>
          </a:prstGeom>
          <a:solidFill>
            <a:srgbClr val="143257"/>
          </a:solidFill>
          <a:ln/>
          <a:effectLst>
            <a:outerShdw sx="100000" sy="100000" kx="0" ky="0" algn="bl" rotWithShape="0" blurRad="361950" dist="152400" dir="5400000">
              <a:srgbClr val="143257">
                <a:alpha val="24000"/>
              </a:srgbClr>
            </a:outerShdw>
          </a:effectLst>
        </p:spPr>
      </p:sp>
      <p:sp>
        <p:nvSpPr>
          <p:cNvPr id="52" name="Text 50"/>
          <p:cNvSpPr/>
          <p:nvPr/>
        </p:nvSpPr>
        <p:spPr>
          <a:xfrm>
            <a:off x="12414290" y="2716530"/>
            <a:ext cx="1070610" cy="342900"/>
          </a:xfrm>
          <a:prstGeom prst="rect">
            <a:avLst/>
          </a:prstGeom>
          <a:noFill/>
          <a:ln/>
        </p:spPr>
        <p:txBody>
          <a:bodyPr wrap="square" lIns="25400" tIns="25400" rIns="25400" bIns="25400" rtlCol="0" anchor="t">
            <a:normAutofit/>
          </a:bodyPr>
          <a:lstStyle/>
          <a:p>
            <a:pPr algn="l" indent="0" marL="0">
              <a:buNone/>
            </a:pPr>
            <a:r>
              <a:rPr lang="en-US" sz="1650" b="1" dirty="0">
                <a:solidFill>
                  <a:srgbClr val="FFFFFF"/>
                </a:solidFill>
                <a:latin typeface="Arial" pitchFamily="34" charset="0"/>
                <a:ea typeface="Arial" pitchFamily="34" charset="-122"/>
                <a:cs typeface="Arial" pitchFamily="34" charset="-120"/>
              </a:rPr>
              <a:t>검색 hit@5</a:t>
            </a:r>
            <a:endParaRPr lang="en-US" sz="1650" dirty="0"/>
          </a:p>
        </p:txBody>
      </p:sp>
      <p:sp>
        <p:nvSpPr>
          <p:cNvPr id="53" name="Shape 51"/>
          <p:cNvSpPr/>
          <p:nvPr/>
        </p:nvSpPr>
        <p:spPr>
          <a:xfrm>
            <a:off x="16451938" y="2720340"/>
            <a:ext cx="750213" cy="297180"/>
          </a:xfrm>
          <a:prstGeom prst="roundRect">
            <a:avLst>
              <a:gd name="adj" fmla="val 50000"/>
            </a:avLst>
          </a:prstGeom>
          <a:solidFill>
            <a:srgbClr val="7CC2F5">
              <a:alpha val="18000"/>
            </a:srgbClr>
          </a:solidFill>
          <a:ln/>
        </p:spPr>
      </p:sp>
      <p:sp>
        <p:nvSpPr>
          <p:cNvPr id="54" name="Text 52"/>
          <p:cNvSpPr/>
          <p:nvPr/>
        </p:nvSpPr>
        <p:spPr>
          <a:xfrm>
            <a:off x="16575763" y="2777490"/>
            <a:ext cx="578763" cy="220980"/>
          </a:xfrm>
          <a:prstGeom prst="rect">
            <a:avLst/>
          </a:prstGeom>
          <a:noFill/>
          <a:ln/>
        </p:spPr>
        <p:txBody>
          <a:bodyPr wrap="square" lIns="25400" tIns="25400" rIns="25400" bIns="25400" rtlCol="0" anchor="t">
            <a:normAutofit/>
          </a:bodyPr>
          <a:lstStyle/>
          <a:p>
            <a:pPr algn="l" indent="0" marL="0">
              <a:buNone/>
            </a:pPr>
            <a:r>
              <a:rPr lang="en-US" sz="975" b="1" spc="20" kern="0" dirty="0">
                <a:solidFill>
                  <a:srgbClr val="BFE0FA"/>
                </a:solidFill>
                <a:latin typeface="Arial" pitchFamily="34" charset="0"/>
                <a:ea typeface="Arial" pitchFamily="34" charset="-122"/>
                <a:cs typeface="Arial" pitchFamily="34" charset="-120"/>
              </a:rPr>
              <a:t>변화 없음</a:t>
            </a:r>
            <a:endParaRPr lang="en-US" sz="975" dirty="0"/>
          </a:p>
        </p:txBody>
      </p:sp>
      <p:sp>
        <p:nvSpPr>
          <p:cNvPr id="55" name="Text 53"/>
          <p:cNvSpPr/>
          <p:nvPr/>
        </p:nvSpPr>
        <p:spPr>
          <a:xfrm>
            <a:off x="12414290" y="4457105"/>
            <a:ext cx="1822168" cy="781050"/>
          </a:xfrm>
          <a:prstGeom prst="rect">
            <a:avLst/>
          </a:prstGeom>
          <a:noFill/>
          <a:ln/>
        </p:spPr>
        <p:txBody>
          <a:bodyPr wrap="square" lIns="25400" tIns="25400" rIns="25400" bIns="25400" rtlCol="0" anchor="t">
            <a:normAutofit/>
          </a:bodyPr>
          <a:lstStyle/>
          <a:p>
            <a:pPr algn="l" indent="0" marL="0">
              <a:lnSpc>
                <a:spcPct val="100000"/>
              </a:lnSpc>
              <a:buNone/>
            </a:pPr>
            <a:r>
              <a:rPr lang="en-US" sz="5850" b="1" spc="-175" kern="0" dirty="0">
                <a:solidFill>
                  <a:srgbClr val="7CC2F5"/>
                </a:solidFill>
                <a:latin typeface="Arial" pitchFamily="34" charset="0"/>
                <a:ea typeface="Arial" pitchFamily="34" charset="-122"/>
                <a:cs typeface="Arial" pitchFamily="34" charset="-120"/>
              </a:rPr>
              <a:t>97.4</a:t>
            </a:r>
            <a:pPr algn="l" indent="0" marL="0">
              <a:lnSpc>
                <a:spcPct val="100000"/>
              </a:lnSpc>
              <a:buNone/>
            </a:pPr>
            <a:r>
              <a:rPr lang="en-US" sz="2850" b="1" spc="-175" kern="0" dirty="0">
                <a:solidFill>
                  <a:srgbClr val="7CC2F5"/>
                </a:solidFill>
                <a:latin typeface="Arial" pitchFamily="34" charset="0"/>
                <a:ea typeface="Arial" pitchFamily="34" charset="-122"/>
                <a:cs typeface="Arial" pitchFamily="34" charset="-120"/>
              </a:rPr>
              <a:t>%</a:t>
            </a:r>
            <a:endParaRPr lang="en-US" sz="5850" dirty="0"/>
          </a:p>
        </p:txBody>
      </p:sp>
      <p:sp>
        <p:nvSpPr>
          <p:cNvPr id="56" name="Shape 54"/>
          <p:cNvSpPr/>
          <p:nvPr/>
        </p:nvSpPr>
        <p:spPr>
          <a:xfrm>
            <a:off x="14204156" y="4824770"/>
            <a:ext cx="564713" cy="369570"/>
          </a:xfrm>
          <a:prstGeom prst="roundRect">
            <a:avLst>
              <a:gd name="adj" fmla="val 50000"/>
            </a:avLst>
          </a:prstGeom>
          <a:solidFill>
            <a:srgbClr val="7CC2F5">
              <a:alpha val="18000"/>
            </a:srgbClr>
          </a:solidFill>
          <a:ln/>
        </p:spPr>
      </p:sp>
      <p:sp>
        <p:nvSpPr>
          <p:cNvPr id="57" name="Text 55"/>
          <p:cNvSpPr/>
          <p:nvPr/>
        </p:nvSpPr>
        <p:spPr>
          <a:xfrm>
            <a:off x="14337506" y="4891445"/>
            <a:ext cx="374213" cy="274320"/>
          </a:xfrm>
          <a:prstGeom prst="rect">
            <a:avLst/>
          </a:prstGeom>
          <a:noFill/>
          <a:ln/>
        </p:spPr>
        <p:txBody>
          <a:bodyPr wrap="square" lIns="25400" tIns="25400" rIns="25400" bIns="25400" rtlCol="0" anchor="t">
            <a:normAutofit/>
          </a:bodyPr>
          <a:lstStyle/>
          <a:p>
            <a:pPr algn="l" indent="0" marL="0">
              <a:buNone/>
            </a:pPr>
            <a:r>
              <a:rPr lang="en-US" sz="1275" b="1" dirty="0">
                <a:solidFill>
                  <a:srgbClr val="BFE0FA"/>
                </a:solidFill>
                <a:latin typeface="Arial" pitchFamily="34" charset="0"/>
                <a:ea typeface="Arial" pitchFamily="34" charset="-122"/>
                <a:cs typeface="Arial" pitchFamily="34" charset="-120"/>
              </a:rPr>
              <a:t>유지</a:t>
            </a:r>
            <a:endParaRPr lang="en-US" sz="1275" dirty="0"/>
          </a:p>
        </p:txBody>
      </p:sp>
      <p:sp>
        <p:nvSpPr>
          <p:cNvPr id="58" name="Text 56"/>
          <p:cNvSpPr/>
          <p:nvPr/>
        </p:nvSpPr>
        <p:spPr>
          <a:xfrm>
            <a:off x="12414290" y="6635711"/>
            <a:ext cx="347663" cy="243840"/>
          </a:xfrm>
          <a:prstGeom prst="rect">
            <a:avLst/>
          </a:prstGeom>
          <a:noFill/>
          <a:ln/>
        </p:spPr>
        <p:txBody>
          <a:bodyPr wrap="square" lIns="25400" tIns="25400" rIns="25400" bIns="25400" rtlCol="0" anchor="t">
            <a:normAutofit/>
          </a:bodyPr>
          <a:lstStyle/>
          <a:p>
            <a:pPr algn="l" indent="0" marL="0">
              <a:buNone/>
            </a:pPr>
            <a:r>
              <a:rPr lang="en-US" sz="1125" b="1" spc="34" kern="0" dirty="0">
                <a:solidFill>
                  <a:srgbClr val="FFFFFF">
                    <a:alpha val="55000"/>
                  </a:srgbClr>
                </a:solidFill>
                <a:latin typeface="Arial" pitchFamily="34" charset="0"/>
                <a:ea typeface="Arial" pitchFamily="34" charset="-122"/>
                <a:cs typeface="Arial" pitchFamily="34" charset="-120"/>
              </a:rPr>
              <a:t>이전</a:t>
            </a:r>
            <a:endParaRPr lang="en-US" sz="1125" dirty="0"/>
          </a:p>
        </p:txBody>
      </p:sp>
      <p:sp>
        <p:nvSpPr>
          <p:cNvPr id="59" name="Text 57"/>
          <p:cNvSpPr/>
          <p:nvPr/>
        </p:nvSpPr>
        <p:spPr>
          <a:xfrm>
            <a:off x="16715899" y="6650950"/>
            <a:ext cx="562451" cy="236220"/>
          </a:xfrm>
          <a:prstGeom prst="rect">
            <a:avLst/>
          </a:prstGeom>
          <a:noFill/>
          <a:ln/>
        </p:spPr>
        <p:txBody>
          <a:bodyPr wrap="square" lIns="25400" tIns="25400" rIns="25400" bIns="25400" rtlCol="0" anchor="t">
            <a:normAutofit/>
          </a:bodyPr>
          <a:lstStyle/>
          <a:p>
            <a:pPr algn="l" indent="0" marL="0">
              <a:buNone/>
            </a:pPr>
            <a:r>
              <a:rPr lang="en-US" sz="1350" b="1" dirty="0">
                <a:solidFill>
                  <a:srgbClr val="FFFFFF">
                    <a:alpha val="55000"/>
                  </a:srgbClr>
                </a:solidFill>
                <a:latin typeface="Arial" pitchFamily="34" charset="0"/>
                <a:ea typeface="Arial" pitchFamily="34" charset="-122"/>
                <a:cs typeface="Arial" pitchFamily="34" charset="-120"/>
              </a:rPr>
              <a:t>97.4%</a:t>
            </a:r>
            <a:endParaRPr lang="en-US" sz="1350" dirty="0"/>
          </a:p>
        </p:txBody>
      </p:sp>
      <p:sp>
        <p:nvSpPr>
          <p:cNvPr id="60" name="Shape 58"/>
          <p:cNvSpPr/>
          <p:nvPr/>
        </p:nvSpPr>
        <p:spPr>
          <a:xfrm>
            <a:off x="12414290" y="6915745"/>
            <a:ext cx="4787860" cy="123825"/>
          </a:xfrm>
          <a:prstGeom prst="roundRect">
            <a:avLst>
              <a:gd name="adj" fmla="val 50000"/>
            </a:avLst>
          </a:prstGeom>
          <a:solidFill>
            <a:srgbClr val="FFFFFF">
              <a:alpha val="12000"/>
            </a:srgbClr>
          </a:solidFill>
          <a:ln/>
        </p:spPr>
      </p:sp>
      <p:sp>
        <p:nvSpPr>
          <p:cNvPr id="61" name="Shape 59"/>
          <p:cNvSpPr/>
          <p:nvPr/>
        </p:nvSpPr>
        <p:spPr>
          <a:xfrm>
            <a:off x="12414290" y="6915745"/>
            <a:ext cx="4663321" cy="123825"/>
          </a:xfrm>
          <a:prstGeom prst="roundRect">
            <a:avLst>
              <a:gd name="adj" fmla="val 50000"/>
            </a:avLst>
          </a:prstGeom>
          <a:solidFill>
            <a:srgbClr val="7CC2F5">
              <a:alpha val="55000"/>
            </a:srgbClr>
          </a:solidFill>
          <a:ln/>
        </p:spPr>
      </p:sp>
      <p:sp>
        <p:nvSpPr>
          <p:cNvPr id="62" name="Text 60"/>
          <p:cNvSpPr/>
          <p:nvPr/>
        </p:nvSpPr>
        <p:spPr>
          <a:xfrm>
            <a:off x="12414290" y="7182445"/>
            <a:ext cx="347663" cy="243840"/>
          </a:xfrm>
          <a:prstGeom prst="rect">
            <a:avLst/>
          </a:prstGeom>
          <a:noFill/>
          <a:ln/>
        </p:spPr>
        <p:txBody>
          <a:bodyPr wrap="square" lIns="25400" tIns="25400" rIns="25400" bIns="25400" rtlCol="0" anchor="t">
            <a:normAutofit/>
          </a:bodyPr>
          <a:lstStyle/>
          <a:p>
            <a:pPr algn="l" indent="0" marL="0">
              <a:buNone/>
            </a:pPr>
            <a:r>
              <a:rPr lang="en-US" sz="1125" b="1" spc="34" kern="0" dirty="0">
                <a:solidFill>
                  <a:srgbClr val="7CC2F5"/>
                </a:solidFill>
                <a:latin typeface="Arial" pitchFamily="34" charset="0"/>
                <a:ea typeface="Arial" pitchFamily="34" charset="-122"/>
                <a:cs typeface="Arial" pitchFamily="34" charset="-120"/>
              </a:rPr>
              <a:t>현재</a:t>
            </a:r>
            <a:endParaRPr lang="en-US" sz="1125" dirty="0"/>
          </a:p>
        </p:txBody>
      </p:sp>
      <p:sp>
        <p:nvSpPr>
          <p:cNvPr id="63" name="Text 61"/>
          <p:cNvSpPr/>
          <p:nvPr/>
        </p:nvSpPr>
        <p:spPr>
          <a:xfrm>
            <a:off x="16715899" y="7197686"/>
            <a:ext cx="562451" cy="236220"/>
          </a:xfrm>
          <a:prstGeom prst="rect">
            <a:avLst/>
          </a:prstGeom>
          <a:noFill/>
          <a:ln/>
        </p:spPr>
        <p:txBody>
          <a:bodyPr wrap="square" lIns="25400" tIns="25400" rIns="25400" bIns="25400" rtlCol="0" anchor="t">
            <a:normAutofit/>
          </a:bodyPr>
          <a:lstStyle/>
          <a:p>
            <a:pPr algn="l" indent="0" marL="0">
              <a:buNone/>
            </a:pPr>
            <a:r>
              <a:rPr lang="en-US" sz="1350" b="1" dirty="0">
                <a:solidFill>
                  <a:srgbClr val="7CC2F5"/>
                </a:solidFill>
                <a:latin typeface="Arial" pitchFamily="34" charset="0"/>
                <a:ea typeface="Arial" pitchFamily="34" charset="-122"/>
                <a:cs typeface="Arial" pitchFamily="34" charset="-120"/>
              </a:rPr>
              <a:t>97.4%</a:t>
            </a:r>
            <a:endParaRPr lang="en-US" sz="1350" dirty="0"/>
          </a:p>
        </p:txBody>
      </p:sp>
      <p:sp>
        <p:nvSpPr>
          <p:cNvPr id="64" name="Shape 62"/>
          <p:cNvSpPr/>
          <p:nvPr/>
        </p:nvSpPr>
        <p:spPr>
          <a:xfrm>
            <a:off x="12414290" y="7462481"/>
            <a:ext cx="4787860" cy="123825"/>
          </a:xfrm>
          <a:prstGeom prst="roundRect">
            <a:avLst>
              <a:gd name="adj" fmla="val 50000"/>
            </a:avLst>
          </a:prstGeom>
          <a:solidFill>
            <a:srgbClr val="FFFFFF">
              <a:alpha val="12000"/>
            </a:srgbClr>
          </a:solidFill>
          <a:ln/>
        </p:spPr>
      </p:sp>
      <p:sp>
        <p:nvSpPr>
          <p:cNvPr id="65" name="Shape 63"/>
          <p:cNvSpPr/>
          <p:nvPr/>
        </p:nvSpPr>
        <p:spPr>
          <a:xfrm>
            <a:off x="12414290" y="7462481"/>
            <a:ext cx="4663321" cy="123825"/>
          </a:xfrm>
          <a:prstGeom prst="roundRect">
            <a:avLst>
              <a:gd name="adj" fmla="val 50000"/>
            </a:avLst>
          </a:prstGeom>
          <a:solidFill>
            <a:srgbClr val="7CC2F5"/>
          </a:solidFill>
          <a:ln/>
        </p:spPr>
      </p:sp>
      <p:sp>
        <p:nvSpPr>
          <p:cNvPr id="66" name="Shape 64"/>
          <p:cNvSpPr/>
          <p:nvPr/>
        </p:nvSpPr>
        <p:spPr>
          <a:xfrm>
            <a:off x="12414290" y="9022080"/>
            <a:ext cx="4787860" cy="9525"/>
          </a:xfrm>
          <a:prstGeom prst="rect">
            <a:avLst/>
          </a:prstGeom>
          <a:solidFill>
            <a:srgbClr val="FFFFFF">
              <a:alpha val="14000"/>
            </a:srgbClr>
          </a:solidFill>
          <a:ln/>
        </p:spPr>
      </p:sp>
      <p:sp>
        <p:nvSpPr>
          <p:cNvPr id="67" name="Text 65"/>
          <p:cNvSpPr/>
          <p:nvPr/>
        </p:nvSpPr>
        <p:spPr>
          <a:xfrm>
            <a:off x="12414290" y="9153525"/>
            <a:ext cx="4931496" cy="238125"/>
          </a:xfrm>
          <a:prstGeom prst="rect">
            <a:avLst/>
          </a:prstGeom>
          <a:noFill/>
          <a:ln/>
        </p:spPr>
        <p:txBody>
          <a:bodyPr wrap="none" lIns="25400" tIns="25400" rIns="25400" bIns="25400" rtlCol="0" anchor="t">
            <a:normAutofit/>
          </a:bodyPr>
          <a:lstStyle/>
          <a:p>
            <a:pPr algn="l" indent="0" marL="0">
              <a:lnSpc>
                <a:spcPct val="140000"/>
              </a:lnSpc>
              <a:buNone/>
            </a:pPr>
            <a:r>
              <a:rPr lang="en-US" sz="1125" b="1" dirty="0">
                <a:solidFill>
                  <a:srgbClr val="FFFFFF">
                    <a:alpha val="70000"/>
                  </a:srgbClr>
                </a:solidFill>
                <a:latin typeface="Arial" pitchFamily="34" charset="0"/>
                <a:ea typeface="Arial" pitchFamily="34" charset="-122"/>
                <a:cs typeface="Arial" pitchFamily="34" charset="-120"/>
              </a:rPr>
              <a:t>검색은 그대로 — 병목은 </a:t>
            </a:r>
            <a:pPr algn="l" indent="0" marL="0">
              <a:lnSpc>
                <a:spcPct val="140000"/>
              </a:lnSpc>
              <a:buNone/>
            </a:pPr>
            <a:r>
              <a:rPr lang="en-US" sz="1125" b="1" dirty="0">
                <a:solidFill>
                  <a:srgbClr val="FFFFFF"/>
                </a:solidFill>
                <a:latin typeface="Arial" pitchFamily="34" charset="0"/>
                <a:ea typeface="Arial" pitchFamily="34" charset="-122"/>
                <a:cs typeface="Arial" pitchFamily="34" charset="-120"/>
              </a:rPr>
              <a:t>라우팅</a:t>
            </a:r>
            <a:endParaRPr lang="en-US" sz="112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8FC"/>
        </a:solidFill>
      </p:bgPr>
    </p:bg>
    <p:spTree>
      <p:nvGrpSpPr>
        <p:cNvPr id="1" name=""/>
        <p:cNvGrpSpPr/>
        <p:nvPr/>
      </p:nvGrpSpPr>
      <p:grpSpPr>
        <a:xfrm>
          <a:off x="0" y="0"/>
          <a:ext cx="0" cy="0"/>
          <a:chOff x="0" y="0"/>
          <a:chExt cx="0" cy="0"/>
        </a:xfrm>
      </p:grpSpPr>
      <p:sp>
        <p:nvSpPr>
          <p:cNvPr id="2" name="Shape 0"/>
          <p:cNvSpPr/>
          <p:nvPr/>
        </p:nvSpPr>
        <p:spPr>
          <a:xfrm>
            <a:off x="16116895" y="323850"/>
            <a:ext cx="1485305" cy="358140"/>
          </a:xfrm>
          <a:prstGeom prst="roundRect">
            <a:avLst>
              <a:gd name="adj" fmla="val 50000"/>
            </a:avLst>
          </a:prstGeom>
          <a:solidFill>
            <a:srgbClr val="FDF0DD"/>
          </a:solidFill>
          <a:ln/>
        </p:spPr>
      </p:sp>
      <p:sp>
        <p:nvSpPr>
          <p:cNvPr id="3" name="Text 1"/>
          <p:cNvSpPr/>
          <p:nvPr/>
        </p:nvSpPr>
        <p:spPr>
          <a:xfrm>
            <a:off x="16288345" y="400050"/>
            <a:ext cx="1218605" cy="243840"/>
          </a:xfrm>
          <a:prstGeom prst="rect">
            <a:avLst/>
          </a:prstGeom>
          <a:noFill/>
          <a:ln/>
        </p:spPr>
        <p:txBody>
          <a:bodyPr wrap="square" lIns="25400" tIns="25400" rIns="25400" bIns="25400" rtlCol="0" anchor="t">
            <a:normAutofit/>
          </a:bodyPr>
          <a:lstStyle/>
          <a:p>
            <a:pPr algn="l" indent="0" marL="0">
              <a:buNone/>
            </a:pPr>
            <a:r>
              <a:rPr lang="en-US" sz="1125" b="1" dirty="0">
                <a:solidFill>
                  <a:srgbClr val="C77E1E"/>
                </a:solidFill>
                <a:latin typeface="Arial" pitchFamily="34" charset="0"/>
                <a:ea typeface="Arial" pitchFamily="34" charset="-122"/>
                <a:cs typeface="Arial" pitchFamily="34" charset="-120"/>
              </a:rPr>
              <a:t>평가 ② 화면설계서</a:t>
            </a:r>
            <a:endParaRPr lang="en-US" sz="1125" dirty="0"/>
          </a:p>
        </p:txBody>
      </p:sp>
      <p:sp>
        <p:nvSpPr>
          <p:cNvPr id="4" name="Text 2"/>
          <p:cNvSpPr/>
          <p:nvPr/>
        </p:nvSpPr>
        <p:spPr>
          <a:xfrm>
            <a:off x="685800" y="533400"/>
            <a:ext cx="2300073" cy="259080"/>
          </a:xfrm>
          <a:prstGeom prst="rect">
            <a:avLst/>
          </a:prstGeom>
          <a:noFill/>
          <a:ln/>
        </p:spPr>
        <p:txBody>
          <a:bodyPr wrap="square" lIns="25400" tIns="25400" rIns="25400" bIns="25400" rtlCol="0" anchor="t">
            <a:normAutofit/>
          </a:bodyPr>
          <a:lstStyle/>
          <a:p>
            <a:pPr algn="l" indent="0" marL="0">
              <a:buNone/>
            </a:pPr>
            <a:r>
              <a:rPr lang="en-US" sz="1200" b="1" spc="48" kern="0" dirty="0">
                <a:solidFill>
                  <a:srgbClr val="D85C9A"/>
                </a:solidFill>
                <a:latin typeface="Arial" pitchFamily="34" charset="0"/>
                <a:ea typeface="Arial" pitchFamily="34" charset="-122"/>
                <a:cs typeface="Arial" pitchFamily="34" charset="-120"/>
              </a:rPr>
              <a:t>11 · 프론트 계층 — 화면설계서</a:t>
            </a:r>
            <a:endParaRPr lang="en-US" sz="1200" dirty="0"/>
          </a:p>
        </p:txBody>
      </p:sp>
      <p:sp>
        <p:nvSpPr>
          <p:cNvPr id="5" name="Text 3"/>
          <p:cNvSpPr/>
          <p:nvPr/>
        </p:nvSpPr>
        <p:spPr>
          <a:xfrm>
            <a:off x="685800" y="868680"/>
            <a:ext cx="18608040" cy="647700"/>
          </a:xfrm>
          <a:prstGeom prst="rect">
            <a:avLst/>
          </a:prstGeom>
          <a:noFill/>
          <a:ln/>
        </p:spPr>
        <p:txBody>
          <a:bodyPr wrap="square" lIns="25400" tIns="25400" rIns="25400" bIns="25400" rtlCol="0" anchor="t">
            <a:normAutofit/>
          </a:bodyPr>
          <a:lstStyle/>
          <a:p>
            <a:pPr algn="l" indent="0" marL="0">
              <a:buNone/>
            </a:pPr>
            <a:r>
              <a:rPr lang="en-US" sz="3300" b="1" spc="-99" kern="0" dirty="0">
                <a:solidFill>
                  <a:srgbClr val="143257"/>
                </a:solidFill>
                <a:latin typeface="Arial" pitchFamily="34" charset="0"/>
                <a:ea typeface="Arial" pitchFamily="34" charset="-122"/>
                <a:cs typeface="Arial" pitchFamily="34" charset="-120"/>
              </a:rPr>
              <a:t>질문 입력 · 답변 출력 · 오류 안내를 명확히 설계</a:t>
            </a:r>
            <a:endParaRPr lang="en-US" sz="3300" dirty="0"/>
          </a:p>
        </p:txBody>
      </p:sp>
      <p:sp>
        <p:nvSpPr>
          <p:cNvPr id="6" name="Shape 4"/>
          <p:cNvSpPr/>
          <p:nvPr/>
        </p:nvSpPr>
        <p:spPr>
          <a:xfrm>
            <a:off x="685800" y="2398276"/>
            <a:ext cx="10683478" cy="6682859"/>
          </a:xfrm>
          <a:prstGeom prst="roundRect">
            <a:avLst>
              <a:gd name="adj" fmla="val 2566"/>
            </a:avLst>
          </a:prstGeom>
          <a:ln w="7620">
            <a:solidFill>
              <a:srgbClr val="E6EEF7"/>
            </a:solidFill>
            <a:prstDash val="solid"/>
          </a:ln>
          <a:effectLst>
            <a:outerShdw sx="100000" sy="100000" kx="0" ky="0" algn="bl" rotWithShape="0" blurRad="419100" dist="171450" dir="5400000">
              <a:srgbClr val="2E8BE0">
                <a:alpha val="18000"/>
              </a:srgbClr>
            </a:outerShdw>
          </a:effectLst>
        </p:spPr>
      </p:sp>
      <p:pic>
        <p:nvPicPr>
          <p:cNvPr id="7" name="Image 0" descr="preencoded.png">    </p:cNvPr>
          <p:cNvPicPr>
            <a:picLocks noChangeAspect="1"/>
          </p:cNvPicPr>
          <p:nvPr/>
        </p:nvPicPr>
        <p:blipFill>
          <a:blip r:embed="rId1"/>
          <a:stretch>
            <a:fillRect/>
          </a:stretch>
        </p:blipFill>
        <p:spPr>
          <a:xfrm>
            <a:off x="693420" y="2405896"/>
            <a:ext cx="10668238" cy="6667619"/>
          </a:xfrm>
          <a:prstGeom prst="rect">
            <a:avLst/>
          </a:prstGeom>
        </p:spPr>
      </p:pic>
      <p:sp>
        <p:nvSpPr>
          <p:cNvPr id="8" name="Shape 5"/>
          <p:cNvSpPr/>
          <p:nvPr/>
        </p:nvSpPr>
        <p:spPr>
          <a:xfrm>
            <a:off x="12131278" y="4144328"/>
            <a:ext cx="400050" cy="400050"/>
          </a:xfrm>
          <a:prstGeom prst="ellipse">
            <a:avLst/>
          </a:prstGeom>
          <a:solidFill>
            <a:srgbClr val="2E8BE0"/>
          </a:solidFill>
          <a:ln/>
        </p:spPr>
      </p:sp>
      <p:sp>
        <p:nvSpPr>
          <p:cNvPr id="9" name="Text 6"/>
          <p:cNvSpPr/>
          <p:nvPr/>
        </p:nvSpPr>
        <p:spPr>
          <a:xfrm>
            <a:off x="12093178" y="4144328"/>
            <a:ext cx="476250" cy="438150"/>
          </a:xfrm>
          <a:prstGeom prst="rect">
            <a:avLst/>
          </a:prstGeom>
          <a:noFill/>
          <a:ln/>
        </p:spPr>
        <p:txBody>
          <a:bodyPr wrap="square" lIns="25400" tIns="25400" rIns="25400" bIns="25400" rtlCol="0" anchor="ctr">
            <a:normAutofit/>
          </a:bodyPr>
          <a:lstStyle/>
          <a:p>
            <a:pPr algn="ctr" indent="0" marL="0">
              <a:buNone/>
            </a:pPr>
            <a:r>
              <a:rPr lang="en-US" sz="1500" b="1" dirty="0">
                <a:solidFill>
                  <a:srgbClr val="FFFFFF"/>
                </a:solidFill>
                <a:latin typeface="Arial" pitchFamily="34" charset="0"/>
                <a:ea typeface="Arial" pitchFamily="34" charset="-122"/>
                <a:cs typeface="Arial" pitchFamily="34" charset="-120"/>
              </a:rPr>
              <a:t>10</a:t>
            </a:r>
            <a:endParaRPr lang="en-US" sz="1500" dirty="0"/>
          </a:p>
        </p:txBody>
      </p:sp>
      <p:sp>
        <p:nvSpPr>
          <p:cNvPr id="10" name="Text 7"/>
          <p:cNvSpPr/>
          <p:nvPr/>
        </p:nvSpPr>
        <p:spPr>
          <a:xfrm>
            <a:off x="12702778" y="4144328"/>
            <a:ext cx="2183118" cy="373380"/>
          </a:xfrm>
          <a:prstGeom prst="rect">
            <a:avLst/>
          </a:prstGeom>
          <a:noFill/>
          <a:ln/>
        </p:spPr>
        <p:txBody>
          <a:bodyPr wrap="square" lIns="25400" tIns="25400" rIns="25400" bIns="25400" rtlCol="0" anchor="t">
            <a:normAutofit/>
          </a:bodyPr>
          <a:lstStyle/>
          <a:p>
            <a:pPr algn="l" indent="0" marL="0">
              <a:buNone/>
            </a:pPr>
            <a:r>
              <a:rPr lang="en-US" sz="1800" b="1" dirty="0">
                <a:solidFill>
                  <a:srgbClr val="143257"/>
                </a:solidFill>
                <a:latin typeface="Arial" pitchFamily="34" charset="0"/>
                <a:ea typeface="Arial" pitchFamily="34" charset="-122"/>
                <a:cs typeface="Arial" pitchFamily="34" charset="-120"/>
              </a:rPr>
              <a:t>질문 입력</a:t>
            </a:r>
            <a:endParaRPr lang="en-US" sz="1800" dirty="0"/>
          </a:p>
        </p:txBody>
      </p:sp>
      <p:sp>
        <p:nvSpPr>
          <p:cNvPr id="11" name="Text 8"/>
          <p:cNvSpPr/>
          <p:nvPr/>
        </p:nvSpPr>
        <p:spPr>
          <a:xfrm>
            <a:off x="12702778" y="4508183"/>
            <a:ext cx="2183118" cy="300514"/>
          </a:xfrm>
          <a:prstGeom prst="rect">
            <a:avLst/>
          </a:prstGeom>
          <a:noFill/>
          <a:ln/>
        </p:spPr>
        <p:txBody>
          <a:bodyPr wrap="square" lIns="25400" tIns="25400" rIns="25400" bIns="25400" rtlCol="0" anchor="t">
            <a:normAutofit/>
          </a:bodyPr>
          <a:lstStyle/>
          <a:p>
            <a:pPr algn="l" indent="0" marL="0">
              <a:lnSpc>
                <a:spcPct val="145000"/>
              </a:lnSpc>
              <a:buNone/>
            </a:pPr>
            <a:r>
              <a:rPr lang="en-US" sz="1425" b="1" dirty="0">
                <a:solidFill>
                  <a:srgbClr val="51657B"/>
                </a:solidFill>
                <a:latin typeface="Arial" pitchFamily="34" charset="0"/>
                <a:ea typeface="Arial" pitchFamily="34" charset="-122"/>
                <a:cs typeface="Arial" pitchFamily="34" charset="-120"/>
              </a:rPr>
              <a:t>하단 고정 입력창 · 전송 버튼</a:t>
            </a:r>
            <a:endParaRPr lang="en-US" sz="1425" dirty="0"/>
          </a:p>
        </p:txBody>
      </p:sp>
      <p:sp>
        <p:nvSpPr>
          <p:cNvPr id="12" name="Shape 9"/>
          <p:cNvSpPr/>
          <p:nvPr/>
        </p:nvSpPr>
        <p:spPr>
          <a:xfrm>
            <a:off x="12131278" y="4999197"/>
            <a:ext cx="400050" cy="400050"/>
          </a:xfrm>
          <a:prstGeom prst="ellipse">
            <a:avLst/>
          </a:prstGeom>
          <a:solidFill>
            <a:srgbClr val="2E8BE0"/>
          </a:solidFill>
          <a:ln/>
        </p:spPr>
      </p:sp>
      <p:sp>
        <p:nvSpPr>
          <p:cNvPr id="13" name="Text 10"/>
          <p:cNvSpPr/>
          <p:nvPr/>
        </p:nvSpPr>
        <p:spPr>
          <a:xfrm>
            <a:off x="12093178" y="4999197"/>
            <a:ext cx="476250" cy="438150"/>
          </a:xfrm>
          <a:prstGeom prst="rect">
            <a:avLst/>
          </a:prstGeom>
          <a:noFill/>
          <a:ln/>
        </p:spPr>
        <p:txBody>
          <a:bodyPr wrap="square" lIns="25400" tIns="25400" rIns="25400" bIns="25400" rtlCol="0" anchor="ctr">
            <a:normAutofit/>
          </a:bodyPr>
          <a:lstStyle/>
          <a:p>
            <a:pPr algn="ctr" indent="0" marL="0">
              <a:buNone/>
            </a:pPr>
            <a:r>
              <a:rPr lang="en-US" sz="1500" b="1" dirty="0">
                <a:solidFill>
                  <a:srgbClr val="FFFFFF"/>
                </a:solidFill>
                <a:latin typeface="Arial" pitchFamily="34" charset="0"/>
                <a:ea typeface="Arial" pitchFamily="34" charset="-122"/>
                <a:cs typeface="Arial" pitchFamily="34" charset="-120"/>
              </a:rPr>
              <a:t>7</a:t>
            </a:r>
            <a:endParaRPr lang="en-US" sz="1500" dirty="0"/>
          </a:p>
        </p:txBody>
      </p:sp>
      <p:sp>
        <p:nvSpPr>
          <p:cNvPr id="14" name="Text 11"/>
          <p:cNvSpPr/>
          <p:nvPr/>
        </p:nvSpPr>
        <p:spPr>
          <a:xfrm>
            <a:off x="12702778" y="4999197"/>
            <a:ext cx="2206431" cy="373380"/>
          </a:xfrm>
          <a:prstGeom prst="rect">
            <a:avLst/>
          </a:prstGeom>
          <a:noFill/>
          <a:ln/>
        </p:spPr>
        <p:txBody>
          <a:bodyPr wrap="square" lIns="25400" tIns="25400" rIns="25400" bIns="25400" rtlCol="0" anchor="t">
            <a:normAutofit/>
          </a:bodyPr>
          <a:lstStyle/>
          <a:p>
            <a:pPr algn="l" indent="0" marL="0">
              <a:buNone/>
            </a:pPr>
            <a:r>
              <a:rPr lang="en-US" sz="1800" b="1" dirty="0">
                <a:solidFill>
                  <a:srgbClr val="143257"/>
                </a:solidFill>
                <a:latin typeface="Arial" pitchFamily="34" charset="0"/>
                <a:ea typeface="Arial" pitchFamily="34" charset="-122"/>
                <a:cs typeface="Arial" pitchFamily="34" charset="-120"/>
              </a:rPr>
              <a:t>답변 출력</a:t>
            </a:r>
            <a:endParaRPr lang="en-US" sz="1800" dirty="0"/>
          </a:p>
        </p:txBody>
      </p:sp>
      <p:sp>
        <p:nvSpPr>
          <p:cNvPr id="15" name="Text 12"/>
          <p:cNvSpPr/>
          <p:nvPr/>
        </p:nvSpPr>
        <p:spPr>
          <a:xfrm>
            <a:off x="12702778" y="5363051"/>
            <a:ext cx="2206431" cy="300514"/>
          </a:xfrm>
          <a:prstGeom prst="rect">
            <a:avLst/>
          </a:prstGeom>
          <a:noFill/>
          <a:ln/>
        </p:spPr>
        <p:txBody>
          <a:bodyPr wrap="square" lIns="25400" tIns="25400" rIns="25400" bIns="25400" rtlCol="0" anchor="t">
            <a:normAutofit/>
          </a:bodyPr>
          <a:lstStyle/>
          <a:p>
            <a:pPr algn="l" indent="0" marL="0">
              <a:lnSpc>
                <a:spcPct val="145000"/>
              </a:lnSpc>
              <a:buNone/>
            </a:pPr>
            <a:r>
              <a:rPr lang="en-US" sz="1425" b="1" dirty="0">
                <a:solidFill>
                  <a:srgbClr val="51657B"/>
                </a:solidFill>
                <a:latin typeface="Arial" pitchFamily="34" charset="0"/>
                <a:ea typeface="Arial" pitchFamily="34" charset="-122"/>
                <a:cs typeface="Arial" pitchFamily="34" charset="-120"/>
              </a:rPr>
              <a:t>대화형 말풍선으로 응답 표시</a:t>
            </a:r>
            <a:endParaRPr lang="en-US" sz="1425" dirty="0"/>
          </a:p>
        </p:txBody>
      </p:sp>
      <p:sp>
        <p:nvSpPr>
          <p:cNvPr id="16" name="Shape 13"/>
          <p:cNvSpPr/>
          <p:nvPr/>
        </p:nvSpPr>
        <p:spPr>
          <a:xfrm>
            <a:off x="12131278" y="5854065"/>
            <a:ext cx="400050" cy="400050"/>
          </a:xfrm>
          <a:prstGeom prst="ellipse">
            <a:avLst/>
          </a:prstGeom>
          <a:solidFill>
            <a:srgbClr val="F072AC"/>
          </a:solidFill>
          <a:ln/>
        </p:spPr>
      </p:sp>
      <p:sp>
        <p:nvSpPr>
          <p:cNvPr id="17" name="Text 14"/>
          <p:cNvSpPr/>
          <p:nvPr/>
        </p:nvSpPr>
        <p:spPr>
          <a:xfrm>
            <a:off x="12093178" y="5854065"/>
            <a:ext cx="476250" cy="438150"/>
          </a:xfrm>
          <a:prstGeom prst="rect">
            <a:avLst/>
          </a:prstGeom>
          <a:noFill/>
          <a:ln/>
        </p:spPr>
        <p:txBody>
          <a:bodyPr wrap="square" lIns="25400" tIns="25400" rIns="25400" bIns="25400" rtlCol="0" anchor="ctr">
            <a:normAutofit/>
          </a:bodyPr>
          <a:lstStyle/>
          <a:p>
            <a:pPr algn="ctr" indent="0" marL="0">
              <a:buNone/>
            </a:pPr>
            <a:r>
              <a:rPr lang="en-US" sz="1500" b="1" dirty="0">
                <a:solidFill>
                  <a:srgbClr val="FFFFFF"/>
                </a:solidFill>
                <a:latin typeface="Arial" pitchFamily="34" charset="0"/>
                <a:ea typeface="Arial" pitchFamily="34" charset="-122"/>
                <a:cs typeface="Arial" pitchFamily="34" charset="-120"/>
              </a:rPr>
              <a:t>8</a:t>
            </a:r>
            <a:endParaRPr lang="en-US" sz="1500" dirty="0"/>
          </a:p>
        </p:txBody>
      </p:sp>
      <p:sp>
        <p:nvSpPr>
          <p:cNvPr id="18" name="Text 15"/>
          <p:cNvSpPr/>
          <p:nvPr/>
        </p:nvSpPr>
        <p:spPr>
          <a:xfrm>
            <a:off x="12702778" y="5854065"/>
            <a:ext cx="2094321" cy="373380"/>
          </a:xfrm>
          <a:prstGeom prst="rect">
            <a:avLst/>
          </a:prstGeom>
          <a:noFill/>
          <a:ln/>
        </p:spPr>
        <p:txBody>
          <a:bodyPr wrap="square" lIns="25400" tIns="25400" rIns="25400" bIns="25400" rtlCol="0" anchor="t">
            <a:normAutofit/>
          </a:bodyPr>
          <a:lstStyle/>
          <a:p>
            <a:pPr algn="l" indent="0" marL="0">
              <a:buNone/>
            </a:pPr>
            <a:r>
              <a:rPr lang="en-US" sz="1800" b="1" dirty="0">
                <a:solidFill>
                  <a:srgbClr val="143257"/>
                </a:solidFill>
                <a:latin typeface="Arial" pitchFamily="34" charset="0"/>
                <a:ea typeface="Arial" pitchFamily="34" charset="-122"/>
                <a:cs typeface="Arial" pitchFamily="34" charset="-120"/>
              </a:rPr>
              <a:t>출처 카드</a:t>
            </a:r>
            <a:endParaRPr lang="en-US" sz="1800" dirty="0"/>
          </a:p>
        </p:txBody>
      </p:sp>
      <p:sp>
        <p:nvSpPr>
          <p:cNvPr id="19" name="Text 16"/>
          <p:cNvSpPr/>
          <p:nvPr/>
        </p:nvSpPr>
        <p:spPr>
          <a:xfrm>
            <a:off x="12702778" y="6217920"/>
            <a:ext cx="2094321" cy="300514"/>
          </a:xfrm>
          <a:prstGeom prst="rect">
            <a:avLst/>
          </a:prstGeom>
          <a:noFill/>
          <a:ln/>
        </p:spPr>
        <p:txBody>
          <a:bodyPr wrap="square" lIns="25400" tIns="25400" rIns="25400" bIns="25400" rtlCol="0" anchor="t">
            <a:normAutofit/>
          </a:bodyPr>
          <a:lstStyle/>
          <a:p>
            <a:pPr algn="l" indent="0" marL="0">
              <a:lnSpc>
                <a:spcPct val="145000"/>
              </a:lnSpc>
              <a:buNone/>
            </a:pPr>
            <a:r>
              <a:rPr lang="en-US" sz="1425" b="1" dirty="0">
                <a:solidFill>
                  <a:srgbClr val="51657B"/>
                </a:solidFill>
                <a:latin typeface="Arial" pitchFamily="34" charset="0"/>
                <a:ea typeface="Arial" pitchFamily="34" charset="-122"/>
                <a:cs typeface="Arial" pitchFamily="34" charset="-120"/>
              </a:rPr>
              <a:t>참고 자료·score·원문 링크</a:t>
            </a:r>
            <a:endParaRPr lang="en-US" sz="1425" dirty="0"/>
          </a:p>
        </p:txBody>
      </p:sp>
      <p:sp>
        <p:nvSpPr>
          <p:cNvPr id="20" name="Shape 17"/>
          <p:cNvSpPr/>
          <p:nvPr/>
        </p:nvSpPr>
        <p:spPr>
          <a:xfrm>
            <a:off x="12131278" y="6708934"/>
            <a:ext cx="400050" cy="400050"/>
          </a:xfrm>
          <a:prstGeom prst="ellipse">
            <a:avLst/>
          </a:prstGeom>
          <a:solidFill>
            <a:srgbClr val="F0A33C"/>
          </a:solidFill>
          <a:ln/>
        </p:spPr>
      </p:sp>
      <p:sp>
        <p:nvSpPr>
          <p:cNvPr id="21" name="Text 18"/>
          <p:cNvSpPr/>
          <p:nvPr/>
        </p:nvSpPr>
        <p:spPr>
          <a:xfrm>
            <a:off x="12093178" y="6708934"/>
            <a:ext cx="476250" cy="438150"/>
          </a:xfrm>
          <a:prstGeom prst="rect">
            <a:avLst/>
          </a:prstGeom>
          <a:noFill/>
          <a:ln/>
        </p:spPr>
        <p:txBody>
          <a:bodyPr wrap="square" lIns="25400" tIns="25400" rIns="25400" bIns="25400" rtlCol="0" anchor="ctr">
            <a:normAutofit/>
          </a:bodyPr>
          <a:lstStyle/>
          <a:p>
            <a:pPr algn="ctr" indent="0" marL="0">
              <a:buNone/>
            </a:pPr>
            <a:r>
              <a:rPr lang="en-US" sz="1500" b="1" dirty="0">
                <a:solidFill>
                  <a:srgbClr val="FFFFFF"/>
                </a:solidFill>
                <a:latin typeface="Arial" pitchFamily="34" charset="0"/>
                <a:ea typeface="Arial" pitchFamily="34" charset="-122"/>
                <a:cs typeface="Arial" pitchFamily="34" charset="-120"/>
              </a:rPr>
              <a:t>9</a:t>
            </a:r>
            <a:endParaRPr lang="en-US" sz="1500" dirty="0"/>
          </a:p>
        </p:txBody>
      </p:sp>
      <p:sp>
        <p:nvSpPr>
          <p:cNvPr id="22" name="Text 19"/>
          <p:cNvSpPr/>
          <p:nvPr/>
        </p:nvSpPr>
        <p:spPr>
          <a:xfrm>
            <a:off x="12702778" y="6708934"/>
            <a:ext cx="2318409" cy="373380"/>
          </a:xfrm>
          <a:prstGeom prst="rect">
            <a:avLst/>
          </a:prstGeom>
          <a:noFill/>
          <a:ln/>
        </p:spPr>
        <p:txBody>
          <a:bodyPr wrap="square" lIns="25400" tIns="25400" rIns="25400" bIns="25400" rtlCol="0" anchor="t">
            <a:normAutofit/>
          </a:bodyPr>
          <a:lstStyle/>
          <a:p>
            <a:pPr algn="l" indent="0" marL="0">
              <a:buNone/>
            </a:pPr>
            <a:r>
              <a:rPr lang="en-US" sz="1800" b="1" dirty="0">
                <a:solidFill>
                  <a:srgbClr val="143257"/>
                </a:solidFill>
                <a:latin typeface="Arial" pitchFamily="34" charset="0"/>
                <a:ea typeface="Arial" pitchFamily="34" charset="-122"/>
                <a:cs typeface="Arial" pitchFamily="34" charset="-120"/>
              </a:rPr>
              <a:t>피드백·오류 안내</a:t>
            </a:r>
            <a:endParaRPr lang="en-US" sz="1800" dirty="0"/>
          </a:p>
        </p:txBody>
      </p:sp>
      <p:sp>
        <p:nvSpPr>
          <p:cNvPr id="23" name="Text 20"/>
          <p:cNvSpPr/>
          <p:nvPr/>
        </p:nvSpPr>
        <p:spPr>
          <a:xfrm>
            <a:off x="12702778" y="7072789"/>
            <a:ext cx="2318409" cy="300514"/>
          </a:xfrm>
          <a:prstGeom prst="rect">
            <a:avLst/>
          </a:prstGeom>
          <a:noFill/>
          <a:ln/>
        </p:spPr>
        <p:txBody>
          <a:bodyPr wrap="square" lIns="25400" tIns="25400" rIns="25400" bIns="25400" rtlCol="0" anchor="t">
            <a:normAutofit/>
          </a:bodyPr>
          <a:lstStyle/>
          <a:p>
            <a:pPr algn="l" indent="0" marL="0">
              <a:lnSpc>
                <a:spcPct val="145000"/>
              </a:lnSpc>
              <a:buNone/>
            </a:pPr>
            <a:r>
              <a:rPr lang="en-US" sz="1425" b="1" dirty="0">
                <a:solidFill>
                  <a:srgbClr val="51657B"/>
                </a:solidFill>
                <a:latin typeface="Arial" pitchFamily="34" charset="0"/>
                <a:ea typeface="Arial" pitchFamily="34" charset="-122"/>
                <a:cs typeface="Arial" pitchFamily="34" charset="-120"/>
              </a:rPr>
              <a:t>좋아요·복사·재생성, 상태 표시</a:t>
            </a:r>
            <a:endParaRPr lang="en-US" sz="142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8FC"/>
        </a:solidFill>
      </p:bgPr>
    </p:bg>
    <p:spTree>
      <p:nvGrpSpPr>
        <p:cNvPr id="1" name=""/>
        <p:cNvGrpSpPr/>
        <p:nvPr/>
      </p:nvGrpSpPr>
      <p:grpSpPr>
        <a:xfrm>
          <a:off x="0" y="0"/>
          <a:ext cx="0" cy="0"/>
          <a:chOff x="0" y="0"/>
          <a:chExt cx="0" cy="0"/>
        </a:xfrm>
      </p:grpSpPr>
      <p:sp>
        <p:nvSpPr>
          <p:cNvPr id="2" name="Shape 0"/>
          <p:cNvSpPr/>
          <p:nvPr/>
        </p:nvSpPr>
        <p:spPr>
          <a:xfrm>
            <a:off x="14805184" y="323850"/>
            <a:ext cx="570428" cy="278130"/>
          </a:xfrm>
          <a:prstGeom prst="roundRect">
            <a:avLst>
              <a:gd name="adj" fmla="val 50000"/>
            </a:avLst>
          </a:prstGeom>
          <a:solidFill>
            <a:srgbClr val="E6EEF7"/>
          </a:solidFill>
          <a:ln/>
        </p:spPr>
      </p:sp>
      <p:sp>
        <p:nvSpPr>
          <p:cNvPr id="3" name="Text 1"/>
          <p:cNvSpPr/>
          <p:nvPr/>
        </p:nvSpPr>
        <p:spPr>
          <a:xfrm>
            <a:off x="14919484" y="371475"/>
            <a:ext cx="418028" cy="220980"/>
          </a:xfrm>
          <a:prstGeom prst="rect">
            <a:avLst/>
          </a:prstGeom>
          <a:noFill/>
          <a:ln/>
        </p:spPr>
        <p:txBody>
          <a:bodyPr wrap="square" lIns="25400" tIns="25400" rIns="25400" bIns="25400" rtlCol="0" anchor="t">
            <a:normAutofit/>
          </a:bodyPr>
          <a:lstStyle/>
          <a:p>
            <a:pPr algn="l" indent="0" marL="0">
              <a:buNone/>
            </a:pPr>
            <a:r>
              <a:rPr lang="en-US" sz="975" b="1" dirty="0">
                <a:solidFill>
                  <a:srgbClr val="A7B8CA"/>
                </a:solidFill>
                <a:latin typeface="Arial" pitchFamily="34" charset="0"/>
                <a:ea typeface="Arial" pitchFamily="34" charset="-122"/>
                <a:cs typeface="Arial" pitchFamily="34" charset="-120"/>
              </a:rPr>
              <a:t>데이터</a:t>
            </a:r>
            <a:endParaRPr lang="en-US" sz="975" dirty="0"/>
          </a:p>
        </p:txBody>
      </p:sp>
      <p:sp>
        <p:nvSpPr>
          <p:cNvPr id="4" name="Shape 2"/>
          <p:cNvSpPr/>
          <p:nvPr/>
        </p:nvSpPr>
        <p:spPr>
          <a:xfrm>
            <a:off x="15432763" y="323850"/>
            <a:ext cx="400645" cy="278130"/>
          </a:xfrm>
          <a:prstGeom prst="roundRect">
            <a:avLst>
              <a:gd name="adj" fmla="val 50000"/>
            </a:avLst>
          </a:prstGeom>
          <a:solidFill>
            <a:srgbClr val="E6EEF7"/>
          </a:solidFill>
          <a:ln/>
        </p:spPr>
      </p:sp>
      <p:sp>
        <p:nvSpPr>
          <p:cNvPr id="5" name="Text 3"/>
          <p:cNvSpPr/>
          <p:nvPr/>
        </p:nvSpPr>
        <p:spPr>
          <a:xfrm>
            <a:off x="15547063" y="371475"/>
            <a:ext cx="248245" cy="220980"/>
          </a:xfrm>
          <a:prstGeom prst="rect">
            <a:avLst/>
          </a:prstGeom>
          <a:noFill/>
          <a:ln/>
        </p:spPr>
        <p:txBody>
          <a:bodyPr wrap="square" lIns="25400" tIns="25400" rIns="25400" bIns="25400" rtlCol="0" anchor="t">
            <a:normAutofit/>
          </a:bodyPr>
          <a:lstStyle/>
          <a:p>
            <a:pPr algn="l" indent="0" marL="0">
              <a:buNone/>
            </a:pPr>
            <a:r>
              <a:rPr lang="en-US" sz="975" b="1" dirty="0">
                <a:solidFill>
                  <a:srgbClr val="A7B8CA"/>
                </a:solidFill>
                <a:latin typeface="Arial" pitchFamily="34" charset="0"/>
                <a:ea typeface="Arial" pitchFamily="34" charset="-122"/>
                <a:cs typeface="Arial" pitchFamily="34" charset="-120"/>
              </a:rPr>
              <a:t>DB</a:t>
            </a:r>
            <a:endParaRPr lang="en-US" sz="975" dirty="0"/>
          </a:p>
        </p:txBody>
      </p:sp>
      <p:sp>
        <p:nvSpPr>
          <p:cNvPr id="6" name="Shape 4"/>
          <p:cNvSpPr/>
          <p:nvPr/>
        </p:nvSpPr>
        <p:spPr>
          <a:xfrm>
            <a:off x="15890558" y="323850"/>
            <a:ext cx="570428" cy="278130"/>
          </a:xfrm>
          <a:prstGeom prst="roundRect">
            <a:avLst>
              <a:gd name="adj" fmla="val 50000"/>
            </a:avLst>
          </a:prstGeom>
          <a:solidFill>
            <a:srgbClr val="E6EEF7"/>
          </a:solidFill>
          <a:ln/>
        </p:spPr>
      </p:sp>
      <p:sp>
        <p:nvSpPr>
          <p:cNvPr id="7" name="Text 5"/>
          <p:cNvSpPr/>
          <p:nvPr/>
        </p:nvSpPr>
        <p:spPr>
          <a:xfrm>
            <a:off x="16004858" y="371475"/>
            <a:ext cx="418028" cy="220980"/>
          </a:xfrm>
          <a:prstGeom prst="rect">
            <a:avLst/>
          </a:prstGeom>
          <a:noFill/>
          <a:ln/>
        </p:spPr>
        <p:txBody>
          <a:bodyPr wrap="square" lIns="25400" tIns="25400" rIns="25400" bIns="25400" rtlCol="0" anchor="t">
            <a:normAutofit/>
          </a:bodyPr>
          <a:lstStyle/>
          <a:p>
            <a:pPr algn="l" indent="0" marL="0">
              <a:buNone/>
            </a:pPr>
            <a:r>
              <a:rPr lang="en-US" sz="975" b="1" dirty="0">
                <a:solidFill>
                  <a:srgbClr val="A7B8CA"/>
                </a:solidFill>
                <a:latin typeface="Arial" pitchFamily="34" charset="0"/>
                <a:ea typeface="Arial" pitchFamily="34" charset="-122"/>
                <a:cs typeface="Arial" pitchFamily="34" charset="-120"/>
              </a:rPr>
              <a:t>백엔드</a:t>
            </a:r>
            <a:endParaRPr lang="en-US" sz="975" dirty="0"/>
          </a:p>
        </p:txBody>
      </p:sp>
      <p:sp>
        <p:nvSpPr>
          <p:cNvPr id="8" name="Shape 6"/>
          <p:cNvSpPr/>
          <p:nvPr/>
        </p:nvSpPr>
        <p:spPr>
          <a:xfrm>
            <a:off x="16518136" y="323850"/>
            <a:ext cx="570428" cy="278130"/>
          </a:xfrm>
          <a:prstGeom prst="roundRect">
            <a:avLst>
              <a:gd name="adj" fmla="val 50000"/>
            </a:avLst>
          </a:prstGeom>
          <a:solidFill>
            <a:srgbClr val="F072AC"/>
          </a:solidFill>
          <a:ln/>
        </p:spPr>
      </p:sp>
      <p:sp>
        <p:nvSpPr>
          <p:cNvPr id="9" name="Text 7"/>
          <p:cNvSpPr/>
          <p:nvPr/>
        </p:nvSpPr>
        <p:spPr>
          <a:xfrm>
            <a:off x="16632436" y="371475"/>
            <a:ext cx="418028" cy="220980"/>
          </a:xfrm>
          <a:prstGeom prst="rect">
            <a:avLst/>
          </a:prstGeom>
          <a:noFill/>
          <a:ln/>
        </p:spPr>
        <p:txBody>
          <a:bodyPr wrap="square" lIns="25400" tIns="25400" rIns="25400" bIns="25400" rtlCol="0" anchor="t">
            <a:normAutofit/>
          </a:bodyPr>
          <a:lstStyle/>
          <a:p>
            <a:pPr algn="l" indent="0" marL="0">
              <a:buNone/>
            </a:pPr>
            <a:r>
              <a:rPr lang="en-US" sz="975" b="1" dirty="0">
                <a:solidFill>
                  <a:srgbClr val="FFFFFF"/>
                </a:solidFill>
                <a:latin typeface="Arial" pitchFamily="34" charset="0"/>
                <a:ea typeface="Arial" pitchFamily="34" charset="-122"/>
                <a:cs typeface="Arial" pitchFamily="34" charset="-120"/>
              </a:rPr>
              <a:t>프론트</a:t>
            </a:r>
            <a:endParaRPr lang="en-US" sz="975" dirty="0"/>
          </a:p>
        </p:txBody>
      </p:sp>
      <p:sp>
        <p:nvSpPr>
          <p:cNvPr id="10" name="Shape 8"/>
          <p:cNvSpPr/>
          <p:nvPr/>
        </p:nvSpPr>
        <p:spPr>
          <a:xfrm>
            <a:off x="17145715" y="323850"/>
            <a:ext cx="456486" cy="278130"/>
          </a:xfrm>
          <a:prstGeom prst="roundRect">
            <a:avLst>
              <a:gd name="adj" fmla="val 50000"/>
            </a:avLst>
          </a:prstGeom>
          <a:solidFill>
            <a:srgbClr val="E6EEF7"/>
          </a:solidFill>
          <a:ln/>
        </p:spPr>
      </p:sp>
      <p:sp>
        <p:nvSpPr>
          <p:cNvPr id="11" name="Text 9"/>
          <p:cNvSpPr/>
          <p:nvPr/>
        </p:nvSpPr>
        <p:spPr>
          <a:xfrm>
            <a:off x="17260015" y="371475"/>
            <a:ext cx="304086" cy="220980"/>
          </a:xfrm>
          <a:prstGeom prst="rect">
            <a:avLst/>
          </a:prstGeom>
          <a:noFill/>
          <a:ln/>
        </p:spPr>
        <p:txBody>
          <a:bodyPr wrap="square" lIns="25400" tIns="25400" rIns="25400" bIns="25400" rtlCol="0" anchor="t">
            <a:normAutofit/>
          </a:bodyPr>
          <a:lstStyle/>
          <a:p>
            <a:pPr algn="l" indent="0" marL="0">
              <a:buNone/>
            </a:pPr>
            <a:r>
              <a:rPr lang="en-US" sz="975" b="1" dirty="0">
                <a:solidFill>
                  <a:srgbClr val="A7B8CA"/>
                </a:solidFill>
                <a:latin typeface="Arial" pitchFamily="34" charset="0"/>
                <a:ea typeface="Arial" pitchFamily="34" charset="-122"/>
                <a:cs typeface="Arial" pitchFamily="34" charset="-120"/>
              </a:rPr>
              <a:t>배포</a:t>
            </a:r>
            <a:endParaRPr lang="en-US" sz="975" dirty="0"/>
          </a:p>
        </p:txBody>
      </p:sp>
      <p:sp>
        <p:nvSpPr>
          <p:cNvPr id="12" name="Text 10"/>
          <p:cNvSpPr/>
          <p:nvPr/>
        </p:nvSpPr>
        <p:spPr>
          <a:xfrm>
            <a:off x="685800" y="571500"/>
            <a:ext cx="2204859" cy="259080"/>
          </a:xfrm>
          <a:prstGeom prst="rect">
            <a:avLst/>
          </a:prstGeom>
          <a:noFill/>
          <a:ln/>
        </p:spPr>
        <p:txBody>
          <a:bodyPr wrap="square" lIns="25400" tIns="25400" rIns="25400" bIns="25400" rtlCol="0" anchor="t">
            <a:normAutofit/>
          </a:bodyPr>
          <a:lstStyle/>
          <a:p>
            <a:pPr algn="l" indent="0" marL="0">
              <a:buNone/>
            </a:pPr>
            <a:r>
              <a:rPr lang="en-US" sz="1200" b="1" spc="48" kern="0" dirty="0">
                <a:solidFill>
                  <a:srgbClr val="D85C9A"/>
                </a:solidFill>
                <a:latin typeface="Arial" pitchFamily="34" charset="0"/>
                <a:ea typeface="Arial" pitchFamily="34" charset="-122"/>
                <a:cs typeface="Arial" pitchFamily="34" charset="-120"/>
              </a:rPr>
              <a:t>12 · 프론트 계층 — 구현 화면</a:t>
            </a:r>
            <a:endParaRPr lang="en-US" sz="1200" dirty="0"/>
          </a:p>
        </p:txBody>
      </p:sp>
      <p:sp>
        <p:nvSpPr>
          <p:cNvPr id="13" name="Shape 11"/>
          <p:cNvSpPr/>
          <p:nvPr/>
        </p:nvSpPr>
        <p:spPr>
          <a:xfrm>
            <a:off x="2823567" y="533400"/>
            <a:ext cx="1452563" cy="297180"/>
          </a:xfrm>
          <a:prstGeom prst="roundRect">
            <a:avLst>
              <a:gd name="adj" fmla="val 50000"/>
            </a:avLst>
          </a:prstGeom>
          <a:solidFill>
            <a:srgbClr val="FDF0DD"/>
          </a:solidFill>
          <a:ln/>
        </p:spPr>
      </p:sp>
      <p:sp>
        <p:nvSpPr>
          <p:cNvPr id="14" name="Text 12"/>
          <p:cNvSpPr/>
          <p:nvPr/>
        </p:nvSpPr>
        <p:spPr>
          <a:xfrm>
            <a:off x="2956917" y="590550"/>
            <a:ext cx="1262063" cy="220980"/>
          </a:xfrm>
          <a:prstGeom prst="rect">
            <a:avLst/>
          </a:prstGeom>
          <a:noFill/>
          <a:ln/>
        </p:spPr>
        <p:txBody>
          <a:bodyPr wrap="square" lIns="25400" tIns="25400" rIns="25400" bIns="25400" rtlCol="0" anchor="t">
            <a:normAutofit/>
          </a:bodyPr>
          <a:lstStyle/>
          <a:p>
            <a:pPr algn="l" indent="0" marL="0">
              <a:buNone/>
            </a:pPr>
            <a:r>
              <a:rPr lang="en-US" sz="975" b="1" dirty="0">
                <a:solidFill>
                  <a:srgbClr val="C77E1E"/>
                </a:solidFill>
                <a:latin typeface="Arial" pitchFamily="34" charset="0"/>
                <a:ea typeface="Arial" pitchFamily="34" charset="-122"/>
                <a:cs typeface="Arial" pitchFamily="34" charset="-120"/>
              </a:rPr>
              <a:t>평가 ③ LLM 연동 웹앱</a:t>
            </a:r>
            <a:endParaRPr lang="en-US" sz="975" dirty="0"/>
          </a:p>
        </p:txBody>
      </p:sp>
      <p:sp>
        <p:nvSpPr>
          <p:cNvPr id="15" name="Text 13"/>
          <p:cNvSpPr/>
          <p:nvPr/>
        </p:nvSpPr>
        <p:spPr>
          <a:xfrm>
            <a:off x="685800" y="944880"/>
            <a:ext cx="18608040" cy="647700"/>
          </a:xfrm>
          <a:prstGeom prst="rect">
            <a:avLst/>
          </a:prstGeom>
          <a:noFill/>
          <a:ln/>
        </p:spPr>
        <p:txBody>
          <a:bodyPr wrap="square" lIns="25400" tIns="25400" rIns="25400" bIns="25400" rtlCol="0" anchor="t">
            <a:normAutofit/>
          </a:bodyPr>
          <a:lstStyle/>
          <a:p>
            <a:pPr algn="l" indent="0" marL="0">
              <a:buNone/>
            </a:pPr>
            <a:r>
              <a:rPr lang="en-US" sz="3300" b="1" spc="-99" kern="0" dirty="0">
                <a:solidFill>
                  <a:srgbClr val="143257"/>
                </a:solidFill>
                <a:latin typeface="Arial" pitchFamily="34" charset="0"/>
                <a:ea typeface="Arial" pitchFamily="34" charset="-122"/>
                <a:cs typeface="Arial" pitchFamily="34" charset="-120"/>
              </a:rPr>
              <a:t>설계가 실제 동작하는 화면이 되었습니다</a:t>
            </a:r>
            <a:endParaRPr lang="en-US" sz="3300" dirty="0"/>
          </a:p>
        </p:txBody>
      </p:sp>
      <p:sp>
        <p:nvSpPr>
          <p:cNvPr id="16" name="Shape 14"/>
          <p:cNvSpPr/>
          <p:nvPr/>
        </p:nvSpPr>
        <p:spPr>
          <a:xfrm>
            <a:off x="685800" y="1840230"/>
            <a:ext cx="5486400" cy="7250430"/>
          </a:xfrm>
          <a:prstGeom prst="roundRect">
            <a:avLst>
              <a:gd name="adj" fmla="val 2778"/>
            </a:avLst>
          </a:prstGeom>
          <a:solidFill>
            <a:srgbClr val="FFFFFF"/>
          </a:solidFill>
          <a:ln w="7620">
            <a:solidFill>
              <a:srgbClr val="E6EEF7"/>
            </a:solidFill>
            <a:prstDash val="solid"/>
          </a:ln>
          <a:effectLst>
            <a:outerShdw sx="100000" sy="100000" kx="0" ky="0" algn="bl" rotWithShape="0" blurRad="323850" dist="133350" dir="5400000">
              <a:srgbClr val="2E8BE0">
                <a:alpha val="16000"/>
              </a:srgbClr>
            </a:outerShdw>
          </a:effectLst>
        </p:spPr>
      </p:sp>
      <p:pic>
        <p:nvPicPr>
          <p:cNvPr id="17" name="Image 0" descr="preencoded.png">    </p:cNvPr>
          <p:cNvPicPr>
            <a:picLocks noChangeAspect="1"/>
          </p:cNvPicPr>
          <p:nvPr/>
        </p:nvPicPr>
        <p:blipFill>
          <a:blip r:embed="rId1"/>
          <a:srcRect l="26369" r="26369" t="0" b="0"/>
          <a:stretch/>
        </p:blipFill>
        <p:spPr>
          <a:xfrm>
            <a:off x="693420" y="1847850"/>
            <a:ext cx="5471160" cy="7235190"/>
          </a:xfrm>
          <a:prstGeom prst="rect">
            <a:avLst/>
          </a:prstGeom>
        </p:spPr>
      </p:pic>
      <p:sp>
        <p:nvSpPr>
          <p:cNvPr id="18" name="Text 15"/>
          <p:cNvSpPr/>
          <p:nvPr/>
        </p:nvSpPr>
        <p:spPr>
          <a:xfrm>
            <a:off x="685800" y="9243060"/>
            <a:ext cx="6035040" cy="350520"/>
          </a:xfrm>
          <a:prstGeom prst="rect">
            <a:avLst/>
          </a:prstGeom>
          <a:noFill/>
          <a:ln/>
        </p:spPr>
        <p:txBody>
          <a:bodyPr wrap="square" lIns="25400" tIns="25400" rIns="25400" bIns="25400" rtlCol="0" anchor="t">
            <a:normAutofit/>
          </a:bodyPr>
          <a:lstStyle/>
          <a:p>
            <a:pPr algn="l" indent="0" marL="0">
              <a:buNone/>
            </a:pPr>
            <a:r>
              <a:rPr lang="en-US" sz="1725" b="1" dirty="0">
                <a:solidFill>
                  <a:srgbClr val="143257"/>
                </a:solidFill>
                <a:latin typeface="Arial" pitchFamily="34" charset="0"/>
                <a:ea typeface="Arial" pitchFamily="34" charset="-122"/>
                <a:cs typeface="Arial" pitchFamily="34" charset="-120"/>
              </a:rPr>
              <a:t>채팅</a:t>
            </a:r>
            <a:endParaRPr lang="en-US" sz="1725" dirty="0"/>
          </a:p>
        </p:txBody>
      </p:sp>
      <p:sp>
        <p:nvSpPr>
          <p:cNvPr id="19" name="Text 16"/>
          <p:cNvSpPr/>
          <p:nvPr/>
        </p:nvSpPr>
        <p:spPr>
          <a:xfrm>
            <a:off x="685800" y="9555480"/>
            <a:ext cx="6035040" cy="236220"/>
          </a:xfrm>
          <a:prstGeom prst="rect">
            <a:avLst/>
          </a:prstGeom>
          <a:noFill/>
          <a:ln/>
        </p:spPr>
        <p:txBody>
          <a:bodyPr wrap="square" lIns="25400" tIns="25400" rIns="25400" bIns="25400" rtlCol="0" anchor="t">
            <a:normAutofit/>
          </a:bodyPr>
          <a:lstStyle/>
          <a:p>
            <a:pPr algn="l" indent="0" marL="0">
              <a:buNone/>
            </a:pPr>
            <a:r>
              <a:rPr lang="en-US" sz="1350" b="1" dirty="0">
                <a:solidFill>
                  <a:srgbClr val="51657B"/>
                </a:solidFill>
                <a:latin typeface="Arial" pitchFamily="34" charset="0"/>
                <a:ea typeface="Arial" pitchFamily="34" charset="-122"/>
                <a:cs typeface="Arial" pitchFamily="34" charset="-120"/>
              </a:rPr>
              <a:t>출처 · 피드백 포함 응답</a:t>
            </a:r>
            <a:endParaRPr lang="en-US" sz="1350" dirty="0"/>
          </a:p>
        </p:txBody>
      </p:sp>
      <p:sp>
        <p:nvSpPr>
          <p:cNvPr id="20" name="Shape 17"/>
          <p:cNvSpPr/>
          <p:nvPr/>
        </p:nvSpPr>
        <p:spPr>
          <a:xfrm>
            <a:off x="6400800" y="1840230"/>
            <a:ext cx="5486400" cy="7250430"/>
          </a:xfrm>
          <a:prstGeom prst="roundRect">
            <a:avLst>
              <a:gd name="adj" fmla="val 2778"/>
            </a:avLst>
          </a:prstGeom>
          <a:solidFill>
            <a:srgbClr val="FFFFFF"/>
          </a:solidFill>
          <a:ln w="7620">
            <a:solidFill>
              <a:srgbClr val="E6EEF7"/>
            </a:solidFill>
            <a:prstDash val="solid"/>
          </a:ln>
          <a:effectLst>
            <a:outerShdw sx="100000" sy="100000" kx="0" ky="0" algn="bl" rotWithShape="0" blurRad="323850" dist="133350" dir="5400000">
              <a:srgbClr val="2E8BE0">
                <a:alpha val="16000"/>
              </a:srgbClr>
            </a:outerShdw>
          </a:effectLst>
        </p:spPr>
      </p:sp>
      <p:pic>
        <p:nvPicPr>
          <p:cNvPr id="21" name="Image 1" descr="preencoded.png">    </p:cNvPr>
          <p:cNvPicPr>
            <a:picLocks noChangeAspect="1"/>
          </p:cNvPicPr>
          <p:nvPr/>
        </p:nvPicPr>
        <p:blipFill>
          <a:blip r:embed="rId2"/>
          <a:srcRect l="17967" r="17967" t="0" b="0"/>
          <a:stretch/>
        </p:blipFill>
        <p:spPr>
          <a:xfrm>
            <a:off x="6408420" y="1847850"/>
            <a:ext cx="5471160" cy="7235190"/>
          </a:xfrm>
          <a:prstGeom prst="rect">
            <a:avLst/>
          </a:prstGeom>
        </p:spPr>
      </p:pic>
      <p:sp>
        <p:nvSpPr>
          <p:cNvPr id="22" name="Text 18"/>
          <p:cNvSpPr/>
          <p:nvPr/>
        </p:nvSpPr>
        <p:spPr>
          <a:xfrm>
            <a:off x="6400800" y="9243060"/>
            <a:ext cx="6035040" cy="350520"/>
          </a:xfrm>
          <a:prstGeom prst="rect">
            <a:avLst/>
          </a:prstGeom>
          <a:noFill/>
          <a:ln/>
        </p:spPr>
        <p:txBody>
          <a:bodyPr wrap="square" lIns="25400" tIns="25400" rIns="25400" bIns="25400" rtlCol="0" anchor="t">
            <a:normAutofit/>
          </a:bodyPr>
          <a:lstStyle/>
          <a:p>
            <a:pPr algn="l" indent="0" marL="0">
              <a:buNone/>
            </a:pPr>
            <a:r>
              <a:rPr lang="en-US" sz="1725" b="1" dirty="0">
                <a:solidFill>
                  <a:srgbClr val="143257"/>
                </a:solidFill>
                <a:latin typeface="Arial" pitchFamily="34" charset="0"/>
                <a:ea typeface="Arial" pitchFamily="34" charset="-122"/>
                <a:cs typeface="Arial" pitchFamily="34" charset="-120"/>
              </a:rPr>
              <a:t>게시판 · 문의</a:t>
            </a:r>
            <a:endParaRPr lang="en-US" sz="1725" dirty="0"/>
          </a:p>
        </p:txBody>
      </p:sp>
      <p:sp>
        <p:nvSpPr>
          <p:cNvPr id="23" name="Text 19"/>
          <p:cNvSpPr/>
          <p:nvPr/>
        </p:nvSpPr>
        <p:spPr>
          <a:xfrm>
            <a:off x="6400800" y="9555480"/>
            <a:ext cx="6035040" cy="236220"/>
          </a:xfrm>
          <a:prstGeom prst="rect">
            <a:avLst/>
          </a:prstGeom>
          <a:noFill/>
          <a:ln/>
        </p:spPr>
        <p:txBody>
          <a:bodyPr wrap="square" lIns="25400" tIns="25400" rIns="25400" bIns="25400" rtlCol="0" anchor="t">
            <a:normAutofit/>
          </a:bodyPr>
          <a:lstStyle/>
          <a:p>
            <a:pPr algn="l" indent="0" marL="0">
              <a:buNone/>
            </a:pPr>
            <a:r>
              <a:rPr lang="en-US" sz="1350" b="1" dirty="0">
                <a:solidFill>
                  <a:srgbClr val="51657B"/>
                </a:solidFill>
                <a:latin typeface="Arial" pitchFamily="34" charset="0"/>
                <a:ea typeface="Arial" pitchFamily="34" charset="-122"/>
                <a:cs typeface="Arial" pitchFamily="34" charset="-120"/>
              </a:rPr>
              <a:t>학사 커뮤니티 · 검색</a:t>
            </a:r>
            <a:endParaRPr lang="en-US" sz="1350" dirty="0"/>
          </a:p>
        </p:txBody>
      </p:sp>
      <p:sp>
        <p:nvSpPr>
          <p:cNvPr id="24" name="Shape 20"/>
          <p:cNvSpPr/>
          <p:nvPr/>
        </p:nvSpPr>
        <p:spPr>
          <a:xfrm>
            <a:off x="12115800" y="1840230"/>
            <a:ext cx="5486400" cy="7250430"/>
          </a:xfrm>
          <a:prstGeom prst="roundRect">
            <a:avLst>
              <a:gd name="adj" fmla="val 2778"/>
            </a:avLst>
          </a:prstGeom>
          <a:solidFill>
            <a:srgbClr val="FFFFFF"/>
          </a:solidFill>
          <a:ln w="7620">
            <a:solidFill>
              <a:srgbClr val="E6EEF7"/>
            </a:solidFill>
            <a:prstDash val="solid"/>
          </a:ln>
          <a:effectLst>
            <a:outerShdw sx="100000" sy="100000" kx="0" ky="0" algn="bl" rotWithShape="0" blurRad="323850" dist="133350" dir="5400000">
              <a:srgbClr val="2E8BE0">
                <a:alpha val="16000"/>
              </a:srgbClr>
            </a:outerShdw>
          </a:effectLst>
        </p:spPr>
      </p:sp>
      <p:pic>
        <p:nvPicPr>
          <p:cNvPr id="25" name="Image 2" descr="preencoded.png">    </p:cNvPr>
          <p:cNvPicPr>
            <a:picLocks noChangeAspect="1"/>
          </p:cNvPicPr>
          <p:nvPr/>
        </p:nvPicPr>
        <p:blipFill>
          <a:blip r:embed="rId3"/>
          <a:srcRect l="10615" r="10615" t="0" b="0"/>
          <a:stretch/>
        </p:blipFill>
        <p:spPr>
          <a:xfrm>
            <a:off x="12123420" y="1847850"/>
            <a:ext cx="5471160" cy="7235190"/>
          </a:xfrm>
          <a:prstGeom prst="rect">
            <a:avLst/>
          </a:prstGeom>
        </p:spPr>
      </p:pic>
      <p:sp>
        <p:nvSpPr>
          <p:cNvPr id="26" name="Text 21"/>
          <p:cNvSpPr/>
          <p:nvPr/>
        </p:nvSpPr>
        <p:spPr>
          <a:xfrm>
            <a:off x="12115800" y="9243060"/>
            <a:ext cx="6035040" cy="350520"/>
          </a:xfrm>
          <a:prstGeom prst="rect">
            <a:avLst/>
          </a:prstGeom>
          <a:noFill/>
          <a:ln/>
        </p:spPr>
        <p:txBody>
          <a:bodyPr wrap="square" lIns="25400" tIns="25400" rIns="25400" bIns="25400" rtlCol="0" anchor="t">
            <a:normAutofit/>
          </a:bodyPr>
          <a:lstStyle/>
          <a:p>
            <a:pPr algn="l" indent="0" marL="0">
              <a:buNone/>
            </a:pPr>
            <a:r>
              <a:rPr lang="en-US" sz="1725" b="1" dirty="0">
                <a:solidFill>
                  <a:srgbClr val="143257"/>
                </a:solidFill>
                <a:latin typeface="Arial" pitchFamily="34" charset="0"/>
                <a:ea typeface="Arial" pitchFamily="34" charset="-122"/>
                <a:cs typeface="Arial" pitchFamily="34" charset="-120"/>
              </a:rPr>
              <a:t>관리자 통계</a:t>
            </a:r>
            <a:endParaRPr lang="en-US" sz="1725" dirty="0"/>
          </a:p>
        </p:txBody>
      </p:sp>
      <p:sp>
        <p:nvSpPr>
          <p:cNvPr id="27" name="Text 22"/>
          <p:cNvSpPr/>
          <p:nvPr/>
        </p:nvSpPr>
        <p:spPr>
          <a:xfrm>
            <a:off x="12115800" y="9555480"/>
            <a:ext cx="6035040" cy="236220"/>
          </a:xfrm>
          <a:prstGeom prst="rect">
            <a:avLst/>
          </a:prstGeom>
          <a:noFill/>
          <a:ln/>
        </p:spPr>
        <p:txBody>
          <a:bodyPr wrap="square" lIns="25400" tIns="25400" rIns="25400" bIns="25400" rtlCol="0" anchor="t">
            <a:normAutofit/>
          </a:bodyPr>
          <a:lstStyle/>
          <a:p>
            <a:pPr algn="l" indent="0" marL="0">
              <a:buNone/>
            </a:pPr>
            <a:r>
              <a:rPr lang="en-US" sz="1350" b="1" dirty="0">
                <a:solidFill>
                  <a:srgbClr val="51657B"/>
                </a:solidFill>
                <a:latin typeface="Arial" pitchFamily="34" charset="0"/>
                <a:ea typeface="Arial" pitchFamily="34" charset="-122"/>
                <a:cs typeface="Arial" pitchFamily="34" charset="-120"/>
              </a:rPr>
              <a:t>수집 데이터 현황 집계</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8FC"/>
        </a:solidFill>
      </p:bgPr>
    </p:bg>
    <p:spTree>
      <p:nvGrpSpPr>
        <p:cNvPr id="1" name=""/>
        <p:cNvGrpSpPr/>
        <p:nvPr/>
      </p:nvGrpSpPr>
      <p:grpSpPr>
        <a:xfrm>
          <a:off x="0" y="0"/>
          <a:ext cx="0" cy="0"/>
          <a:chOff x="0" y="0"/>
          <a:chExt cx="0" cy="0"/>
        </a:xfrm>
      </p:grpSpPr>
      <p:sp>
        <p:nvSpPr>
          <p:cNvPr id="2" name="Shape 0"/>
          <p:cNvSpPr/>
          <p:nvPr/>
        </p:nvSpPr>
        <p:spPr>
          <a:xfrm>
            <a:off x="14728984" y="361950"/>
            <a:ext cx="570428" cy="278130"/>
          </a:xfrm>
          <a:prstGeom prst="roundRect">
            <a:avLst>
              <a:gd name="adj" fmla="val 50000"/>
            </a:avLst>
          </a:prstGeom>
          <a:solidFill>
            <a:srgbClr val="E6EEF7"/>
          </a:solidFill>
          <a:ln/>
        </p:spPr>
      </p:sp>
      <p:sp>
        <p:nvSpPr>
          <p:cNvPr id="3" name="Text 1"/>
          <p:cNvSpPr/>
          <p:nvPr/>
        </p:nvSpPr>
        <p:spPr>
          <a:xfrm>
            <a:off x="14843284" y="409575"/>
            <a:ext cx="418028" cy="220980"/>
          </a:xfrm>
          <a:prstGeom prst="rect">
            <a:avLst/>
          </a:prstGeom>
          <a:noFill/>
          <a:ln/>
        </p:spPr>
        <p:txBody>
          <a:bodyPr wrap="square" lIns="25400" tIns="25400" rIns="25400" bIns="25400" rtlCol="0" anchor="t">
            <a:normAutofit/>
          </a:bodyPr>
          <a:lstStyle/>
          <a:p>
            <a:pPr algn="l" indent="0" marL="0">
              <a:buNone/>
            </a:pPr>
            <a:r>
              <a:rPr lang="en-US" sz="975" b="1" dirty="0">
                <a:solidFill>
                  <a:srgbClr val="A7B8CA"/>
                </a:solidFill>
                <a:latin typeface="Arial" pitchFamily="34" charset="0"/>
                <a:ea typeface="Arial" pitchFamily="34" charset="-122"/>
                <a:cs typeface="Arial" pitchFamily="34" charset="-120"/>
              </a:rPr>
              <a:t>데이터</a:t>
            </a:r>
            <a:endParaRPr lang="en-US" sz="975" dirty="0"/>
          </a:p>
        </p:txBody>
      </p:sp>
      <p:sp>
        <p:nvSpPr>
          <p:cNvPr id="4" name="Shape 2"/>
          <p:cNvSpPr/>
          <p:nvPr/>
        </p:nvSpPr>
        <p:spPr>
          <a:xfrm>
            <a:off x="15356563" y="361950"/>
            <a:ext cx="400645" cy="278130"/>
          </a:xfrm>
          <a:prstGeom prst="roundRect">
            <a:avLst>
              <a:gd name="adj" fmla="val 50000"/>
            </a:avLst>
          </a:prstGeom>
          <a:solidFill>
            <a:srgbClr val="E6EEF7"/>
          </a:solidFill>
          <a:ln/>
        </p:spPr>
      </p:sp>
      <p:sp>
        <p:nvSpPr>
          <p:cNvPr id="5" name="Text 3"/>
          <p:cNvSpPr/>
          <p:nvPr/>
        </p:nvSpPr>
        <p:spPr>
          <a:xfrm>
            <a:off x="15470863" y="409575"/>
            <a:ext cx="248245" cy="220980"/>
          </a:xfrm>
          <a:prstGeom prst="rect">
            <a:avLst/>
          </a:prstGeom>
          <a:noFill/>
          <a:ln/>
        </p:spPr>
        <p:txBody>
          <a:bodyPr wrap="square" lIns="25400" tIns="25400" rIns="25400" bIns="25400" rtlCol="0" anchor="t">
            <a:normAutofit/>
          </a:bodyPr>
          <a:lstStyle/>
          <a:p>
            <a:pPr algn="l" indent="0" marL="0">
              <a:buNone/>
            </a:pPr>
            <a:r>
              <a:rPr lang="en-US" sz="975" b="1" dirty="0">
                <a:solidFill>
                  <a:srgbClr val="A7B8CA"/>
                </a:solidFill>
                <a:latin typeface="Arial" pitchFamily="34" charset="0"/>
                <a:ea typeface="Arial" pitchFamily="34" charset="-122"/>
                <a:cs typeface="Arial" pitchFamily="34" charset="-120"/>
              </a:rPr>
              <a:t>DB</a:t>
            </a:r>
            <a:endParaRPr lang="en-US" sz="975" dirty="0"/>
          </a:p>
        </p:txBody>
      </p:sp>
      <p:sp>
        <p:nvSpPr>
          <p:cNvPr id="6" name="Shape 4"/>
          <p:cNvSpPr/>
          <p:nvPr/>
        </p:nvSpPr>
        <p:spPr>
          <a:xfrm>
            <a:off x="15814358" y="361950"/>
            <a:ext cx="570428" cy="278130"/>
          </a:xfrm>
          <a:prstGeom prst="roundRect">
            <a:avLst>
              <a:gd name="adj" fmla="val 50000"/>
            </a:avLst>
          </a:prstGeom>
          <a:solidFill>
            <a:srgbClr val="2E8BE0"/>
          </a:solidFill>
          <a:ln/>
        </p:spPr>
      </p:sp>
      <p:sp>
        <p:nvSpPr>
          <p:cNvPr id="7" name="Text 5"/>
          <p:cNvSpPr/>
          <p:nvPr/>
        </p:nvSpPr>
        <p:spPr>
          <a:xfrm>
            <a:off x="15928658" y="409575"/>
            <a:ext cx="418028" cy="220980"/>
          </a:xfrm>
          <a:prstGeom prst="rect">
            <a:avLst/>
          </a:prstGeom>
          <a:noFill/>
          <a:ln/>
        </p:spPr>
        <p:txBody>
          <a:bodyPr wrap="square" lIns="25400" tIns="25400" rIns="25400" bIns="25400" rtlCol="0" anchor="t">
            <a:normAutofit/>
          </a:bodyPr>
          <a:lstStyle/>
          <a:p>
            <a:pPr algn="l" indent="0" marL="0">
              <a:buNone/>
            </a:pPr>
            <a:r>
              <a:rPr lang="en-US" sz="975" b="1" dirty="0">
                <a:solidFill>
                  <a:srgbClr val="FFFFFF"/>
                </a:solidFill>
                <a:latin typeface="Arial" pitchFamily="34" charset="0"/>
                <a:ea typeface="Arial" pitchFamily="34" charset="-122"/>
                <a:cs typeface="Arial" pitchFamily="34" charset="-120"/>
              </a:rPr>
              <a:t>백엔드</a:t>
            </a:r>
            <a:endParaRPr lang="en-US" sz="975" dirty="0"/>
          </a:p>
        </p:txBody>
      </p:sp>
      <p:sp>
        <p:nvSpPr>
          <p:cNvPr id="8" name="Shape 6"/>
          <p:cNvSpPr/>
          <p:nvPr/>
        </p:nvSpPr>
        <p:spPr>
          <a:xfrm>
            <a:off x="16441936" y="361950"/>
            <a:ext cx="570428" cy="278130"/>
          </a:xfrm>
          <a:prstGeom prst="roundRect">
            <a:avLst>
              <a:gd name="adj" fmla="val 50000"/>
            </a:avLst>
          </a:prstGeom>
          <a:solidFill>
            <a:srgbClr val="F072AC"/>
          </a:solidFill>
          <a:ln/>
        </p:spPr>
      </p:sp>
      <p:sp>
        <p:nvSpPr>
          <p:cNvPr id="9" name="Text 7"/>
          <p:cNvSpPr/>
          <p:nvPr/>
        </p:nvSpPr>
        <p:spPr>
          <a:xfrm>
            <a:off x="16556236" y="409575"/>
            <a:ext cx="418028" cy="220980"/>
          </a:xfrm>
          <a:prstGeom prst="rect">
            <a:avLst/>
          </a:prstGeom>
          <a:noFill/>
          <a:ln/>
        </p:spPr>
        <p:txBody>
          <a:bodyPr wrap="square" lIns="25400" tIns="25400" rIns="25400" bIns="25400" rtlCol="0" anchor="t">
            <a:normAutofit/>
          </a:bodyPr>
          <a:lstStyle/>
          <a:p>
            <a:pPr algn="l" indent="0" marL="0">
              <a:buNone/>
            </a:pPr>
            <a:r>
              <a:rPr lang="en-US" sz="975" b="1" dirty="0">
                <a:solidFill>
                  <a:srgbClr val="FFFFFF"/>
                </a:solidFill>
                <a:latin typeface="Arial" pitchFamily="34" charset="0"/>
                <a:ea typeface="Arial" pitchFamily="34" charset="-122"/>
                <a:cs typeface="Arial" pitchFamily="34" charset="-120"/>
              </a:rPr>
              <a:t>프론트</a:t>
            </a:r>
            <a:endParaRPr lang="en-US" sz="975" dirty="0"/>
          </a:p>
        </p:txBody>
      </p:sp>
      <p:sp>
        <p:nvSpPr>
          <p:cNvPr id="10" name="Shape 8"/>
          <p:cNvSpPr/>
          <p:nvPr/>
        </p:nvSpPr>
        <p:spPr>
          <a:xfrm>
            <a:off x="17069515" y="361950"/>
            <a:ext cx="456486" cy="278130"/>
          </a:xfrm>
          <a:prstGeom prst="roundRect">
            <a:avLst>
              <a:gd name="adj" fmla="val 50000"/>
            </a:avLst>
          </a:prstGeom>
          <a:solidFill>
            <a:srgbClr val="E6EEF7"/>
          </a:solidFill>
          <a:ln/>
        </p:spPr>
      </p:sp>
      <p:sp>
        <p:nvSpPr>
          <p:cNvPr id="11" name="Text 9"/>
          <p:cNvSpPr/>
          <p:nvPr/>
        </p:nvSpPr>
        <p:spPr>
          <a:xfrm>
            <a:off x="17183815" y="409575"/>
            <a:ext cx="304086" cy="220980"/>
          </a:xfrm>
          <a:prstGeom prst="rect">
            <a:avLst/>
          </a:prstGeom>
          <a:noFill/>
          <a:ln/>
        </p:spPr>
        <p:txBody>
          <a:bodyPr wrap="square" lIns="25400" tIns="25400" rIns="25400" bIns="25400" rtlCol="0" anchor="t">
            <a:normAutofit/>
          </a:bodyPr>
          <a:lstStyle/>
          <a:p>
            <a:pPr algn="l" indent="0" marL="0">
              <a:buNone/>
            </a:pPr>
            <a:r>
              <a:rPr lang="en-US" sz="975" b="1" dirty="0">
                <a:solidFill>
                  <a:srgbClr val="A7B8CA"/>
                </a:solidFill>
                <a:latin typeface="Arial" pitchFamily="34" charset="0"/>
                <a:ea typeface="Arial" pitchFamily="34" charset="-122"/>
                <a:cs typeface="Arial" pitchFamily="34" charset="-120"/>
              </a:rPr>
              <a:t>배포</a:t>
            </a:r>
            <a:endParaRPr lang="en-US" sz="975" dirty="0"/>
          </a:p>
        </p:txBody>
      </p:sp>
      <p:sp>
        <p:nvSpPr>
          <p:cNvPr id="12" name="Text 10"/>
          <p:cNvSpPr/>
          <p:nvPr/>
        </p:nvSpPr>
        <p:spPr>
          <a:xfrm>
            <a:off x="685800" y="571500"/>
            <a:ext cx="1045369" cy="259080"/>
          </a:xfrm>
          <a:prstGeom prst="rect">
            <a:avLst/>
          </a:prstGeom>
          <a:noFill/>
          <a:ln/>
        </p:spPr>
        <p:txBody>
          <a:bodyPr wrap="square" lIns="25400" tIns="25400" rIns="25400" bIns="25400" rtlCol="0" anchor="t">
            <a:normAutofit/>
          </a:bodyPr>
          <a:lstStyle/>
          <a:p>
            <a:pPr algn="l" indent="0" marL="0">
              <a:buNone/>
            </a:pPr>
            <a:r>
              <a:rPr lang="en-US" sz="1200" b="1" spc="48" kern="0" dirty="0">
                <a:solidFill>
                  <a:srgbClr val="2E8BE0"/>
                </a:solidFill>
                <a:latin typeface="Arial" pitchFamily="34" charset="0"/>
                <a:ea typeface="Arial" pitchFamily="34" charset="-122"/>
                <a:cs typeface="Arial" pitchFamily="34" charset="-120"/>
              </a:rPr>
              <a:t>13 · 예외 처리</a:t>
            </a:r>
            <a:endParaRPr lang="en-US" sz="1200" dirty="0"/>
          </a:p>
        </p:txBody>
      </p:sp>
      <p:sp>
        <p:nvSpPr>
          <p:cNvPr id="13" name="Shape 11"/>
          <p:cNvSpPr/>
          <p:nvPr/>
        </p:nvSpPr>
        <p:spPr>
          <a:xfrm>
            <a:off x="1788319" y="533400"/>
            <a:ext cx="1452563" cy="297180"/>
          </a:xfrm>
          <a:prstGeom prst="roundRect">
            <a:avLst>
              <a:gd name="adj" fmla="val 50000"/>
            </a:avLst>
          </a:prstGeom>
          <a:solidFill>
            <a:srgbClr val="FDF0DD"/>
          </a:solidFill>
          <a:ln/>
        </p:spPr>
      </p:sp>
      <p:sp>
        <p:nvSpPr>
          <p:cNvPr id="14" name="Text 12"/>
          <p:cNvSpPr/>
          <p:nvPr/>
        </p:nvSpPr>
        <p:spPr>
          <a:xfrm>
            <a:off x="1921669" y="590550"/>
            <a:ext cx="1262063" cy="220980"/>
          </a:xfrm>
          <a:prstGeom prst="rect">
            <a:avLst/>
          </a:prstGeom>
          <a:noFill/>
          <a:ln/>
        </p:spPr>
        <p:txBody>
          <a:bodyPr wrap="square" lIns="25400" tIns="25400" rIns="25400" bIns="25400" rtlCol="0" anchor="t">
            <a:normAutofit/>
          </a:bodyPr>
          <a:lstStyle/>
          <a:p>
            <a:pPr algn="l" indent="0" marL="0">
              <a:buNone/>
            </a:pPr>
            <a:r>
              <a:rPr lang="en-US" sz="975" b="1" dirty="0">
                <a:solidFill>
                  <a:srgbClr val="C77E1E"/>
                </a:solidFill>
                <a:latin typeface="Arial" pitchFamily="34" charset="0"/>
                <a:ea typeface="Arial" pitchFamily="34" charset="-122"/>
                <a:cs typeface="Arial" pitchFamily="34" charset="-120"/>
              </a:rPr>
              <a:t>평가 ③ LLM 연동 웹앱</a:t>
            </a:r>
            <a:endParaRPr lang="en-US" sz="975" dirty="0"/>
          </a:p>
        </p:txBody>
      </p:sp>
      <p:sp>
        <p:nvSpPr>
          <p:cNvPr id="15" name="Text 13"/>
          <p:cNvSpPr/>
          <p:nvPr/>
        </p:nvSpPr>
        <p:spPr>
          <a:xfrm>
            <a:off x="685800" y="925830"/>
            <a:ext cx="18608040" cy="647700"/>
          </a:xfrm>
          <a:prstGeom prst="rect">
            <a:avLst/>
          </a:prstGeom>
          <a:noFill/>
          <a:ln/>
        </p:spPr>
        <p:txBody>
          <a:bodyPr wrap="square" lIns="25400" tIns="25400" rIns="25400" bIns="25400" rtlCol="0" anchor="t">
            <a:normAutofit/>
          </a:bodyPr>
          <a:lstStyle/>
          <a:p>
            <a:pPr algn="l" indent="0" marL="0">
              <a:buNone/>
            </a:pPr>
            <a:r>
              <a:rPr lang="en-US" sz="3300" b="1" spc="-99" kern="0" dirty="0">
                <a:solidFill>
                  <a:srgbClr val="143257"/>
                </a:solidFill>
                <a:latin typeface="Arial" pitchFamily="34" charset="0"/>
                <a:ea typeface="Arial" pitchFamily="34" charset="-122"/>
                <a:cs typeface="Arial" pitchFamily="34" charset="-120"/>
              </a:rPr>
              <a:t>안 될 때를 어떻게 다루는지가 중요합니다</a:t>
            </a:r>
            <a:endParaRPr lang="en-US" sz="3300" dirty="0"/>
          </a:p>
        </p:txBody>
      </p:sp>
      <p:sp>
        <p:nvSpPr>
          <p:cNvPr id="16" name="Text 14"/>
          <p:cNvSpPr/>
          <p:nvPr/>
        </p:nvSpPr>
        <p:spPr>
          <a:xfrm>
            <a:off x="685800" y="1573530"/>
            <a:ext cx="18608040" cy="274320"/>
          </a:xfrm>
          <a:prstGeom prst="rect">
            <a:avLst/>
          </a:prstGeom>
          <a:noFill/>
          <a:ln/>
        </p:spPr>
        <p:txBody>
          <a:bodyPr wrap="square" lIns="25400" tIns="25400" rIns="25400" bIns="25400" rtlCol="0" anchor="t">
            <a:normAutofit/>
          </a:bodyPr>
          <a:lstStyle/>
          <a:p>
            <a:pPr algn="l" indent="0" marL="0">
              <a:buNone/>
            </a:pPr>
            <a:r>
              <a:rPr lang="en-US" sz="1575" b="1" dirty="0">
                <a:solidFill>
                  <a:srgbClr val="6E8197"/>
                </a:solidFill>
                <a:latin typeface="Arial" pitchFamily="34" charset="0"/>
                <a:ea typeface="Arial" pitchFamily="34" charset="-122"/>
                <a:cs typeface="Arial" pitchFamily="34" charset="-120"/>
              </a:rPr>
              <a:t>예외 처리를 프론트엔드와 백엔드로 역할을 나눠 설계 — 사용자가 막히지 않도록</a:t>
            </a:r>
            <a:endParaRPr lang="en-US" sz="1575" dirty="0"/>
          </a:p>
        </p:txBody>
      </p:sp>
      <p:sp>
        <p:nvSpPr>
          <p:cNvPr id="17" name="Shape 15"/>
          <p:cNvSpPr/>
          <p:nvPr/>
        </p:nvSpPr>
        <p:spPr>
          <a:xfrm>
            <a:off x="685800" y="2019300"/>
            <a:ext cx="8353425" cy="7734300"/>
          </a:xfrm>
          <a:prstGeom prst="roundRect">
            <a:avLst>
              <a:gd name="adj" fmla="val 2709"/>
            </a:avLst>
          </a:prstGeom>
          <a:solidFill>
            <a:srgbClr val="FFFFFF"/>
          </a:solidFill>
          <a:ln/>
          <a:effectLst>
            <a:outerShdw sx="100000" sy="100000" kx="0" ky="0" algn="bl" rotWithShape="0" blurRad="285750" dist="114300" dir="5400000">
              <a:srgbClr val="F072AC">
                <a:alpha val="10000"/>
              </a:srgbClr>
            </a:outerShdw>
          </a:effectLst>
        </p:spPr>
      </p:sp>
      <p:sp>
        <p:nvSpPr>
          <p:cNvPr id="18" name="Shape 16"/>
          <p:cNvSpPr/>
          <p:nvPr/>
        </p:nvSpPr>
        <p:spPr>
          <a:xfrm>
            <a:off x="685800" y="9745980"/>
            <a:ext cx="8353425" cy="9525"/>
          </a:xfrm>
          <a:prstGeom prst="rect">
            <a:avLst/>
          </a:prstGeom>
          <a:solidFill>
            <a:srgbClr val="F6DEEC"/>
          </a:solidFill>
          <a:ln/>
        </p:spPr>
      </p:sp>
      <p:sp>
        <p:nvSpPr>
          <p:cNvPr id="19" name="Shape 17"/>
          <p:cNvSpPr/>
          <p:nvPr/>
        </p:nvSpPr>
        <p:spPr>
          <a:xfrm>
            <a:off x="685800" y="2019300"/>
            <a:ext cx="8353425" cy="45720"/>
          </a:xfrm>
          <a:prstGeom prst="rect">
            <a:avLst/>
          </a:prstGeom>
          <a:solidFill>
            <a:srgbClr val="F072AC"/>
          </a:solidFill>
          <a:ln/>
        </p:spPr>
      </p:sp>
      <p:sp>
        <p:nvSpPr>
          <p:cNvPr id="20" name="Shape 18"/>
          <p:cNvSpPr/>
          <p:nvPr/>
        </p:nvSpPr>
        <p:spPr>
          <a:xfrm>
            <a:off x="685800" y="2019300"/>
            <a:ext cx="9525" cy="7734300"/>
          </a:xfrm>
          <a:prstGeom prst="rect">
            <a:avLst/>
          </a:prstGeom>
          <a:solidFill>
            <a:srgbClr val="F6DEEC"/>
          </a:solidFill>
          <a:ln/>
        </p:spPr>
      </p:sp>
      <p:sp>
        <p:nvSpPr>
          <p:cNvPr id="21" name="Shape 19"/>
          <p:cNvSpPr/>
          <p:nvPr/>
        </p:nvSpPr>
        <p:spPr>
          <a:xfrm>
            <a:off x="9031605" y="2019300"/>
            <a:ext cx="9525" cy="7734300"/>
          </a:xfrm>
          <a:prstGeom prst="rect">
            <a:avLst/>
          </a:prstGeom>
          <a:solidFill>
            <a:srgbClr val="F6DEEC"/>
          </a:solidFill>
          <a:ln/>
        </p:spPr>
      </p:sp>
      <p:sp>
        <p:nvSpPr>
          <p:cNvPr id="22" name="Shape 20"/>
          <p:cNvSpPr/>
          <p:nvPr/>
        </p:nvSpPr>
        <p:spPr>
          <a:xfrm>
            <a:off x="998220" y="2350770"/>
            <a:ext cx="381000" cy="381000"/>
          </a:xfrm>
          <a:prstGeom prst="roundRect">
            <a:avLst>
              <a:gd name="adj" fmla="val 27500"/>
            </a:avLst>
          </a:prstGeom>
          <a:solidFill>
            <a:srgbClr val="FCEAF3"/>
          </a:solidFill>
          <a:ln/>
        </p:spPr>
      </p:sp>
      <p:sp>
        <p:nvSpPr>
          <p:cNvPr id="23" name="Text 21"/>
          <p:cNvSpPr/>
          <p:nvPr/>
        </p:nvSpPr>
        <p:spPr>
          <a:xfrm>
            <a:off x="960120" y="2350770"/>
            <a:ext cx="457200" cy="419100"/>
          </a:xfrm>
          <a:prstGeom prst="rect">
            <a:avLst/>
          </a:prstGeom>
          <a:noFill/>
          <a:ln/>
        </p:spPr>
        <p:txBody>
          <a:bodyPr wrap="square" lIns="25400" tIns="25400" rIns="25400" bIns="25400" rtlCol="0" anchor="ctr">
            <a:normAutofit/>
          </a:bodyPr>
          <a:lstStyle/>
          <a:p>
            <a:pPr algn="ctr" indent="0" marL="0">
              <a:buNone/>
            </a:pPr>
            <a:r>
              <a:rPr lang="en-US" sz="1350" b="1" dirty="0">
                <a:solidFill>
                  <a:srgbClr val="D85C9A"/>
                </a:solidFill>
                <a:latin typeface="Arial" pitchFamily="34" charset="0"/>
                <a:ea typeface="Arial" pitchFamily="34" charset="-122"/>
                <a:cs typeface="Arial" pitchFamily="34" charset="-120"/>
              </a:rPr>
              <a:t>FE</a:t>
            </a:r>
            <a:endParaRPr lang="en-US" sz="1350" dirty="0"/>
          </a:p>
        </p:txBody>
      </p:sp>
      <p:sp>
        <p:nvSpPr>
          <p:cNvPr id="24" name="Text 22"/>
          <p:cNvSpPr/>
          <p:nvPr/>
        </p:nvSpPr>
        <p:spPr>
          <a:xfrm>
            <a:off x="1493520" y="2362200"/>
            <a:ext cx="1215390" cy="396240"/>
          </a:xfrm>
          <a:prstGeom prst="rect">
            <a:avLst/>
          </a:prstGeom>
          <a:noFill/>
          <a:ln/>
        </p:spPr>
        <p:txBody>
          <a:bodyPr wrap="square" lIns="25400" tIns="25400" rIns="25400" bIns="25400" rtlCol="0" anchor="t">
            <a:normAutofit/>
          </a:bodyPr>
          <a:lstStyle/>
          <a:p>
            <a:pPr algn="l" indent="0" marL="0">
              <a:buNone/>
            </a:pPr>
            <a:r>
              <a:rPr lang="en-US" sz="1950" b="1" dirty="0">
                <a:solidFill>
                  <a:srgbClr val="143257"/>
                </a:solidFill>
                <a:latin typeface="Arial" pitchFamily="34" charset="0"/>
                <a:ea typeface="Arial" pitchFamily="34" charset="-122"/>
                <a:cs typeface="Arial" pitchFamily="34" charset="-120"/>
              </a:rPr>
              <a:t>프론트엔드</a:t>
            </a:r>
            <a:endParaRPr lang="en-US" sz="1950" dirty="0"/>
          </a:p>
        </p:txBody>
      </p:sp>
      <p:sp>
        <p:nvSpPr>
          <p:cNvPr id="25" name="Text 23"/>
          <p:cNvSpPr/>
          <p:nvPr/>
        </p:nvSpPr>
        <p:spPr>
          <a:xfrm>
            <a:off x="998220" y="2807970"/>
            <a:ext cx="8501444" cy="228600"/>
          </a:xfrm>
          <a:prstGeom prst="rect">
            <a:avLst/>
          </a:prstGeom>
          <a:noFill/>
          <a:ln/>
        </p:spPr>
        <p:txBody>
          <a:bodyPr wrap="square" lIns="25400" tIns="25400" rIns="25400" bIns="25400" rtlCol="0" anchor="t">
            <a:normAutofit/>
          </a:bodyPr>
          <a:lstStyle/>
          <a:p>
            <a:pPr algn="l" indent="0" marL="0">
              <a:buNone/>
            </a:pPr>
            <a:r>
              <a:rPr lang="en-US" sz="1275" b="1" dirty="0">
                <a:solidFill>
                  <a:srgbClr val="94A6BA"/>
                </a:solidFill>
                <a:latin typeface="Arial" pitchFamily="34" charset="0"/>
                <a:ea typeface="Arial" pitchFamily="34" charset="-122"/>
                <a:cs typeface="Arial" pitchFamily="34" charset="-120"/>
              </a:rPr>
              <a:t>입력을 막고, 상태를 알린다</a:t>
            </a:r>
            <a:endParaRPr lang="en-US" sz="1275" dirty="0"/>
          </a:p>
        </p:txBody>
      </p:sp>
      <p:sp>
        <p:nvSpPr>
          <p:cNvPr id="26" name="Shape 24"/>
          <p:cNvSpPr/>
          <p:nvPr/>
        </p:nvSpPr>
        <p:spPr>
          <a:xfrm>
            <a:off x="998220" y="3188970"/>
            <a:ext cx="7728585" cy="586740"/>
          </a:xfrm>
          <a:prstGeom prst="roundRect">
            <a:avLst>
              <a:gd name="adj" fmla="val 21104"/>
            </a:avLst>
          </a:prstGeom>
          <a:solidFill>
            <a:srgbClr val="FDF4F9"/>
          </a:solidFill>
          <a:ln/>
        </p:spPr>
      </p:sp>
      <p:sp>
        <p:nvSpPr>
          <p:cNvPr id="27" name="Shape 25"/>
          <p:cNvSpPr/>
          <p:nvPr/>
        </p:nvSpPr>
        <p:spPr>
          <a:xfrm>
            <a:off x="1169670" y="3331845"/>
            <a:ext cx="643652" cy="300990"/>
          </a:xfrm>
          <a:prstGeom prst="roundRect">
            <a:avLst>
              <a:gd name="adj" fmla="val 25316"/>
            </a:avLst>
          </a:prstGeom>
          <a:solidFill>
            <a:srgbClr val="FBE3EF"/>
          </a:solidFill>
          <a:ln/>
        </p:spPr>
      </p:sp>
      <p:sp>
        <p:nvSpPr>
          <p:cNvPr id="28" name="Text 26"/>
          <p:cNvSpPr/>
          <p:nvPr/>
        </p:nvSpPr>
        <p:spPr>
          <a:xfrm>
            <a:off x="1274445" y="3379470"/>
            <a:ext cx="510302" cy="243840"/>
          </a:xfrm>
          <a:prstGeom prst="rect">
            <a:avLst/>
          </a:prstGeom>
          <a:noFill/>
          <a:ln/>
        </p:spPr>
        <p:txBody>
          <a:bodyPr wrap="square" lIns="25400" tIns="25400" rIns="25400" bIns="25400" rtlCol="0" anchor="t">
            <a:normAutofit/>
          </a:bodyPr>
          <a:lstStyle/>
          <a:p>
            <a:pPr algn="l" indent="0" marL="0">
              <a:buNone/>
            </a:pPr>
            <a:r>
              <a:rPr lang="en-US" sz="1125" b="1" dirty="0">
                <a:solidFill>
                  <a:srgbClr val="D85C9A"/>
                </a:solidFill>
                <a:latin typeface="Arial" pitchFamily="34" charset="0"/>
                <a:ea typeface="Arial" pitchFamily="34" charset="-122"/>
                <a:cs typeface="Arial" pitchFamily="34" charset="-120"/>
              </a:rPr>
              <a:t>빈 입력</a:t>
            </a:r>
            <a:endParaRPr lang="en-US" sz="1125" dirty="0"/>
          </a:p>
        </p:txBody>
      </p:sp>
      <p:sp>
        <p:nvSpPr>
          <p:cNvPr id="29" name="Text 27"/>
          <p:cNvSpPr/>
          <p:nvPr/>
        </p:nvSpPr>
        <p:spPr>
          <a:xfrm>
            <a:off x="1946672" y="3348990"/>
            <a:ext cx="2602218" cy="304800"/>
          </a:xfrm>
          <a:prstGeom prst="rect">
            <a:avLst/>
          </a:prstGeom>
          <a:noFill/>
          <a:ln/>
        </p:spPr>
        <p:txBody>
          <a:bodyPr wrap="square" lIns="25400" tIns="25400" rIns="25400" bIns="25400" rtlCol="0" anchor="t">
            <a:normAutofit/>
          </a:bodyPr>
          <a:lstStyle/>
          <a:p>
            <a:pPr algn="l" indent="0" marL="0">
              <a:buNone/>
            </a:pPr>
            <a:r>
              <a:rPr lang="en-US" sz="1425" b="1" dirty="0">
                <a:solidFill>
                  <a:srgbClr val="3C5066"/>
                </a:solidFill>
                <a:latin typeface="Arial" pitchFamily="34" charset="0"/>
                <a:ea typeface="Arial" pitchFamily="34" charset="-122"/>
                <a:cs typeface="Arial" pitchFamily="34" charset="-120"/>
              </a:rPr>
              <a:t>전송 버튼 비활성화로 실수 방지</a:t>
            </a:r>
            <a:endParaRPr lang="en-US" sz="1425" dirty="0"/>
          </a:p>
        </p:txBody>
      </p:sp>
      <p:sp>
        <p:nvSpPr>
          <p:cNvPr id="30" name="Shape 28"/>
          <p:cNvSpPr/>
          <p:nvPr/>
        </p:nvSpPr>
        <p:spPr>
          <a:xfrm>
            <a:off x="998220" y="3899535"/>
            <a:ext cx="7728585" cy="586740"/>
          </a:xfrm>
          <a:prstGeom prst="roundRect">
            <a:avLst>
              <a:gd name="adj" fmla="val 21104"/>
            </a:avLst>
          </a:prstGeom>
          <a:solidFill>
            <a:srgbClr val="FDF4F9"/>
          </a:solidFill>
          <a:ln/>
        </p:spPr>
      </p:sp>
      <p:sp>
        <p:nvSpPr>
          <p:cNvPr id="31" name="Shape 29"/>
          <p:cNvSpPr/>
          <p:nvPr/>
        </p:nvSpPr>
        <p:spPr>
          <a:xfrm>
            <a:off x="1169670" y="4042410"/>
            <a:ext cx="775097" cy="300990"/>
          </a:xfrm>
          <a:prstGeom prst="roundRect">
            <a:avLst>
              <a:gd name="adj" fmla="val 25316"/>
            </a:avLst>
          </a:prstGeom>
          <a:solidFill>
            <a:srgbClr val="FBE3EF"/>
          </a:solidFill>
          <a:ln/>
        </p:spPr>
      </p:sp>
      <p:sp>
        <p:nvSpPr>
          <p:cNvPr id="32" name="Text 30"/>
          <p:cNvSpPr/>
          <p:nvPr/>
        </p:nvSpPr>
        <p:spPr>
          <a:xfrm>
            <a:off x="1274445" y="4090035"/>
            <a:ext cx="641747" cy="243840"/>
          </a:xfrm>
          <a:prstGeom prst="rect">
            <a:avLst/>
          </a:prstGeom>
          <a:noFill/>
          <a:ln/>
        </p:spPr>
        <p:txBody>
          <a:bodyPr wrap="square" lIns="25400" tIns="25400" rIns="25400" bIns="25400" rtlCol="0" anchor="t">
            <a:normAutofit/>
          </a:bodyPr>
          <a:lstStyle/>
          <a:p>
            <a:pPr algn="l" indent="0" marL="0">
              <a:buNone/>
            </a:pPr>
            <a:r>
              <a:rPr lang="en-US" sz="1125" b="1" dirty="0">
                <a:solidFill>
                  <a:srgbClr val="D85C9A"/>
                </a:solidFill>
                <a:latin typeface="Arial" pitchFamily="34" charset="0"/>
                <a:ea typeface="Arial" pitchFamily="34" charset="-122"/>
                <a:cs typeface="Arial" pitchFamily="34" charset="-120"/>
              </a:rPr>
              <a:t>중복 요청</a:t>
            </a:r>
            <a:endParaRPr lang="en-US" sz="1125" dirty="0"/>
          </a:p>
        </p:txBody>
      </p:sp>
      <p:sp>
        <p:nvSpPr>
          <p:cNvPr id="33" name="Text 31"/>
          <p:cNvSpPr/>
          <p:nvPr/>
        </p:nvSpPr>
        <p:spPr>
          <a:xfrm>
            <a:off x="2078117" y="4059555"/>
            <a:ext cx="2052804" cy="304800"/>
          </a:xfrm>
          <a:prstGeom prst="rect">
            <a:avLst/>
          </a:prstGeom>
          <a:noFill/>
          <a:ln/>
        </p:spPr>
        <p:txBody>
          <a:bodyPr wrap="square" lIns="25400" tIns="25400" rIns="25400" bIns="25400" rtlCol="0" anchor="t">
            <a:normAutofit/>
          </a:bodyPr>
          <a:lstStyle/>
          <a:p>
            <a:pPr algn="l" indent="0" marL="0">
              <a:buNone/>
            </a:pPr>
            <a:r>
              <a:rPr lang="en-US" sz="1425" b="1" dirty="0">
                <a:solidFill>
                  <a:srgbClr val="3C5066"/>
                </a:solidFill>
                <a:latin typeface="Arial" pitchFamily="34" charset="0"/>
                <a:ea typeface="Arial" pitchFamily="34" charset="-122"/>
                <a:cs typeface="Arial" pitchFamily="34" charset="-120"/>
              </a:rPr>
              <a:t>응답 대기 중 재전송 차단</a:t>
            </a:r>
            <a:endParaRPr lang="en-US" sz="1425" dirty="0"/>
          </a:p>
        </p:txBody>
      </p:sp>
      <p:sp>
        <p:nvSpPr>
          <p:cNvPr id="34" name="Shape 32"/>
          <p:cNvSpPr/>
          <p:nvPr/>
        </p:nvSpPr>
        <p:spPr>
          <a:xfrm>
            <a:off x="998220" y="4610100"/>
            <a:ext cx="7728585" cy="586740"/>
          </a:xfrm>
          <a:prstGeom prst="roundRect">
            <a:avLst>
              <a:gd name="adj" fmla="val 21104"/>
            </a:avLst>
          </a:prstGeom>
          <a:solidFill>
            <a:srgbClr val="FDF4F9"/>
          </a:solidFill>
          <a:ln/>
        </p:spPr>
      </p:sp>
      <p:sp>
        <p:nvSpPr>
          <p:cNvPr id="35" name="Shape 33"/>
          <p:cNvSpPr/>
          <p:nvPr/>
        </p:nvSpPr>
        <p:spPr>
          <a:xfrm>
            <a:off x="1169670" y="4752975"/>
            <a:ext cx="472440" cy="300990"/>
          </a:xfrm>
          <a:prstGeom prst="roundRect">
            <a:avLst>
              <a:gd name="adj" fmla="val 25316"/>
            </a:avLst>
          </a:prstGeom>
          <a:solidFill>
            <a:srgbClr val="FBE3EF"/>
          </a:solidFill>
          <a:ln/>
        </p:spPr>
      </p:sp>
      <p:sp>
        <p:nvSpPr>
          <p:cNvPr id="36" name="Text 34"/>
          <p:cNvSpPr/>
          <p:nvPr/>
        </p:nvSpPr>
        <p:spPr>
          <a:xfrm>
            <a:off x="1274445" y="4800600"/>
            <a:ext cx="339090" cy="243840"/>
          </a:xfrm>
          <a:prstGeom prst="rect">
            <a:avLst/>
          </a:prstGeom>
          <a:noFill/>
          <a:ln/>
        </p:spPr>
        <p:txBody>
          <a:bodyPr wrap="square" lIns="25400" tIns="25400" rIns="25400" bIns="25400" rtlCol="0" anchor="t">
            <a:normAutofit/>
          </a:bodyPr>
          <a:lstStyle/>
          <a:p>
            <a:pPr algn="l" indent="0" marL="0">
              <a:buNone/>
            </a:pPr>
            <a:r>
              <a:rPr lang="en-US" sz="1125" b="1" dirty="0">
                <a:solidFill>
                  <a:srgbClr val="D85C9A"/>
                </a:solidFill>
                <a:latin typeface="Arial" pitchFamily="34" charset="0"/>
                <a:ea typeface="Arial" pitchFamily="34" charset="-122"/>
                <a:cs typeface="Arial" pitchFamily="34" charset="-120"/>
              </a:rPr>
              <a:t>로딩</a:t>
            </a:r>
            <a:endParaRPr lang="en-US" sz="1125" dirty="0"/>
          </a:p>
        </p:txBody>
      </p:sp>
      <p:sp>
        <p:nvSpPr>
          <p:cNvPr id="37" name="Text 35"/>
          <p:cNvSpPr/>
          <p:nvPr/>
        </p:nvSpPr>
        <p:spPr>
          <a:xfrm>
            <a:off x="1775460" y="4770120"/>
            <a:ext cx="2485394" cy="304800"/>
          </a:xfrm>
          <a:prstGeom prst="rect">
            <a:avLst/>
          </a:prstGeom>
          <a:noFill/>
          <a:ln/>
        </p:spPr>
        <p:txBody>
          <a:bodyPr wrap="square" lIns="25400" tIns="25400" rIns="25400" bIns="25400" rtlCol="0" anchor="t">
            <a:normAutofit/>
          </a:bodyPr>
          <a:lstStyle/>
          <a:p>
            <a:pPr algn="l" indent="0" marL="0">
              <a:buNone/>
            </a:pPr>
            <a:r>
              <a:rPr lang="en-US" sz="1425" b="1" dirty="0">
                <a:solidFill>
                  <a:srgbClr val="3C5066"/>
                </a:solidFill>
                <a:latin typeface="Arial" pitchFamily="34" charset="0"/>
                <a:ea typeface="Arial" pitchFamily="34" charset="-122"/>
                <a:cs typeface="Arial" pitchFamily="34" charset="-120"/>
              </a:rPr>
              <a:t>타이핑 인디케이터 · 진행 안내</a:t>
            </a:r>
            <a:endParaRPr lang="en-US" sz="1425" dirty="0"/>
          </a:p>
        </p:txBody>
      </p:sp>
      <p:sp>
        <p:nvSpPr>
          <p:cNvPr id="38" name="Shape 36"/>
          <p:cNvSpPr/>
          <p:nvPr/>
        </p:nvSpPr>
        <p:spPr>
          <a:xfrm>
            <a:off x="998220" y="5320665"/>
            <a:ext cx="7728585" cy="586740"/>
          </a:xfrm>
          <a:prstGeom prst="roundRect">
            <a:avLst>
              <a:gd name="adj" fmla="val 21104"/>
            </a:avLst>
          </a:prstGeom>
          <a:solidFill>
            <a:srgbClr val="FDF4F9"/>
          </a:solidFill>
          <a:ln/>
        </p:spPr>
      </p:sp>
      <p:sp>
        <p:nvSpPr>
          <p:cNvPr id="39" name="Shape 37"/>
          <p:cNvSpPr/>
          <p:nvPr/>
        </p:nvSpPr>
        <p:spPr>
          <a:xfrm>
            <a:off x="1169670" y="5463540"/>
            <a:ext cx="472440" cy="300990"/>
          </a:xfrm>
          <a:prstGeom prst="roundRect">
            <a:avLst>
              <a:gd name="adj" fmla="val 25316"/>
            </a:avLst>
          </a:prstGeom>
          <a:solidFill>
            <a:srgbClr val="FBE3EF"/>
          </a:solidFill>
          <a:ln/>
        </p:spPr>
      </p:sp>
      <p:sp>
        <p:nvSpPr>
          <p:cNvPr id="40" name="Text 38"/>
          <p:cNvSpPr/>
          <p:nvPr/>
        </p:nvSpPr>
        <p:spPr>
          <a:xfrm>
            <a:off x="1274445" y="5511165"/>
            <a:ext cx="339090" cy="243840"/>
          </a:xfrm>
          <a:prstGeom prst="rect">
            <a:avLst/>
          </a:prstGeom>
          <a:noFill/>
          <a:ln/>
        </p:spPr>
        <p:txBody>
          <a:bodyPr wrap="square" lIns="25400" tIns="25400" rIns="25400" bIns="25400" rtlCol="0" anchor="t">
            <a:normAutofit/>
          </a:bodyPr>
          <a:lstStyle/>
          <a:p>
            <a:pPr algn="l" indent="0" marL="0">
              <a:buNone/>
            </a:pPr>
            <a:r>
              <a:rPr lang="en-US" sz="1125" b="1" dirty="0">
                <a:solidFill>
                  <a:srgbClr val="D85C9A"/>
                </a:solidFill>
                <a:latin typeface="Arial" pitchFamily="34" charset="0"/>
                <a:ea typeface="Arial" pitchFamily="34" charset="-122"/>
                <a:cs typeface="Arial" pitchFamily="34" charset="-120"/>
              </a:rPr>
              <a:t>오류</a:t>
            </a:r>
            <a:endParaRPr lang="en-US" sz="1125" dirty="0"/>
          </a:p>
        </p:txBody>
      </p:sp>
      <p:sp>
        <p:nvSpPr>
          <p:cNvPr id="41" name="Text 39"/>
          <p:cNvSpPr/>
          <p:nvPr/>
        </p:nvSpPr>
        <p:spPr>
          <a:xfrm>
            <a:off x="1775460" y="5480685"/>
            <a:ext cx="2419124" cy="304800"/>
          </a:xfrm>
          <a:prstGeom prst="rect">
            <a:avLst/>
          </a:prstGeom>
          <a:noFill/>
          <a:ln/>
        </p:spPr>
        <p:txBody>
          <a:bodyPr wrap="square" lIns="25400" tIns="25400" rIns="25400" bIns="25400" rtlCol="0" anchor="t">
            <a:normAutofit/>
          </a:bodyPr>
          <a:lstStyle/>
          <a:p>
            <a:pPr algn="l" indent="0" marL="0">
              <a:buNone/>
            </a:pPr>
            <a:r>
              <a:rPr lang="en-US" sz="1425" b="1" dirty="0">
                <a:solidFill>
                  <a:srgbClr val="3C5066"/>
                </a:solidFill>
                <a:latin typeface="Arial" pitchFamily="34" charset="0"/>
                <a:ea typeface="Arial" pitchFamily="34" charset="-122"/>
                <a:cs typeface="Arial" pitchFamily="34" charset="-120"/>
              </a:rPr>
              <a:t>안내 메시지로 다음 행동 유도</a:t>
            </a:r>
            <a:endParaRPr lang="en-US" sz="1425" dirty="0"/>
          </a:p>
        </p:txBody>
      </p:sp>
      <p:sp>
        <p:nvSpPr>
          <p:cNvPr id="42" name="Shape 40"/>
          <p:cNvSpPr/>
          <p:nvPr/>
        </p:nvSpPr>
        <p:spPr>
          <a:xfrm>
            <a:off x="9248775" y="2019300"/>
            <a:ext cx="8353425" cy="7734300"/>
          </a:xfrm>
          <a:prstGeom prst="roundRect">
            <a:avLst>
              <a:gd name="adj" fmla="val 2709"/>
            </a:avLst>
          </a:prstGeom>
          <a:solidFill>
            <a:srgbClr val="FFFFFF"/>
          </a:solidFill>
          <a:ln/>
          <a:effectLst>
            <a:outerShdw sx="100000" sy="100000" kx="0" ky="0" algn="bl" rotWithShape="0" blurRad="285750" dist="114300" dir="5400000">
              <a:srgbClr val="2E8BE0">
                <a:alpha val="10000"/>
              </a:srgbClr>
            </a:outerShdw>
          </a:effectLst>
        </p:spPr>
      </p:sp>
      <p:sp>
        <p:nvSpPr>
          <p:cNvPr id="43" name="Shape 41"/>
          <p:cNvSpPr/>
          <p:nvPr/>
        </p:nvSpPr>
        <p:spPr>
          <a:xfrm>
            <a:off x="9248775" y="9745980"/>
            <a:ext cx="8353425" cy="9525"/>
          </a:xfrm>
          <a:prstGeom prst="rect">
            <a:avLst/>
          </a:prstGeom>
          <a:solidFill>
            <a:srgbClr val="DCEAF8"/>
          </a:solidFill>
          <a:ln/>
        </p:spPr>
      </p:sp>
      <p:sp>
        <p:nvSpPr>
          <p:cNvPr id="44" name="Shape 42"/>
          <p:cNvSpPr/>
          <p:nvPr/>
        </p:nvSpPr>
        <p:spPr>
          <a:xfrm>
            <a:off x="9248775" y="2019300"/>
            <a:ext cx="8353425" cy="45720"/>
          </a:xfrm>
          <a:prstGeom prst="rect">
            <a:avLst/>
          </a:prstGeom>
          <a:solidFill>
            <a:srgbClr val="2E8BE0"/>
          </a:solidFill>
          <a:ln/>
        </p:spPr>
      </p:sp>
      <p:sp>
        <p:nvSpPr>
          <p:cNvPr id="45" name="Shape 43"/>
          <p:cNvSpPr/>
          <p:nvPr/>
        </p:nvSpPr>
        <p:spPr>
          <a:xfrm>
            <a:off x="9248775" y="2019300"/>
            <a:ext cx="9525" cy="7734300"/>
          </a:xfrm>
          <a:prstGeom prst="rect">
            <a:avLst/>
          </a:prstGeom>
          <a:solidFill>
            <a:srgbClr val="DCEAF8"/>
          </a:solidFill>
          <a:ln/>
        </p:spPr>
      </p:sp>
      <p:sp>
        <p:nvSpPr>
          <p:cNvPr id="46" name="Shape 44"/>
          <p:cNvSpPr/>
          <p:nvPr/>
        </p:nvSpPr>
        <p:spPr>
          <a:xfrm>
            <a:off x="17594580" y="2019300"/>
            <a:ext cx="9525" cy="7734300"/>
          </a:xfrm>
          <a:prstGeom prst="rect">
            <a:avLst/>
          </a:prstGeom>
          <a:solidFill>
            <a:srgbClr val="DCEAF8"/>
          </a:solidFill>
          <a:ln/>
        </p:spPr>
      </p:sp>
      <p:sp>
        <p:nvSpPr>
          <p:cNvPr id="47" name="Shape 45"/>
          <p:cNvSpPr/>
          <p:nvPr/>
        </p:nvSpPr>
        <p:spPr>
          <a:xfrm>
            <a:off x="9561195" y="2350770"/>
            <a:ext cx="381000" cy="381000"/>
          </a:xfrm>
          <a:prstGeom prst="roundRect">
            <a:avLst>
              <a:gd name="adj" fmla="val 27500"/>
            </a:avLst>
          </a:prstGeom>
          <a:solidFill>
            <a:srgbClr val="EAF2FB"/>
          </a:solidFill>
          <a:ln/>
        </p:spPr>
      </p:sp>
      <p:sp>
        <p:nvSpPr>
          <p:cNvPr id="48" name="Text 46"/>
          <p:cNvSpPr/>
          <p:nvPr/>
        </p:nvSpPr>
        <p:spPr>
          <a:xfrm>
            <a:off x="9523095" y="2350770"/>
            <a:ext cx="457200" cy="419100"/>
          </a:xfrm>
          <a:prstGeom prst="rect">
            <a:avLst/>
          </a:prstGeom>
          <a:noFill/>
          <a:ln/>
        </p:spPr>
        <p:txBody>
          <a:bodyPr wrap="square" lIns="25400" tIns="25400" rIns="25400" bIns="25400" rtlCol="0" anchor="ctr">
            <a:normAutofit/>
          </a:bodyPr>
          <a:lstStyle/>
          <a:p>
            <a:pPr algn="ctr" indent="0" marL="0">
              <a:buNone/>
            </a:pPr>
            <a:r>
              <a:rPr lang="en-US" sz="1350" b="1" dirty="0">
                <a:solidFill>
                  <a:srgbClr val="1E6FBF"/>
                </a:solidFill>
                <a:latin typeface="Arial" pitchFamily="34" charset="0"/>
                <a:ea typeface="Arial" pitchFamily="34" charset="-122"/>
                <a:cs typeface="Arial" pitchFamily="34" charset="-120"/>
              </a:rPr>
              <a:t>BE</a:t>
            </a:r>
            <a:endParaRPr lang="en-US" sz="1350" dirty="0"/>
          </a:p>
        </p:txBody>
      </p:sp>
      <p:sp>
        <p:nvSpPr>
          <p:cNvPr id="49" name="Text 47"/>
          <p:cNvSpPr/>
          <p:nvPr/>
        </p:nvSpPr>
        <p:spPr>
          <a:xfrm>
            <a:off x="10056495" y="2362200"/>
            <a:ext cx="759738" cy="396240"/>
          </a:xfrm>
          <a:prstGeom prst="rect">
            <a:avLst/>
          </a:prstGeom>
          <a:noFill/>
          <a:ln/>
        </p:spPr>
        <p:txBody>
          <a:bodyPr wrap="square" lIns="25400" tIns="25400" rIns="25400" bIns="25400" rtlCol="0" anchor="t">
            <a:normAutofit/>
          </a:bodyPr>
          <a:lstStyle/>
          <a:p>
            <a:pPr algn="l" indent="0" marL="0">
              <a:buNone/>
            </a:pPr>
            <a:r>
              <a:rPr lang="en-US" sz="1950" b="1" dirty="0">
                <a:solidFill>
                  <a:srgbClr val="143257"/>
                </a:solidFill>
                <a:latin typeface="Arial" pitchFamily="34" charset="0"/>
                <a:ea typeface="Arial" pitchFamily="34" charset="-122"/>
                <a:cs typeface="Arial" pitchFamily="34" charset="-120"/>
              </a:rPr>
              <a:t>백엔드</a:t>
            </a:r>
            <a:endParaRPr lang="en-US" sz="1950" dirty="0"/>
          </a:p>
        </p:txBody>
      </p:sp>
      <p:sp>
        <p:nvSpPr>
          <p:cNvPr id="50" name="Text 48"/>
          <p:cNvSpPr/>
          <p:nvPr/>
        </p:nvSpPr>
        <p:spPr>
          <a:xfrm>
            <a:off x="9561195" y="2807970"/>
            <a:ext cx="8501444" cy="228600"/>
          </a:xfrm>
          <a:prstGeom prst="rect">
            <a:avLst/>
          </a:prstGeom>
          <a:noFill/>
          <a:ln/>
        </p:spPr>
        <p:txBody>
          <a:bodyPr wrap="square" lIns="25400" tIns="25400" rIns="25400" bIns="25400" rtlCol="0" anchor="t">
            <a:normAutofit/>
          </a:bodyPr>
          <a:lstStyle/>
          <a:p>
            <a:pPr algn="l" indent="0" marL="0">
              <a:buNone/>
            </a:pPr>
            <a:r>
              <a:rPr lang="en-US" sz="1275" b="1" dirty="0">
                <a:solidFill>
                  <a:srgbClr val="94A6BA"/>
                </a:solidFill>
                <a:latin typeface="Arial" pitchFamily="34" charset="0"/>
                <a:ea typeface="Arial" pitchFamily="34" charset="-122"/>
                <a:cs typeface="Arial" pitchFamily="34" charset="-120"/>
              </a:rPr>
              <a:t>상태 코드와 명확한 메시지로 응답</a:t>
            </a:r>
            <a:endParaRPr lang="en-US" sz="1275" dirty="0"/>
          </a:p>
        </p:txBody>
      </p:sp>
      <p:sp>
        <p:nvSpPr>
          <p:cNvPr id="51" name="Shape 49"/>
          <p:cNvSpPr/>
          <p:nvPr/>
        </p:nvSpPr>
        <p:spPr>
          <a:xfrm>
            <a:off x="9561195" y="3188970"/>
            <a:ext cx="3811905" cy="716280"/>
          </a:xfrm>
          <a:prstGeom prst="roundRect">
            <a:avLst>
              <a:gd name="adj" fmla="val 15957"/>
            </a:avLst>
          </a:prstGeom>
          <a:solidFill>
            <a:srgbClr val="F6FAFE"/>
          </a:solidFill>
          <a:ln/>
        </p:spPr>
      </p:sp>
      <p:sp>
        <p:nvSpPr>
          <p:cNvPr id="52" name="Text 50"/>
          <p:cNvSpPr/>
          <p:nvPr/>
        </p:nvSpPr>
        <p:spPr>
          <a:xfrm>
            <a:off x="9713595" y="3322320"/>
            <a:ext cx="3857816" cy="205740"/>
          </a:xfrm>
          <a:prstGeom prst="rect">
            <a:avLst/>
          </a:prstGeom>
          <a:noFill/>
          <a:ln/>
        </p:spPr>
        <p:txBody>
          <a:bodyPr wrap="square" lIns="25400" tIns="25400" rIns="25400" bIns="25400" rtlCol="0" anchor="t">
            <a:normAutofit/>
          </a:bodyPr>
          <a:lstStyle/>
          <a:p>
            <a:pPr algn="l" indent="0" marL="0">
              <a:buNone/>
            </a:pPr>
            <a:r>
              <a:rPr lang="en-US" sz="1125" b="1" dirty="0">
                <a:solidFill>
                  <a:srgbClr val="C77E1E"/>
                </a:solidFill>
                <a:latin typeface="Courier New" pitchFamily="34" charset="0"/>
                <a:ea typeface="Courier New" pitchFamily="34" charset="-122"/>
                <a:cs typeface="Courier New" pitchFamily="34" charset="-120"/>
              </a:rPr>
              <a:t>400</a:t>
            </a:r>
            <a:endParaRPr lang="en-US" sz="1125" dirty="0"/>
          </a:p>
        </p:txBody>
      </p:sp>
      <p:sp>
        <p:nvSpPr>
          <p:cNvPr id="53" name="Text 51"/>
          <p:cNvSpPr/>
          <p:nvPr/>
        </p:nvSpPr>
        <p:spPr>
          <a:xfrm>
            <a:off x="9713595" y="3528060"/>
            <a:ext cx="3857816" cy="281940"/>
          </a:xfrm>
          <a:prstGeom prst="rect">
            <a:avLst/>
          </a:prstGeom>
          <a:noFill/>
          <a:ln/>
        </p:spPr>
        <p:txBody>
          <a:bodyPr wrap="square" lIns="25400" tIns="25400" rIns="25400" bIns="25400" rtlCol="0" anchor="t">
            <a:normAutofit/>
          </a:bodyPr>
          <a:lstStyle/>
          <a:p>
            <a:pPr algn="l" indent="0" marL="0">
              <a:buNone/>
            </a:pPr>
            <a:r>
              <a:rPr lang="en-US" sz="1350" b="1" dirty="0">
                <a:solidFill>
                  <a:srgbClr val="3C5066"/>
                </a:solidFill>
                <a:latin typeface="Arial" pitchFamily="34" charset="0"/>
                <a:ea typeface="Arial" pitchFamily="34" charset="-122"/>
                <a:cs typeface="Arial" pitchFamily="34" charset="-120"/>
              </a:rPr>
              <a:t>잘못된 요청</a:t>
            </a:r>
            <a:endParaRPr lang="en-US" sz="1350" dirty="0"/>
          </a:p>
        </p:txBody>
      </p:sp>
      <p:sp>
        <p:nvSpPr>
          <p:cNvPr id="54" name="Shape 52"/>
          <p:cNvSpPr/>
          <p:nvPr/>
        </p:nvSpPr>
        <p:spPr>
          <a:xfrm>
            <a:off x="13477875" y="3188970"/>
            <a:ext cx="3811905" cy="716280"/>
          </a:xfrm>
          <a:prstGeom prst="roundRect">
            <a:avLst>
              <a:gd name="adj" fmla="val 15957"/>
            </a:avLst>
          </a:prstGeom>
          <a:solidFill>
            <a:srgbClr val="F6FAFE"/>
          </a:solidFill>
          <a:ln/>
        </p:spPr>
      </p:sp>
      <p:sp>
        <p:nvSpPr>
          <p:cNvPr id="55" name="Text 53"/>
          <p:cNvSpPr/>
          <p:nvPr/>
        </p:nvSpPr>
        <p:spPr>
          <a:xfrm>
            <a:off x="13630275" y="3322320"/>
            <a:ext cx="3857816" cy="205740"/>
          </a:xfrm>
          <a:prstGeom prst="rect">
            <a:avLst/>
          </a:prstGeom>
          <a:noFill/>
          <a:ln/>
        </p:spPr>
        <p:txBody>
          <a:bodyPr wrap="square" lIns="25400" tIns="25400" rIns="25400" bIns="25400" rtlCol="0" anchor="t">
            <a:normAutofit/>
          </a:bodyPr>
          <a:lstStyle/>
          <a:p>
            <a:pPr algn="l" indent="0" marL="0">
              <a:buNone/>
            </a:pPr>
            <a:r>
              <a:rPr lang="en-US" sz="1125" b="1" dirty="0">
                <a:solidFill>
                  <a:srgbClr val="C77E1E"/>
                </a:solidFill>
                <a:latin typeface="Courier New" pitchFamily="34" charset="0"/>
                <a:ea typeface="Courier New" pitchFamily="34" charset="-122"/>
                <a:cs typeface="Courier New" pitchFamily="34" charset="-120"/>
              </a:rPr>
              <a:t>401</a:t>
            </a:r>
            <a:endParaRPr lang="en-US" sz="1125" dirty="0"/>
          </a:p>
        </p:txBody>
      </p:sp>
      <p:sp>
        <p:nvSpPr>
          <p:cNvPr id="56" name="Text 54"/>
          <p:cNvSpPr/>
          <p:nvPr/>
        </p:nvSpPr>
        <p:spPr>
          <a:xfrm>
            <a:off x="13630275" y="3528060"/>
            <a:ext cx="3857816" cy="281940"/>
          </a:xfrm>
          <a:prstGeom prst="rect">
            <a:avLst/>
          </a:prstGeom>
          <a:noFill/>
          <a:ln/>
        </p:spPr>
        <p:txBody>
          <a:bodyPr wrap="square" lIns="25400" tIns="25400" rIns="25400" bIns="25400" rtlCol="0" anchor="t">
            <a:normAutofit/>
          </a:bodyPr>
          <a:lstStyle/>
          <a:p>
            <a:pPr algn="l" indent="0" marL="0">
              <a:buNone/>
            </a:pPr>
            <a:r>
              <a:rPr lang="en-US" sz="1350" b="1" dirty="0">
                <a:solidFill>
                  <a:srgbClr val="3C5066"/>
                </a:solidFill>
                <a:latin typeface="Arial" pitchFamily="34" charset="0"/>
                <a:ea typeface="Arial" pitchFamily="34" charset="-122"/>
                <a:cs typeface="Arial" pitchFamily="34" charset="-120"/>
              </a:rPr>
              <a:t>로그인 필요</a:t>
            </a:r>
            <a:endParaRPr lang="en-US" sz="1350" dirty="0"/>
          </a:p>
        </p:txBody>
      </p:sp>
      <p:sp>
        <p:nvSpPr>
          <p:cNvPr id="57" name="Shape 55"/>
          <p:cNvSpPr/>
          <p:nvPr/>
        </p:nvSpPr>
        <p:spPr>
          <a:xfrm>
            <a:off x="9561195" y="4010025"/>
            <a:ext cx="3811905" cy="716280"/>
          </a:xfrm>
          <a:prstGeom prst="roundRect">
            <a:avLst>
              <a:gd name="adj" fmla="val 15957"/>
            </a:avLst>
          </a:prstGeom>
          <a:solidFill>
            <a:srgbClr val="F6FAFE"/>
          </a:solidFill>
          <a:ln/>
        </p:spPr>
      </p:sp>
      <p:sp>
        <p:nvSpPr>
          <p:cNvPr id="58" name="Text 56"/>
          <p:cNvSpPr/>
          <p:nvPr/>
        </p:nvSpPr>
        <p:spPr>
          <a:xfrm>
            <a:off x="9713595" y="4143375"/>
            <a:ext cx="3857816" cy="205740"/>
          </a:xfrm>
          <a:prstGeom prst="rect">
            <a:avLst/>
          </a:prstGeom>
          <a:noFill/>
          <a:ln/>
        </p:spPr>
        <p:txBody>
          <a:bodyPr wrap="square" lIns="25400" tIns="25400" rIns="25400" bIns="25400" rtlCol="0" anchor="t">
            <a:normAutofit/>
          </a:bodyPr>
          <a:lstStyle/>
          <a:p>
            <a:pPr algn="l" indent="0" marL="0">
              <a:buNone/>
            </a:pPr>
            <a:r>
              <a:rPr lang="en-US" sz="1125" b="1" dirty="0">
                <a:solidFill>
                  <a:srgbClr val="C77E1E"/>
                </a:solidFill>
                <a:latin typeface="Courier New" pitchFamily="34" charset="0"/>
                <a:ea typeface="Courier New" pitchFamily="34" charset="-122"/>
                <a:cs typeface="Courier New" pitchFamily="34" charset="-120"/>
              </a:rPr>
              <a:t>403</a:t>
            </a:r>
            <a:endParaRPr lang="en-US" sz="1125" dirty="0"/>
          </a:p>
        </p:txBody>
      </p:sp>
      <p:sp>
        <p:nvSpPr>
          <p:cNvPr id="59" name="Text 57"/>
          <p:cNvSpPr/>
          <p:nvPr/>
        </p:nvSpPr>
        <p:spPr>
          <a:xfrm>
            <a:off x="9713595" y="4349115"/>
            <a:ext cx="3857816" cy="281940"/>
          </a:xfrm>
          <a:prstGeom prst="rect">
            <a:avLst/>
          </a:prstGeom>
          <a:noFill/>
          <a:ln/>
        </p:spPr>
        <p:txBody>
          <a:bodyPr wrap="square" lIns="25400" tIns="25400" rIns="25400" bIns="25400" rtlCol="0" anchor="t">
            <a:normAutofit/>
          </a:bodyPr>
          <a:lstStyle/>
          <a:p>
            <a:pPr algn="l" indent="0" marL="0">
              <a:buNone/>
            </a:pPr>
            <a:r>
              <a:rPr lang="en-US" sz="1350" b="1" dirty="0">
                <a:solidFill>
                  <a:srgbClr val="3C5066"/>
                </a:solidFill>
                <a:latin typeface="Arial" pitchFamily="34" charset="0"/>
                <a:ea typeface="Arial" pitchFamily="34" charset="-122"/>
                <a:cs typeface="Arial" pitchFamily="34" charset="-120"/>
              </a:rPr>
              <a:t>권한 부족</a:t>
            </a:r>
            <a:endParaRPr lang="en-US" sz="1350" dirty="0"/>
          </a:p>
        </p:txBody>
      </p:sp>
      <p:sp>
        <p:nvSpPr>
          <p:cNvPr id="60" name="Shape 58"/>
          <p:cNvSpPr/>
          <p:nvPr/>
        </p:nvSpPr>
        <p:spPr>
          <a:xfrm>
            <a:off x="13477875" y="4010025"/>
            <a:ext cx="3811905" cy="716280"/>
          </a:xfrm>
          <a:prstGeom prst="roundRect">
            <a:avLst>
              <a:gd name="adj" fmla="val 15957"/>
            </a:avLst>
          </a:prstGeom>
          <a:solidFill>
            <a:srgbClr val="F6FAFE"/>
          </a:solidFill>
          <a:ln/>
        </p:spPr>
      </p:sp>
      <p:sp>
        <p:nvSpPr>
          <p:cNvPr id="61" name="Text 59"/>
          <p:cNvSpPr/>
          <p:nvPr/>
        </p:nvSpPr>
        <p:spPr>
          <a:xfrm>
            <a:off x="13630275" y="4143375"/>
            <a:ext cx="3857816" cy="205740"/>
          </a:xfrm>
          <a:prstGeom prst="rect">
            <a:avLst/>
          </a:prstGeom>
          <a:noFill/>
          <a:ln/>
        </p:spPr>
        <p:txBody>
          <a:bodyPr wrap="square" lIns="25400" tIns="25400" rIns="25400" bIns="25400" rtlCol="0" anchor="t">
            <a:normAutofit/>
          </a:bodyPr>
          <a:lstStyle/>
          <a:p>
            <a:pPr algn="l" indent="0" marL="0">
              <a:buNone/>
            </a:pPr>
            <a:r>
              <a:rPr lang="en-US" sz="1125" b="1" dirty="0">
                <a:solidFill>
                  <a:srgbClr val="C77E1E"/>
                </a:solidFill>
                <a:latin typeface="Courier New" pitchFamily="34" charset="0"/>
                <a:ea typeface="Courier New" pitchFamily="34" charset="-122"/>
                <a:cs typeface="Courier New" pitchFamily="34" charset="-120"/>
              </a:rPr>
              <a:t>404</a:t>
            </a:r>
            <a:endParaRPr lang="en-US" sz="1125" dirty="0"/>
          </a:p>
        </p:txBody>
      </p:sp>
      <p:sp>
        <p:nvSpPr>
          <p:cNvPr id="62" name="Text 60"/>
          <p:cNvSpPr/>
          <p:nvPr/>
        </p:nvSpPr>
        <p:spPr>
          <a:xfrm>
            <a:off x="13630275" y="4349115"/>
            <a:ext cx="3857816" cy="281940"/>
          </a:xfrm>
          <a:prstGeom prst="rect">
            <a:avLst/>
          </a:prstGeom>
          <a:noFill/>
          <a:ln/>
        </p:spPr>
        <p:txBody>
          <a:bodyPr wrap="square" lIns="25400" tIns="25400" rIns="25400" bIns="25400" rtlCol="0" anchor="t">
            <a:normAutofit/>
          </a:bodyPr>
          <a:lstStyle/>
          <a:p>
            <a:pPr algn="l" indent="0" marL="0">
              <a:buNone/>
            </a:pPr>
            <a:r>
              <a:rPr lang="en-US" sz="1350" b="1" dirty="0">
                <a:solidFill>
                  <a:srgbClr val="3C5066"/>
                </a:solidFill>
                <a:latin typeface="Arial" pitchFamily="34" charset="0"/>
                <a:ea typeface="Arial" pitchFamily="34" charset="-122"/>
                <a:cs typeface="Arial" pitchFamily="34" charset="-120"/>
              </a:rPr>
              <a:t>데이터 없음</a:t>
            </a:r>
            <a:endParaRPr lang="en-US" sz="1350" dirty="0"/>
          </a:p>
        </p:txBody>
      </p:sp>
      <p:sp>
        <p:nvSpPr>
          <p:cNvPr id="63" name="Shape 61"/>
          <p:cNvSpPr/>
          <p:nvPr/>
        </p:nvSpPr>
        <p:spPr>
          <a:xfrm>
            <a:off x="9561195" y="8705850"/>
            <a:ext cx="7728585" cy="754380"/>
          </a:xfrm>
          <a:prstGeom prst="roundRect">
            <a:avLst>
              <a:gd name="adj" fmla="val 16414"/>
            </a:avLst>
          </a:prstGeom>
          <a:gradFill rotWithShape="1">
            <a:gsLst>
              <a:gs pos="0">
                <a:srgbClr val="2E86DD">
                  <a:alpha val="100000"/>
                </a:srgbClr>
              </a:gs>
              <a:gs pos="100000">
                <a:srgbClr val="1E63B5">
                  <a:alpha val="100000"/>
                </a:srgbClr>
              </a:gs>
            </a:gsLst>
            <a:lin ang="3600000" scaled="0"/>
          </a:gradFill>
          <a:ln/>
          <a:effectLst>
            <a:outerShdw sx="100000" sy="100000" kx="0" ky="0" algn="bl" rotWithShape="0" blurRad="228600" dist="95250" dir="5400000">
              <a:srgbClr val="1E63B5">
                <a:alpha val="22000"/>
              </a:srgbClr>
            </a:outerShdw>
          </a:effectLst>
        </p:spPr>
      </p:sp>
      <p:sp>
        <p:nvSpPr>
          <p:cNvPr id="64" name="Text 62"/>
          <p:cNvSpPr/>
          <p:nvPr/>
        </p:nvSpPr>
        <p:spPr>
          <a:xfrm>
            <a:off x="9751695" y="8930640"/>
            <a:ext cx="390168" cy="342900"/>
          </a:xfrm>
          <a:prstGeom prst="rect">
            <a:avLst/>
          </a:prstGeom>
          <a:noFill/>
          <a:ln/>
        </p:spPr>
        <p:txBody>
          <a:bodyPr wrap="square" lIns="25400" tIns="25400" rIns="25400" bIns="25400" rtlCol="0" anchor="t">
            <a:normAutofit/>
          </a:bodyPr>
          <a:lstStyle/>
          <a:p>
            <a:pPr algn="l" indent="0" marL="0">
              <a:buNone/>
            </a:pPr>
            <a:r>
              <a:rPr lang="en-US" sz="1800" dirty="0">
                <a:solidFill>
                  <a:srgbClr val="FFFFFF"/>
                </a:solidFill>
                <a:latin typeface="Arial" pitchFamily="34" charset="0"/>
                <a:ea typeface="Arial" pitchFamily="34" charset="-122"/>
                <a:cs typeface="Arial" pitchFamily="34" charset="-120"/>
              </a:rPr>
              <a:t>🛟</a:t>
            </a:r>
            <a:endParaRPr lang="en-US" sz="1800" dirty="0"/>
          </a:p>
        </p:txBody>
      </p:sp>
      <p:sp>
        <p:nvSpPr>
          <p:cNvPr id="65" name="Text 63"/>
          <p:cNvSpPr/>
          <p:nvPr/>
        </p:nvSpPr>
        <p:spPr>
          <a:xfrm>
            <a:off x="10199014" y="8858250"/>
            <a:ext cx="2935403" cy="304800"/>
          </a:xfrm>
          <a:prstGeom prst="rect">
            <a:avLst/>
          </a:prstGeom>
          <a:noFill/>
          <a:ln/>
        </p:spPr>
        <p:txBody>
          <a:bodyPr wrap="square" lIns="25400" tIns="25400" rIns="25400" bIns="25400" rtlCol="0" anchor="t">
            <a:normAutofit/>
          </a:bodyPr>
          <a:lstStyle/>
          <a:p>
            <a:pPr algn="l" indent="0" marL="0">
              <a:buNone/>
            </a:pPr>
            <a:r>
              <a:rPr lang="en-US" sz="1425" b="1" dirty="0">
                <a:solidFill>
                  <a:srgbClr val="FFFFFF"/>
                </a:solidFill>
                <a:latin typeface="Arial" pitchFamily="34" charset="0"/>
                <a:ea typeface="Arial" pitchFamily="34" charset="-122"/>
                <a:cs typeface="Arial" pitchFamily="34" charset="-120"/>
              </a:rPr>
              <a:t>RAG 오류 시 폴백</a:t>
            </a:r>
            <a:endParaRPr lang="en-US" sz="1425" dirty="0"/>
          </a:p>
        </p:txBody>
      </p:sp>
      <p:sp>
        <p:nvSpPr>
          <p:cNvPr id="66" name="Text 64"/>
          <p:cNvSpPr/>
          <p:nvPr/>
        </p:nvSpPr>
        <p:spPr>
          <a:xfrm>
            <a:off x="10199014" y="9124950"/>
            <a:ext cx="2935403" cy="220980"/>
          </a:xfrm>
          <a:prstGeom prst="rect">
            <a:avLst/>
          </a:prstGeom>
          <a:noFill/>
          <a:ln/>
        </p:spPr>
        <p:txBody>
          <a:bodyPr wrap="square" lIns="25400" tIns="25400" rIns="25400" bIns="25400" rtlCol="0" anchor="t">
            <a:normAutofit/>
          </a:bodyPr>
          <a:lstStyle/>
          <a:p>
            <a:pPr algn="l" indent="0" marL="0">
              <a:buNone/>
            </a:pPr>
            <a:r>
              <a:rPr lang="en-US" sz="1200" b="1" dirty="0">
                <a:solidFill>
                  <a:srgbClr val="FFFFFF">
                    <a:alpha val="88000"/>
                  </a:srgbClr>
                </a:solidFill>
                <a:latin typeface="Arial" pitchFamily="34" charset="0"/>
                <a:ea typeface="Arial" pitchFamily="34" charset="-122"/>
                <a:cs typeface="Arial" pitchFamily="34" charset="-120"/>
              </a:rPr>
              <a:t>서버 중단 없이 예외 처리 → 안내 메시지 제공</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8FC"/>
        </a:solidFill>
      </p:bgPr>
    </p:bg>
    <p:spTree>
      <p:nvGrpSpPr>
        <p:cNvPr id="1" name=""/>
        <p:cNvGrpSpPr/>
        <p:nvPr/>
      </p:nvGrpSpPr>
      <p:grpSpPr>
        <a:xfrm>
          <a:off x="0" y="0"/>
          <a:ext cx="0" cy="0"/>
          <a:chOff x="0" y="0"/>
          <a:chExt cx="0" cy="0"/>
        </a:xfrm>
      </p:grpSpPr>
      <p:sp>
        <p:nvSpPr>
          <p:cNvPr id="2" name="Shape 0"/>
          <p:cNvSpPr/>
          <p:nvPr/>
        </p:nvSpPr>
        <p:spPr>
          <a:xfrm>
            <a:off x="14728984" y="361950"/>
            <a:ext cx="570428" cy="278130"/>
          </a:xfrm>
          <a:prstGeom prst="roundRect">
            <a:avLst>
              <a:gd name="adj" fmla="val 50000"/>
            </a:avLst>
          </a:prstGeom>
          <a:solidFill>
            <a:srgbClr val="E6EEF7"/>
          </a:solidFill>
          <a:ln/>
        </p:spPr>
      </p:sp>
      <p:sp>
        <p:nvSpPr>
          <p:cNvPr id="3" name="Text 1"/>
          <p:cNvSpPr/>
          <p:nvPr/>
        </p:nvSpPr>
        <p:spPr>
          <a:xfrm>
            <a:off x="14843284" y="409575"/>
            <a:ext cx="418028" cy="220980"/>
          </a:xfrm>
          <a:prstGeom prst="rect">
            <a:avLst/>
          </a:prstGeom>
          <a:noFill/>
          <a:ln/>
        </p:spPr>
        <p:txBody>
          <a:bodyPr wrap="square" lIns="25400" tIns="25400" rIns="25400" bIns="25400" rtlCol="0" anchor="t">
            <a:normAutofit/>
          </a:bodyPr>
          <a:lstStyle/>
          <a:p>
            <a:pPr algn="l" indent="0" marL="0">
              <a:buNone/>
            </a:pPr>
            <a:r>
              <a:rPr lang="en-US" sz="975" b="1" dirty="0">
                <a:solidFill>
                  <a:srgbClr val="A7B8CA"/>
                </a:solidFill>
                <a:latin typeface="Arial" pitchFamily="34" charset="0"/>
                <a:ea typeface="Arial" pitchFamily="34" charset="-122"/>
                <a:cs typeface="Arial" pitchFamily="34" charset="-120"/>
              </a:rPr>
              <a:t>데이터</a:t>
            </a:r>
            <a:endParaRPr lang="en-US" sz="975" dirty="0"/>
          </a:p>
        </p:txBody>
      </p:sp>
      <p:sp>
        <p:nvSpPr>
          <p:cNvPr id="4" name="Shape 2"/>
          <p:cNvSpPr/>
          <p:nvPr/>
        </p:nvSpPr>
        <p:spPr>
          <a:xfrm>
            <a:off x="15356563" y="361950"/>
            <a:ext cx="400645" cy="278130"/>
          </a:xfrm>
          <a:prstGeom prst="roundRect">
            <a:avLst>
              <a:gd name="adj" fmla="val 50000"/>
            </a:avLst>
          </a:prstGeom>
          <a:solidFill>
            <a:srgbClr val="E6EEF7"/>
          </a:solidFill>
          <a:ln/>
        </p:spPr>
      </p:sp>
      <p:sp>
        <p:nvSpPr>
          <p:cNvPr id="5" name="Text 3"/>
          <p:cNvSpPr/>
          <p:nvPr/>
        </p:nvSpPr>
        <p:spPr>
          <a:xfrm>
            <a:off x="15470863" y="409575"/>
            <a:ext cx="248245" cy="220980"/>
          </a:xfrm>
          <a:prstGeom prst="rect">
            <a:avLst/>
          </a:prstGeom>
          <a:noFill/>
          <a:ln/>
        </p:spPr>
        <p:txBody>
          <a:bodyPr wrap="square" lIns="25400" tIns="25400" rIns="25400" bIns="25400" rtlCol="0" anchor="t">
            <a:normAutofit/>
          </a:bodyPr>
          <a:lstStyle/>
          <a:p>
            <a:pPr algn="l" indent="0" marL="0">
              <a:buNone/>
            </a:pPr>
            <a:r>
              <a:rPr lang="en-US" sz="975" b="1" dirty="0">
                <a:solidFill>
                  <a:srgbClr val="A7B8CA"/>
                </a:solidFill>
                <a:latin typeface="Arial" pitchFamily="34" charset="0"/>
                <a:ea typeface="Arial" pitchFamily="34" charset="-122"/>
                <a:cs typeface="Arial" pitchFamily="34" charset="-120"/>
              </a:rPr>
              <a:t>DB</a:t>
            </a:r>
            <a:endParaRPr lang="en-US" sz="975" dirty="0"/>
          </a:p>
        </p:txBody>
      </p:sp>
      <p:sp>
        <p:nvSpPr>
          <p:cNvPr id="6" name="Shape 4"/>
          <p:cNvSpPr/>
          <p:nvPr/>
        </p:nvSpPr>
        <p:spPr>
          <a:xfrm>
            <a:off x="15814358" y="361950"/>
            <a:ext cx="570428" cy="278130"/>
          </a:xfrm>
          <a:prstGeom prst="roundRect">
            <a:avLst>
              <a:gd name="adj" fmla="val 50000"/>
            </a:avLst>
          </a:prstGeom>
          <a:solidFill>
            <a:srgbClr val="E6EEF7"/>
          </a:solidFill>
          <a:ln/>
        </p:spPr>
      </p:sp>
      <p:sp>
        <p:nvSpPr>
          <p:cNvPr id="7" name="Text 5"/>
          <p:cNvSpPr/>
          <p:nvPr/>
        </p:nvSpPr>
        <p:spPr>
          <a:xfrm>
            <a:off x="15928658" y="409575"/>
            <a:ext cx="418028" cy="220980"/>
          </a:xfrm>
          <a:prstGeom prst="rect">
            <a:avLst/>
          </a:prstGeom>
          <a:noFill/>
          <a:ln/>
        </p:spPr>
        <p:txBody>
          <a:bodyPr wrap="square" lIns="25400" tIns="25400" rIns="25400" bIns="25400" rtlCol="0" anchor="t">
            <a:normAutofit/>
          </a:bodyPr>
          <a:lstStyle/>
          <a:p>
            <a:pPr algn="l" indent="0" marL="0">
              <a:buNone/>
            </a:pPr>
            <a:r>
              <a:rPr lang="en-US" sz="975" b="1" dirty="0">
                <a:solidFill>
                  <a:srgbClr val="A7B8CA"/>
                </a:solidFill>
                <a:latin typeface="Arial" pitchFamily="34" charset="0"/>
                <a:ea typeface="Arial" pitchFamily="34" charset="-122"/>
                <a:cs typeface="Arial" pitchFamily="34" charset="-120"/>
              </a:rPr>
              <a:t>백엔드</a:t>
            </a:r>
            <a:endParaRPr lang="en-US" sz="975" dirty="0"/>
          </a:p>
        </p:txBody>
      </p:sp>
      <p:sp>
        <p:nvSpPr>
          <p:cNvPr id="8" name="Shape 6"/>
          <p:cNvSpPr/>
          <p:nvPr/>
        </p:nvSpPr>
        <p:spPr>
          <a:xfrm>
            <a:off x="16441936" y="361950"/>
            <a:ext cx="570428" cy="278130"/>
          </a:xfrm>
          <a:prstGeom prst="roundRect">
            <a:avLst>
              <a:gd name="adj" fmla="val 50000"/>
            </a:avLst>
          </a:prstGeom>
          <a:solidFill>
            <a:srgbClr val="E6EEF7"/>
          </a:solidFill>
          <a:ln/>
        </p:spPr>
      </p:sp>
      <p:sp>
        <p:nvSpPr>
          <p:cNvPr id="9" name="Text 7"/>
          <p:cNvSpPr/>
          <p:nvPr/>
        </p:nvSpPr>
        <p:spPr>
          <a:xfrm>
            <a:off x="16556236" y="409575"/>
            <a:ext cx="418028" cy="220980"/>
          </a:xfrm>
          <a:prstGeom prst="rect">
            <a:avLst/>
          </a:prstGeom>
          <a:noFill/>
          <a:ln/>
        </p:spPr>
        <p:txBody>
          <a:bodyPr wrap="square" lIns="25400" tIns="25400" rIns="25400" bIns="25400" rtlCol="0" anchor="t">
            <a:normAutofit/>
          </a:bodyPr>
          <a:lstStyle/>
          <a:p>
            <a:pPr algn="l" indent="0" marL="0">
              <a:buNone/>
            </a:pPr>
            <a:r>
              <a:rPr lang="en-US" sz="975" b="1" dirty="0">
                <a:solidFill>
                  <a:srgbClr val="A7B8CA"/>
                </a:solidFill>
                <a:latin typeface="Arial" pitchFamily="34" charset="0"/>
                <a:ea typeface="Arial" pitchFamily="34" charset="-122"/>
                <a:cs typeface="Arial" pitchFamily="34" charset="-120"/>
              </a:rPr>
              <a:t>프론트</a:t>
            </a:r>
            <a:endParaRPr lang="en-US" sz="975" dirty="0"/>
          </a:p>
        </p:txBody>
      </p:sp>
      <p:sp>
        <p:nvSpPr>
          <p:cNvPr id="10" name="Shape 8"/>
          <p:cNvSpPr/>
          <p:nvPr/>
        </p:nvSpPr>
        <p:spPr>
          <a:xfrm>
            <a:off x="17069515" y="361950"/>
            <a:ext cx="456486" cy="278130"/>
          </a:xfrm>
          <a:prstGeom prst="roundRect">
            <a:avLst>
              <a:gd name="adj" fmla="val 50000"/>
            </a:avLst>
          </a:prstGeom>
          <a:solidFill>
            <a:srgbClr val="F0A33C"/>
          </a:solidFill>
          <a:ln/>
        </p:spPr>
      </p:sp>
      <p:sp>
        <p:nvSpPr>
          <p:cNvPr id="11" name="Text 9"/>
          <p:cNvSpPr/>
          <p:nvPr/>
        </p:nvSpPr>
        <p:spPr>
          <a:xfrm>
            <a:off x="17183815" y="409575"/>
            <a:ext cx="304086" cy="220980"/>
          </a:xfrm>
          <a:prstGeom prst="rect">
            <a:avLst/>
          </a:prstGeom>
          <a:noFill/>
          <a:ln/>
        </p:spPr>
        <p:txBody>
          <a:bodyPr wrap="square" lIns="25400" tIns="25400" rIns="25400" bIns="25400" rtlCol="0" anchor="t">
            <a:normAutofit/>
          </a:bodyPr>
          <a:lstStyle/>
          <a:p>
            <a:pPr algn="l" indent="0" marL="0">
              <a:buNone/>
            </a:pPr>
            <a:r>
              <a:rPr lang="en-US" sz="975" b="1" dirty="0">
                <a:solidFill>
                  <a:srgbClr val="FFFFFF"/>
                </a:solidFill>
                <a:latin typeface="Arial" pitchFamily="34" charset="0"/>
                <a:ea typeface="Arial" pitchFamily="34" charset="-122"/>
                <a:cs typeface="Arial" pitchFamily="34" charset="-120"/>
              </a:rPr>
              <a:t>배포</a:t>
            </a:r>
            <a:endParaRPr lang="en-US" sz="975" dirty="0"/>
          </a:p>
        </p:txBody>
      </p:sp>
      <p:sp>
        <p:nvSpPr>
          <p:cNvPr id="12" name="Text 10"/>
          <p:cNvSpPr/>
          <p:nvPr/>
        </p:nvSpPr>
        <p:spPr>
          <a:xfrm>
            <a:off x="685800" y="575310"/>
            <a:ext cx="2593443" cy="259080"/>
          </a:xfrm>
          <a:prstGeom prst="rect">
            <a:avLst/>
          </a:prstGeom>
          <a:noFill/>
          <a:ln/>
        </p:spPr>
        <p:txBody>
          <a:bodyPr wrap="square" lIns="25400" tIns="25400" rIns="25400" bIns="25400" rtlCol="0" anchor="t">
            <a:normAutofit/>
          </a:bodyPr>
          <a:lstStyle/>
          <a:p>
            <a:pPr algn="l" indent="0" marL="0">
              <a:buNone/>
            </a:pPr>
            <a:r>
              <a:rPr lang="en-US" sz="1200" b="1" spc="48" kern="0" dirty="0">
                <a:solidFill>
                  <a:srgbClr val="D98A2B"/>
                </a:solidFill>
                <a:latin typeface="Arial" pitchFamily="34" charset="0"/>
                <a:ea typeface="Arial" pitchFamily="34" charset="-122"/>
                <a:cs typeface="Arial" pitchFamily="34" charset="-120"/>
              </a:rPr>
              <a:t>14 · 배포 계층 — 로컬 → 클라우드</a:t>
            </a:r>
            <a:endParaRPr lang="en-US" sz="1200" dirty="0"/>
          </a:p>
        </p:txBody>
      </p:sp>
      <p:sp>
        <p:nvSpPr>
          <p:cNvPr id="13" name="Shape 11"/>
          <p:cNvSpPr/>
          <p:nvPr/>
        </p:nvSpPr>
        <p:spPr>
          <a:xfrm>
            <a:off x="3176826" y="533400"/>
            <a:ext cx="1502212" cy="304800"/>
          </a:xfrm>
          <a:prstGeom prst="roundRect">
            <a:avLst>
              <a:gd name="adj" fmla="val 50000"/>
            </a:avLst>
          </a:prstGeom>
          <a:solidFill>
            <a:srgbClr val="FDEEDB"/>
          </a:solidFill>
          <a:ln/>
        </p:spPr>
      </p:sp>
      <p:sp>
        <p:nvSpPr>
          <p:cNvPr id="14" name="Shape 12"/>
          <p:cNvSpPr/>
          <p:nvPr/>
        </p:nvSpPr>
        <p:spPr>
          <a:xfrm>
            <a:off x="3310176" y="647700"/>
            <a:ext cx="76200" cy="76200"/>
          </a:xfrm>
          <a:prstGeom prst="ellipse">
            <a:avLst/>
          </a:prstGeom>
          <a:solidFill>
            <a:srgbClr val="E0852A"/>
          </a:solidFill>
          <a:ln/>
        </p:spPr>
      </p:sp>
      <p:sp>
        <p:nvSpPr>
          <p:cNvPr id="15" name="Text 13"/>
          <p:cNvSpPr/>
          <p:nvPr/>
        </p:nvSpPr>
        <p:spPr>
          <a:xfrm>
            <a:off x="3453051" y="621030"/>
            <a:ext cx="1168837" cy="190500"/>
          </a:xfrm>
          <a:prstGeom prst="rect">
            <a:avLst/>
          </a:prstGeom>
          <a:noFill/>
          <a:ln/>
        </p:spPr>
        <p:txBody>
          <a:bodyPr wrap="square" lIns="0" tIns="0" rIns="0" bIns="0" rtlCol="0" anchor="t">
            <a:normAutofit/>
          </a:bodyPr>
          <a:lstStyle/>
          <a:p>
            <a:pPr algn="l" indent="0" marL="0">
              <a:buNone/>
            </a:pPr>
            <a:r>
              <a:rPr lang="en-US" sz="1050" b="1" dirty="0">
                <a:solidFill>
                  <a:srgbClr val="C77E1E"/>
                </a:solidFill>
                <a:latin typeface="Arial" pitchFamily="34" charset="0"/>
                <a:ea typeface="Arial" pitchFamily="34" charset="-122"/>
                <a:cs typeface="Arial" pitchFamily="34" charset="-120"/>
              </a:rPr>
              <a:t>테스트 배포 진행 중</a:t>
            </a:r>
            <a:endParaRPr lang="en-US" sz="1050" dirty="0"/>
          </a:p>
        </p:txBody>
      </p:sp>
      <p:sp>
        <p:nvSpPr>
          <p:cNvPr id="16" name="Text 14"/>
          <p:cNvSpPr/>
          <p:nvPr/>
        </p:nvSpPr>
        <p:spPr>
          <a:xfrm>
            <a:off x="685800" y="933450"/>
            <a:ext cx="18608040" cy="617220"/>
          </a:xfrm>
          <a:prstGeom prst="rect">
            <a:avLst/>
          </a:prstGeom>
          <a:noFill/>
          <a:ln/>
        </p:spPr>
        <p:txBody>
          <a:bodyPr wrap="square" lIns="25400" tIns="25400" rIns="25400" bIns="25400" rtlCol="0" anchor="t">
            <a:normAutofit/>
          </a:bodyPr>
          <a:lstStyle/>
          <a:p>
            <a:pPr algn="l" indent="0" marL="0">
              <a:buNone/>
            </a:pPr>
            <a:r>
              <a:rPr lang="en-US" sz="3150" b="1" spc="-94" kern="0" dirty="0">
                <a:solidFill>
                  <a:srgbClr val="143257"/>
                </a:solidFill>
                <a:latin typeface="Arial" pitchFamily="34" charset="0"/>
                <a:ea typeface="Arial" pitchFamily="34" charset="-122"/>
                <a:cs typeface="Arial" pitchFamily="34" charset="-120"/>
              </a:rPr>
              <a:t>단일 EC2 서버로 배포했습니다</a:t>
            </a:r>
            <a:endParaRPr lang="en-US" sz="3150" dirty="0"/>
          </a:p>
        </p:txBody>
      </p:sp>
      <p:sp>
        <p:nvSpPr>
          <p:cNvPr id="17" name="Text 15"/>
          <p:cNvSpPr/>
          <p:nvPr/>
        </p:nvSpPr>
        <p:spPr>
          <a:xfrm>
            <a:off x="685800" y="1550670"/>
            <a:ext cx="18608040" cy="274320"/>
          </a:xfrm>
          <a:prstGeom prst="rect">
            <a:avLst/>
          </a:prstGeom>
          <a:noFill/>
          <a:ln/>
        </p:spPr>
        <p:txBody>
          <a:bodyPr wrap="square" lIns="25400" tIns="25400" rIns="25400" bIns="25400" rtlCol="0" anchor="t">
            <a:normAutofit/>
          </a:bodyPr>
          <a:lstStyle/>
          <a:p>
            <a:pPr algn="l" indent="0" marL="0">
              <a:buNone/>
            </a:pPr>
            <a:r>
              <a:rPr lang="en-US" sz="1575" b="1" dirty="0">
                <a:solidFill>
                  <a:srgbClr val="6E8197"/>
                </a:solidFill>
                <a:latin typeface="Arial" pitchFamily="34" charset="0"/>
                <a:ea typeface="Arial" pitchFamily="34" charset="-122"/>
                <a:cs typeface="Arial" pitchFamily="34" charset="-120"/>
              </a:rPr>
              <a:t>Nginx · Gunicorn · Django · RDS MySQL — 요청 흐름 전 구간을 직접 연결</a:t>
            </a:r>
            <a:endParaRPr lang="en-US" sz="1575" dirty="0"/>
          </a:p>
        </p:txBody>
      </p:sp>
      <p:sp>
        <p:nvSpPr>
          <p:cNvPr id="18" name="Shape 16"/>
          <p:cNvSpPr/>
          <p:nvPr/>
        </p:nvSpPr>
        <p:spPr>
          <a:xfrm>
            <a:off x="685800" y="2015490"/>
            <a:ext cx="10378678" cy="609600"/>
          </a:xfrm>
          <a:prstGeom prst="roundRect">
            <a:avLst>
              <a:gd name="adj" fmla="val 21875"/>
            </a:avLst>
          </a:prstGeom>
          <a:solidFill>
            <a:srgbClr val="143257"/>
          </a:solidFill>
          <a:ln/>
        </p:spPr>
      </p:sp>
      <p:sp>
        <p:nvSpPr>
          <p:cNvPr id="19" name="Shape 17"/>
          <p:cNvSpPr/>
          <p:nvPr/>
        </p:nvSpPr>
        <p:spPr>
          <a:xfrm>
            <a:off x="914400" y="2158365"/>
            <a:ext cx="323850" cy="323850"/>
          </a:xfrm>
          <a:prstGeom prst="ellipse">
            <a:avLst/>
          </a:prstGeom>
          <a:solidFill>
            <a:srgbClr val="F072AC"/>
          </a:solidFill>
          <a:ln/>
        </p:spPr>
      </p:sp>
      <p:sp>
        <p:nvSpPr>
          <p:cNvPr id="20" name="Text 18"/>
          <p:cNvSpPr/>
          <p:nvPr/>
        </p:nvSpPr>
        <p:spPr>
          <a:xfrm>
            <a:off x="876300" y="2158365"/>
            <a:ext cx="400050" cy="361950"/>
          </a:xfrm>
          <a:prstGeom prst="rect">
            <a:avLst/>
          </a:prstGeom>
          <a:noFill/>
          <a:ln/>
        </p:spPr>
        <p:txBody>
          <a:bodyPr wrap="square" lIns="25400" tIns="25400" rIns="25400" bIns="25400" rtlCol="0" anchor="ctr">
            <a:normAutofit/>
          </a:bodyPr>
          <a:lstStyle/>
          <a:p>
            <a:pPr algn="ctr" indent="0" marL="0">
              <a:buNone/>
            </a:pPr>
            <a:r>
              <a:rPr lang="en-US" sz="1125" b="1" dirty="0">
                <a:solidFill>
                  <a:srgbClr val="FFFFFF"/>
                </a:solidFill>
                <a:latin typeface="Arial" pitchFamily="34" charset="0"/>
                <a:ea typeface="Arial" pitchFamily="34" charset="-122"/>
                <a:cs typeface="Arial" pitchFamily="34" charset="-120"/>
              </a:rPr>
              <a:t>U</a:t>
            </a:r>
            <a:endParaRPr lang="en-US" sz="1125" dirty="0"/>
          </a:p>
        </p:txBody>
      </p:sp>
      <p:sp>
        <p:nvSpPr>
          <p:cNvPr id="21" name="Text 19"/>
          <p:cNvSpPr/>
          <p:nvPr/>
        </p:nvSpPr>
        <p:spPr>
          <a:xfrm>
            <a:off x="1390650" y="2175510"/>
            <a:ext cx="1478113" cy="327660"/>
          </a:xfrm>
          <a:prstGeom prst="rect">
            <a:avLst/>
          </a:prstGeom>
          <a:noFill/>
          <a:ln/>
        </p:spPr>
        <p:txBody>
          <a:bodyPr wrap="square" lIns="25400" tIns="25400" rIns="25400" bIns="25400" rtlCol="0" anchor="t">
            <a:normAutofit/>
          </a:bodyPr>
          <a:lstStyle/>
          <a:p>
            <a:pPr algn="l" indent="0" marL="0">
              <a:buNone/>
            </a:pPr>
            <a:r>
              <a:rPr lang="en-US" sz="1575" b="1" dirty="0">
                <a:solidFill>
                  <a:srgbClr val="FFFFFF"/>
                </a:solidFill>
                <a:latin typeface="Arial" pitchFamily="34" charset="0"/>
                <a:ea typeface="Arial" pitchFamily="34" charset="-122"/>
                <a:cs typeface="Arial" pitchFamily="34" charset="-120"/>
              </a:rPr>
              <a:t>사용자 브라우저</a:t>
            </a:r>
            <a:endParaRPr lang="en-US" sz="1575" dirty="0"/>
          </a:p>
        </p:txBody>
      </p:sp>
      <p:sp>
        <p:nvSpPr>
          <p:cNvPr id="22" name="Text 20"/>
          <p:cNvSpPr/>
          <p:nvPr/>
        </p:nvSpPr>
        <p:spPr>
          <a:xfrm>
            <a:off x="9098518" y="2228850"/>
            <a:ext cx="1911096" cy="220980"/>
          </a:xfrm>
          <a:prstGeom prst="rect">
            <a:avLst/>
          </a:prstGeom>
          <a:noFill/>
          <a:ln/>
        </p:spPr>
        <p:txBody>
          <a:bodyPr wrap="square" lIns="25400" tIns="25400" rIns="25400" bIns="25400" rtlCol="0" anchor="t">
            <a:normAutofit/>
          </a:bodyPr>
          <a:lstStyle/>
          <a:p>
            <a:pPr algn="l" indent="0" marL="0">
              <a:buNone/>
            </a:pPr>
            <a:r>
              <a:rPr lang="en-US" sz="1275" b="1" dirty="0">
                <a:solidFill>
                  <a:srgbClr val="9DBEE6"/>
                </a:solidFill>
                <a:latin typeface="Courier New" pitchFamily="34" charset="0"/>
                <a:ea typeface="Courier New" pitchFamily="34" charset="-122"/>
                <a:cs typeface="Courier New" pitchFamily="34" charset="-120"/>
              </a:rPr>
              <a:t>http://54.116.68.19</a:t>
            </a:r>
            <a:endParaRPr lang="en-US" sz="1275" dirty="0"/>
          </a:p>
        </p:txBody>
      </p:sp>
      <p:sp>
        <p:nvSpPr>
          <p:cNvPr id="23" name="Text 21"/>
          <p:cNvSpPr/>
          <p:nvPr/>
        </p:nvSpPr>
        <p:spPr>
          <a:xfrm>
            <a:off x="5376625" y="2682240"/>
            <a:ext cx="180975" cy="281940"/>
          </a:xfrm>
          <a:prstGeom prst="rect">
            <a:avLst/>
          </a:prstGeom>
          <a:noFill/>
          <a:ln/>
        </p:spPr>
        <p:txBody>
          <a:bodyPr wrap="square" lIns="25400" tIns="25400" rIns="25400" bIns="25400" rtlCol="0" anchor="t">
            <a:normAutofit/>
          </a:bodyPr>
          <a:lstStyle/>
          <a:p>
            <a:pPr algn="l" indent="0" marL="0">
              <a:buNone/>
            </a:pPr>
            <a:r>
              <a:rPr lang="en-US" sz="1650" dirty="0">
                <a:solidFill>
                  <a:srgbClr val="D9A85A"/>
                </a:solidFill>
                <a:latin typeface="Arial" pitchFamily="34" charset="0"/>
                <a:ea typeface="Arial" pitchFamily="34" charset="-122"/>
                <a:cs typeface="Arial" pitchFamily="34" charset="-120"/>
              </a:rPr>
              <a:t>↓</a:t>
            </a:r>
            <a:endParaRPr lang="en-US" sz="1650" dirty="0"/>
          </a:p>
        </p:txBody>
      </p:sp>
      <p:sp>
        <p:nvSpPr>
          <p:cNvPr id="24" name="Shape 22"/>
          <p:cNvSpPr/>
          <p:nvPr/>
        </p:nvSpPr>
        <p:spPr>
          <a:xfrm>
            <a:off x="5576650" y="2695575"/>
            <a:ext cx="796885" cy="217170"/>
          </a:xfrm>
          <a:prstGeom prst="roundRect">
            <a:avLst>
              <a:gd name="adj" fmla="val 50000"/>
            </a:avLst>
          </a:prstGeom>
          <a:solidFill>
            <a:srgbClr val="FDEEDB"/>
          </a:solidFill>
          <a:ln/>
        </p:spPr>
      </p:sp>
      <p:sp>
        <p:nvSpPr>
          <p:cNvPr id="25" name="Text 23"/>
          <p:cNvSpPr/>
          <p:nvPr/>
        </p:nvSpPr>
        <p:spPr>
          <a:xfrm>
            <a:off x="5690950" y="2724150"/>
            <a:ext cx="644485" cy="198120"/>
          </a:xfrm>
          <a:prstGeom prst="rect">
            <a:avLst/>
          </a:prstGeom>
          <a:noFill/>
          <a:ln/>
        </p:spPr>
        <p:txBody>
          <a:bodyPr wrap="square" lIns="25400" tIns="25400" rIns="25400" bIns="25400" rtlCol="0" anchor="t">
            <a:normAutofit/>
          </a:bodyPr>
          <a:lstStyle/>
          <a:p>
            <a:pPr algn="l" indent="0" marL="0">
              <a:buNone/>
            </a:pPr>
            <a:r>
              <a:rPr lang="en-US" sz="1050" b="1" dirty="0">
                <a:solidFill>
                  <a:srgbClr val="C77E1E"/>
                </a:solidFill>
                <a:latin typeface="Arial" pitchFamily="34" charset="0"/>
                <a:ea typeface="Arial" pitchFamily="34" charset="-122"/>
                <a:cs typeface="Arial" pitchFamily="34" charset="-120"/>
              </a:rPr>
              <a:t>HTTP :80</a:t>
            </a:r>
            <a:endParaRPr lang="en-US" sz="1050" dirty="0"/>
          </a:p>
        </p:txBody>
      </p:sp>
      <p:sp>
        <p:nvSpPr>
          <p:cNvPr id="26" name="Shape 24"/>
          <p:cNvSpPr/>
          <p:nvPr/>
        </p:nvSpPr>
        <p:spPr>
          <a:xfrm>
            <a:off x="685800" y="2983230"/>
            <a:ext cx="10378678" cy="6770370"/>
          </a:xfrm>
          <a:prstGeom prst="roundRect">
            <a:avLst>
              <a:gd name="adj" fmla="val 2532"/>
            </a:avLst>
          </a:prstGeom>
          <a:solidFill>
            <a:srgbClr val="FFFCF6"/>
          </a:solidFill>
          <a:ln w="15240">
            <a:solidFill>
              <a:srgbClr val="E0B36A"/>
            </a:solidFill>
            <a:prstDash val="dash"/>
          </a:ln>
        </p:spPr>
      </p:sp>
      <p:sp>
        <p:nvSpPr>
          <p:cNvPr id="27" name="Text 25"/>
          <p:cNvSpPr/>
          <p:nvPr/>
        </p:nvSpPr>
        <p:spPr>
          <a:xfrm>
            <a:off x="910590" y="3187065"/>
            <a:ext cx="1423499" cy="205740"/>
          </a:xfrm>
          <a:prstGeom prst="rect">
            <a:avLst/>
          </a:prstGeom>
          <a:noFill/>
          <a:ln/>
        </p:spPr>
        <p:txBody>
          <a:bodyPr wrap="square" lIns="25400" tIns="25400" rIns="25400" bIns="25400" rtlCol="0" anchor="t">
            <a:normAutofit/>
          </a:bodyPr>
          <a:lstStyle/>
          <a:p>
            <a:pPr algn="l" indent="0" marL="0">
              <a:buNone/>
            </a:pPr>
            <a:r>
              <a:rPr lang="en-US" sz="1125" b="1" spc="34" kern="0" dirty="0">
                <a:solidFill>
                  <a:srgbClr val="C77E1E"/>
                </a:solidFill>
                <a:latin typeface="Arial" pitchFamily="34" charset="0"/>
                <a:ea typeface="Arial" pitchFamily="34" charset="-122"/>
                <a:cs typeface="Arial" pitchFamily="34" charset="-120"/>
              </a:rPr>
              <a:t>AWS EC2 · Ubuntu</a:t>
            </a:r>
            <a:endParaRPr lang="en-US" sz="1125" dirty="0"/>
          </a:p>
        </p:txBody>
      </p:sp>
      <p:sp>
        <p:nvSpPr>
          <p:cNvPr id="28" name="Shape 26"/>
          <p:cNvSpPr/>
          <p:nvPr/>
        </p:nvSpPr>
        <p:spPr>
          <a:xfrm>
            <a:off x="2299930" y="3169920"/>
            <a:ext cx="1203841" cy="201930"/>
          </a:xfrm>
          <a:prstGeom prst="roundRect">
            <a:avLst>
              <a:gd name="adj" fmla="val 33019"/>
            </a:avLst>
          </a:prstGeom>
          <a:solidFill>
            <a:srgbClr val="FBEFD8"/>
          </a:solidFill>
          <a:ln/>
        </p:spPr>
      </p:sp>
      <p:sp>
        <p:nvSpPr>
          <p:cNvPr id="29" name="Text 27"/>
          <p:cNvSpPr/>
          <p:nvPr/>
        </p:nvSpPr>
        <p:spPr>
          <a:xfrm>
            <a:off x="2385655" y="3198495"/>
            <a:ext cx="1108591" cy="182880"/>
          </a:xfrm>
          <a:prstGeom prst="rect">
            <a:avLst/>
          </a:prstGeom>
          <a:noFill/>
          <a:ln/>
        </p:spPr>
        <p:txBody>
          <a:bodyPr wrap="square" lIns="25400" tIns="25400" rIns="25400" bIns="25400" rtlCol="0" anchor="t">
            <a:normAutofit/>
          </a:bodyPr>
          <a:lstStyle/>
          <a:p>
            <a:pPr algn="l" indent="0" marL="0">
              <a:buNone/>
            </a:pPr>
            <a:r>
              <a:rPr lang="en-US" sz="975" b="1" dirty="0">
                <a:solidFill>
                  <a:srgbClr val="B89255"/>
                </a:solidFill>
                <a:latin typeface="Arial" pitchFamily="34" charset="0"/>
                <a:ea typeface="Arial" pitchFamily="34" charset="-122"/>
                <a:cs typeface="Arial" pitchFamily="34" charset="-120"/>
              </a:rPr>
              <a:t>Security Group :80</a:t>
            </a:r>
            <a:endParaRPr lang="en-US" sz="975" dirty="0"/>
          </a:p>
        </p:txBody>
      </p:sp>
      <p:sp>
        <p:nvSpPr>
          <p:cNvPr id="30" name="Shape 28"/>
          <p:cNvSpPr/>
          <p:nvPr/>
        </p:nvSpPr>
        <p:spPr>
          <a:xfrm>
            <a:off x="910590" y="3505200"/>
            <a:ext cx="9929099" cy="537210"/>
          </a:xfrm>
          <a:prstGeom prst="roundRect">
            <a:avLst>
              <a:gd name="adj" fmla="val 21277"/>
            </a:avLst>
          </a:prstGeom>
          <a:solidFill>
            <a:srgbClr val="FFFFFF"/>
          </a:solidFill>
          <a:ln w="7620">
            <a:solidFill>
              <a:srgbClr val="EBDCBF"/>
            </a:solidFill>
            <a:prstDash val="solid"/>
          </a:ln>
        </p:spPr>
      </p:sp>
      <p:sp>
        <p:nvSpPr>
          <p:cNvPr id="31" name="Text 29"/>
          <p:cNvSpPr/>
          <p:nvPr/>
        </p:nvSpPr>
        <p:spPr>
          <a:xfrm>
            <a:off x="1108710" y="3655695"/>
            <a:ext cx="587693" cy="274320"/>
          </a:xfrm>
          <a:prstGeom prst="rect">
            <a:avLst/>
          </a:prstGeom>
          <a:noFill/>
          <a:ln/>
        </p:spPr>
        <p:txBody>
          <a:bodyPr wrap="square" lIns="25400" tIns="25400" rIns="25400" bIns="25400" rtlCol="0" anchor="t">
            <a:normAutofit/>
          </a:bodyPr>
          <a:lstStyle/>
          <a:p>
            <a:pPr algn="l" indent="0" marL="0">
              <a:buNone/>
            </a:pPr>
            <a:r>
              <a:rPr lang="en-US" sz="1575" b="1" dirty="0">
                <a:solidFill>
                  <a:srgbClr val="143257"/>
                </a:solidFill>
                <a:latin typeface="Arial" pitchFamily="34" charset="0"/>
                <a:ea typeface="Arial" pitchFamily="34" charset="-122"/>
                <a:cs typeface="Arial" pitchFamily="34" charset="-120"/>
              </a:rPr>
              <a:t>Nginx</a:t>
            </a:r>
            <a:endParaRPr lang="en-US" sz="1575" dirty="0"/>
          </a:p>
        </p:txBody>
      </p:sp>
      <p:sp>
        <p:nvSpPr>
          <p:cNvPr id="32" name="Text 30"/>
          <p:cNvSpPr/>
          <p:nvPr/>
        </p:nvSpPr>
        <p:spPr>
          <a:xfrm>
            <a:off x="1734503" y="3693795"/>
            <a:ext cx="2339888" cy="220980"/>
          </a:xfrm>
          <a:prstGeom prst="rect">
            <a:avLst/>
          </a:prstGeom>
          <a:noFill/>
          <a:ln/>
        </p:spPr>
        <p:txBody>
          <a:bodyPr wrap="square" lIns="25400" tIns="25400" rIns="25400" bIns="25400" rtlCol="0" anchor="t">
            <a:normAutofit/>
          </a:bodyPr>
          <a:lstStyle/>
          <a:p>
            <a:pPr algn="l" indent="0" marL="0">
              <a:buNone/>
            </a:pPr>
            <a:r>
              <a:rPr lang="en-US" sz="1200" b="1" dirty="0">
                <a:solidFill>
                  <a:srgbClr val="6E8197"/>
                </a:solidFill>
                <a:latin typeface="Arial" pitchFamily="34" charset="0"/>
                <a:ea typeface="Arial" pitchFamily="34" charset="-122"/>
                <a:cs typeface="Arial" pitchFamily="34" charset="-120"/>
              </a:rPr>
              <a:t>reverse proxy · /static 직접 제공</a:t>
            </a:r>
            <a:endParaRPr lang="en-US" sz="1200" dirty="0"/>
          </a:p>
        </p:txBody>
      </p:sp>
      <p:sp>
        <p:nvSpPr>
          <p:cNvPr id="33" name="Text 31"/>
          <p:cNvSpPr/>
          <p:nvPr/>
        </p:nvSpPr>
        <p:spPr>
          <a:xfrm>
            <a:off x="4838819" y="4090035"/>
            <a:ext cx="171450" cy="259080"/>
          </a:xfrm>
          <a:prstGeom prst="rect">
            <a:avLst/>
          </a:prstGeom>
          <a:noFill/>
          <a:ln/>
        </p:spPr>
        <p:txBody>
          <a:bodyPr wrap="square" lIns="25400" tIns="25400" rIns="25400" bIns="25400" rtlCol="0" anchor="t">
            <a:normAutofit/>
          </a:bodyPr>
          <a:lstStyle/>
          <a:p>
            <a:pPr algn="l" indent="0" marL="0">
              <a:buNone/>
            </a:pPr>
            <a:r>
              <a:rPr lang="en-US" sz="1500" dirty="0">
                <a:solidFill>
                  <a:srgbClr val="D9A85A"/>
                </a:solidFill>
                <a:latin typeface="Arial" pitchFamily="34" charset="0"/>
                <a:ea typeface="Arial" pitchFamily="34" charset="-122"/>
                <a:cs typeface="Arial" pitchFamily="34" charset="-120"/>
              </a:rPr>
              <a:t>↓</a:t>
            </a:r>
            <a:endParaRPr lang="en-US" sz="1500" dirty="0"/>
          </a:p>
        </p:txBody>
      </p:sp>
      <p:sp>
        <p:nvSpPr>
          <p:cNvPr id="34" name="Text 32"/>
          <p:cNvSpPr/>
          <p:nvPr/>
        </p:nvSpPr>
        <p:spPr>
          <a:xfrm>
            <a:off x="5029319" y="4131945"/>
            <a:ext cx="2070354" cy="175260"/>
          </a:xfrm>
          <a:prstGeom prst="rect">
            <a:avLst/>
          </a:prstGeom>
          <a:noFill/>
          <a:ln/>
        </p:spPr>
        <p:txBody>
          <a:bodyPr wrap="square" lIns="25400" tIns="25400" rIns="25400" bIns="25400" rtlCol="0" anchor="t">
            <a:normAutofit/>
          </a:bodyPr>
          <a:lstStyle/>
          <a:p>
            <a:pPr algn="l" indent="0" marL="0">
              <a:buNone/>
            </a:pPr>
            <a:r>
              <a:rPr lang="en-US" sz="975" b="1" dirty="0">
                <a:solidFill>
                  <a:srgbClr val="9A8050"/>
                </a:solidFill>
                <a:latin typeface="Courier New" pitchFamily="34" charset="0"/>
                <a:ea typeface="Courier New" pitchFamily="34" charset="-122"/>
                <a:cs typeface="Courier New" pitchFamily="34" charset="-120"/>
              </a:rPr>
              <a:t>그 외 요청 → 127.0.0.1:8000</a:t>
            </a:r>
            <a:endParaRPr lang="en-US" sz="975" dirty="0"/>
          </a:p>
        </p:txBody>
      </p:sp>
      <p:sp>
        <p:nvSpPr>
          <p:cNvPr id="35" name="Shape 33"/>
          <p:cNvSpPr/>
          <p:nvPr/>
        </p:nvSpPr>
        <p:spPr>
          <a:xfrm>
            <a:off x="910590" y="4358640"/>
            <a:ext cx="9929099" cy="537210"/>
          </a:xfrm>
          <a:prstGeom prst="roundRect">
            <a:avLst>
              <a:gd name="adj" fmla="val 21277"/>
            </a:avLst>
          </a:prstGeom>
          <a:solidFill>
            <a:srgbClr val="FFFFFF"/>
          </a:solidFill>
          <a:ln w="7620">
            <a:solidFill>
              <a:srgbClr val="EBDCBF"/>
            </a:solidFill>
            <a:prstDash val="solid"/>
          </a:ln>
        </p:spPr>
      </p:sp>
      <p:sp>
        <p:nvSpPr>
          <p:cNvPr id="36" name="Text 34"/>
          <p:cNvSpPr/>
          <p:nvPr/>
        </p:nvSpPr>
        <p:spPr>
          <a:xfrm>
            <a:off x="1108710" y="4509135"/>
            <a:ext cx="887849" cy="274320"/>
          </a:xfrm>
          <a:prstGeom prst="rect">
            <a:avLst/>
          </a:prstGeom>
          <a:noFill/>
          <a:ln/>
        </p:spPr>
        <p:txBody>
          <a:bodyPr wrap="square" lIns="25400" tIns="25400" rIns="25400" bIns="25400" rtlCol="0" anchor="t">
            <a:normAutofit/>
          </a:bodyPr>
          <a:lstStyle/>
          <a:p>
            <a:pPr algn="l" indent="0" marL="0">
              <a:buNone/>
            </a:pPr>
            <a:r>
              <a:rPr lang="en-US" sz="1575" b="1" dirty="0">
                <a:solidFill>
                  <a:srgbClr val="143257"/>
                </a:solidFill>
                <a:latin typeface="Arial" pitchFamily="34" charset="0"/>
                <a:ea typeface="Arial" pitchFamily="34" charset="-122"/>
                <a:cs typeface="Arial" pitchFamily="34" charset="-120"/>
              </a:rPr>
              <a:t>Gunicorn</a:t>
            </a:r>
            <a:endParaRPr lang="en-US" sz="1575" dirty="0"/>
          </a:p>
        </p:txBody>
      </p:sp>
      <p:sp>
        <p:nvSpPr>
          <p:cNvPr id="37" name="Text 35"/>
          <p:cNvSpPr/>
          <p:nvPr/>
        </p:nvSpPr>
        <p:spPr>
          <a:xfrm>
            <a:off x="2034659" y="4547235"/>
            <a:ext cx="2222147" cy="220980"/>
          </a:xfrm>
          <a:prstGeom prst="rect">
            <a:avLst/>
          </a:prstGeom>
          <a:noFill/>
          <a:ln/>
        </p:spPr>
        <p:txBody>
          <a:bodyPr wrap="square" lIns="25400" tIns="25400" rIns="25400" bIns="25400" rtlCol="0" anchor="t">
            <a:normAutofit/>
          </a:bodyPr>
          <a:lstStyle/>
          <a:p>
            <a:pPr algn="l" indent="0" marL="0">
              <a:buNone/>
            </a:pPr>
            <a:r>
              <a:rPr lang="en-US" sz="1200" b="1" dirty="0">
                <a:solidFill>
                  <a:srgbClr val="6E8197"/>
                </a:solidFill>
                <a:latin typeface="Arial" pitchFamily="34" charset="0"/>
                <a:ea typeface="Arial" pitchFamily="34" charset="-122"/>
                <a:cs typeface="Arial" pitchFamily="34" charset="-120"/>
              </a:rPr>
              <a:t>systemd · </a:t>
            </a:r>
            <a:pPr algn="l" indent="0" marL="0">
              <a:buNone/>
            </a:pPr>
            <a:r>
              <a:rPr lang="en-US" sz="1200" b="1" dirty="0">
                <a:solidFill>
                  <a:srgbClr val="C77E1E"/>
                </a:solidFill>
                <a:latin typeface="Courier New" pitchFamily="34" charset="0"/>
                <a:ea typeface="Courier New" pitchFamily="34" charset="-122"/>
                <a:cs typeface="Courier New" pitchFamily="34" charset="-120"/>
              </a:rPr>
              <a:t>kaist-rag </a:t>
            </a:r>
            <a:pPr algn="l" indent="0" marL="0">
              <a:buNone/>
            </a:pPr>
            <a:r>
              <a:rPr lang="en-US" sz="1200" b="1" dirty="0">
                <a:solidFill>
                  <a:srgbClr val="6E8197"/>
                </a:solidFill>
                <a:latin typeface="Arial" pitchFamily="34" charset="0"/>
                <a:ea typeface="Arial" pitchFamily="34" charset="-122"/>
                <a:cs typeface="Arial" pitchFamily="34" charset="-120"/>
              </a:rPr>
              <a:t>· :8000</a:t>
            </a:r>
            <a:endParaRPr lang="en-US" sz="1200" dirty="0"/>
          </a:p>
        </p:txBody>
      </p:sp>
      <p:sp>
        <p:nvSpPr>
          <p:cNvPr id="38" name="Text 36"/>
          <p:cNvSpPr/>
          <p:nvPr/>
        </p:nvSpPr>
        <p:spPr>
          <a:xfrm>
            <a:off x="5827514" y="4943475"/>
            <a:ext cx="171450" cy="259080"/>
          </a:xfrm>
          <a:prstGeom prst="rect">
            <a:avLst/>
          </a:prstGeom>
          <a:noFill/>
          <a:ln/>
        </p:spPr>
        <p:txBody>
          <a:bodyPr wrap="square" lIns="25400" tIns="25400" rIns="25400" bIns="25400" rtlCol="0" anchor="t">
            <a:normAutofit/>
          </a:bodyPr>
          <a:lstStyle/>
          <a:p>
            <a:pPr algn="l" indent="0" marL="0">
              <a:buNone/>
            </a:pPr>
            <a:r>
              <a:rPr lang="en-US" sz="1500" dirty="0">
                <a:solidFill>
                  <a:srgbClr val="D9A85A"/>
                </a:solidFill>
                <a:latin typeface="Arial" pitchFamily="34" charset="0"/>
                <a:ea typeface="Arial" pitchFamily="34" charset="-122"/>
                <a:cs typeface="Arial" pitchFamily="34" charset="-120"/>
              </a:rPr>
              <a:t>↓</a:t>
            </a:r>
            <a:endParaRPr lang="en-US" sz="1500" dirty="0"/>
          </a:p>
        </p:txBody>
      </p:sp>
      <p:sp>
        <p:nvSpPr>
          <p:cNvPr id="39" name="Shape 37"/>
          <p:cNvSpPr/>
          <p:nvPr/>
        </p:nvSpPr>
        <p:spPr>
          <a:xfrm>
            <a:off x="910590" y="5212080"/>
            <a:ext cx="1052989" cy="1070610"/>
          </a:xfrm>
          <a:prstGeom prst="roundRect">
            <a:avLst>
              <a:gd name="adj" fmla="val 10855"/>
            </a:avLst>
          </a:prstGeom>
          <a:gradFill rotWithShape="1">
            <a:gsLst>
              <a:gs pos="0">
                <a:srgbClr val="F2A847">
                  <a:alpha val="100000"/>
                </a:srgbClr>
              </a:gs>
              <a:gs pos="100000">
                <a:srgbClr val="E0852A">
                  <a:alpha val="100000"/>
                </a:srgbClr>
              </a:gs>
            </a:gsLst>
            <a:lin ang="3600000" scaled="0"/>
          </a:gradFill>
          <a:ln/>
          <a:effectLst>
            <a:outerShdw sx="100000" sy="100000" kx="0" ky="0" algn="bl" rotWithShape="0" blurRad="228600" dist="95250" dir="5400000">
              <a:srgbClr val="E0852A">
                <a:alpha val="24000"/>
              </a:srgbClr>
            </a:outerShdw>
          </a:effectLst>
        </p:spPr>
      </p:sp>
      <p:sp>
        <p:nvSpPr>
          <p:cNvPr id="40" name="Text 38"/>
          <p:cNvSpPr/>
          <p:nvPr/>
        </p:nvSpPr>
        <p:spPr>
          <a:xfrm>
            <a:off x="1120140" y="5541645"/>
            <a:ext cx="710089" cy="274320"/>
          </a:xfrm>
          <a:prstGeom prst="rect">
            <a:avLst/>
          </a:prstGeom>
          <a:noFill/>
          <a:ln/>
        </p:spPr>
        <p:txBody>
          <a:bodyPr wrap="square" lIns="25400" tIns="25400" rIns="25400" bIns="25400" rtlCol="0" anchor="t">
            <a:normAutofit/>
          </a:bodyPr>
          <a:lstStyle/>
          <a:p>
            <a:pPr algn="l" indent="0" marL="0">
              <a:buNone/>
            </a:pPr>
            <a:r>
              <a:rPr lang="en-US" sz="1575" b="1" dirty="0">
                <a:solidFill>
                  <a:srgbClr val="FFFFFF"/>
                </a:solidFill>
                <a:latin typeface="Arial" pitchFamily="34" charset="0"/>
                <a:ea typeface="Arial" pitchFamily="34" charset="-122"/>
                <a:cs typeface="Arial" pitchFamily="34" charset="-120"/>
              </a:rPr>
              <a:t>Django</a:t>
            </a:r>
            <a:endParaRPr lang="en-US" sz="1575" dirty="0"/>
          </a:p>
        </p:txBody>
      </p:sp>
      <p:sp>
        <p:nvSpPr>
          <p:cNvPr id="41" name="Text 39"/>
          <p:cNvSpPr/>
          <p:nvPr/>
        </p:nvSpPr>
        <p:spPr>
          <a:xfrm>
            <a:off x="1120140" y="5777865"/>
            <a:ext cx="710089" cy="213360"/>
          </a:xfrm>
          <a:prstGeom prst="rect">
            <a:avLst/>
          </a:prstGeom>
          <a:noFill/>
          <a:ln/>
        </p:spPr>
        <p:txBody>
          <a:bodyPr wrap="square" lIns="25400" tIns="25400" rIns="25400" bIns="25400" rtlCol="0" anchor="t">
            <a:normAutofit/>
          </a:bodyPr>
          <a:lstStyle/>
          <a:p>
            <a:pPr algn="l" indent="0" marL="0">
              <a:buNone/>
            </a:pPr>
            <a:r>
              <a:rPr lang="en-US" sz="1125" b="1" dirty="0">
                <a:solidFill>
                  <a:srgbClr val="FFFFFF">
                    <a:alpha val="90000"/>
                  </a:srgbClr>
                </a:solidFill>
                <a:latin typeface="Arial" pitchFamily="34" charset="0"/>
                <a:ea typeface="Arial" pitchFamily="34" charset="-122"/>
                <a:cs typeface="Arial" pitchFamily="34" charset="-120"/>
              </a:rPr>
              <a:t>WSGI</a:t>
            </a:r>
            <a:endParaRPr lang="en-US" sz="1125" dirty="0"/>
          </a:p>
        </p:txBody>
      </p:sp>
      <p:sp>
        <p:nvSpPr>
          <p:cNvPr id="42" name="Text 40"/>
          <p:cNvSpPr/>
          <p:nvPr/>
        </p:nvSpPr>
        <p:spPr>
          <a:xfrm>
            <a:off x="2096929" y="5212080"/>
            <a:ext cx="285750" cy="1108710"/>
          </a:xfrm>
          <a:prstGeom prst="rect">
            <a:avLst/>
          </a:prstGeom>
          <a:noFill/>
          <a:ln/>
        </p:spPr>
        <p:txBody>
          <a:bodyPr wrap="square" lIns="25400" tIns="25400" rIns="25400" bIns="25400" rtlCol="0" anchor="ctr">
            <a:normAutofit/>
          </a:bodyPr>
          <a:lstStyle/>
          <a:p>
            <a:pPr algn="l" indent="0" marL="0">
              <a:buNone/>
            </a:pPr>
            <a:r>
              <a:rPr lang="en-US" sz="1650" dirty="0">
                <a:solidFill>
                  <a:srgbClr val="D9A85A"/>
                </a:solidFill>
                <a:latin typeface="Arial" pitchFamily="34" charset="0"/>
                <a:ea typeface="Arial" pitchFamily="34" charset="-122"/>
                <a:cs typeface="Arial" pitchFamily="34" charset="-120"/>
              </a:rPr>
              <a:t>→</a:t>
            </a:r>
            <a:endParaRPr lang="en-US" sz="1650" dirty="0"/>
          </a:p>
        </p:txBody>
      </p:sp>
      <p:sp>
        <p:nvSpPr>
          <p:cNvPr id="43" name="Shape 41"/>
          <p:cNvSpPr/>
          <p:nvPr/>
        </p:nvSpPr>
        <p:spPr>
          <a:xfrm>
            <a:off x="2439829" y="5212080"/>
            <a:ext cx="4152305" cy="560070"/>
          </a:xfrm>
          <a:prstGeom prst="roundRect">
            <a:avLst>
              <a:gd name="adj" fmla="val 18707"/>
            </a:avLst>
          </a:prstGeom>
          <a:solidFill>
            <a:srgbClr val="F5F1FC"/>
          </a:solidFill>
          <a:ln w="7620">
            <a:solidFill>
              <a:srgbClr val="E6DBFA"/>
            </a:solidFill>
            <a:prstDash val="solid"/>
          </a:ln>
        </p:spPr>
      </p:sp>
      <p:sp>
        <p:nvSpPr>
          <p:cNvPr id="44" name="Text 42"/>
          <p:cNvSpPr/>
          <p:nvPr/>
        </p:nvSpPr>
        <p:spPr>
          <a:xfrm>
            <a:off x="2580799" y="5324475"/>
            <a:ext cx="4257401" cy="228600"/>
          </a:xfrm>
          <a:prstGeom prst="rect">
            <a:avLst/>
          </a:prstGeom>
          <a:noFill/>
          <a:ln/>
        </p:spPr>
        <p:txBody>
          <a:bodyPr wrap="square" lIns="25400" tIns="25400" rIns="25400" bIns="25400" rtlCol="0" anchor="t">
            <a:normAutofit/>
          </a:bodyPr>
          <a:lstStyle/>
          <a:p>
            <a:pPr algn="l" indent="0" marL="0">
              <a:buNone/>
            </a:pPr>
            <a:r>
              <a:rPr lang="en-US" sz="1275" b="1" dirty="0">
                <a:solidFill>
                  <a:srgbClr val="7C5FD6"/>
                </a:solidFill>
                <a:latin typeface="Arial" pitchFamily="34" charset="0"/>
                <a:ea typeface="Arial" pitchFamily="34" charset="-122"/>
                <a:cs typeface="Arial" pitchFamily="34" charset="-120"/>
              </a:rPr>
              <a:t>Chroma</a:t>
            </a:r>
            <a:endParaRPr lang="en-US" sz="1275" dirty="0"/>
          </a:p>
        </p:txBody>
      </p:sp>
      <p:sp>
        <p:nvSpPr>
          <p:cNvPr id="45" name="Text 43"/>
          <p:cNvSpPr/>
          <p:nvPr/>
        </p:nvSpPr>
        <p:spPr>
          <a:xfrm>
            <a:off x="2580799" y="5514975"/>
            <a:ext cx="4257401" cy="182880"/>
          </a:xfrm>
          <a:prstGeom prst="rect">
            <a:avLst/>
          </a:prstGeom>
          <a:noFill/>
          <a:ln/>
        </p:spPr>
        <p:txBody>
          <a:bodyPr wrap="square" lIns="25400" tIns="25400" rIns="25400" bIns="25400" rtlCol="0" anchor="t">
            <a:normAutofit/>
          </a:bodyPr>
          <a:lstStyle/>
          <a:p>
            <a:pPr algn="l" indent="0" marL="0">
              <a:buNone/>
            </a:pPr>
            <a:r>
              <a:rPr lang="en-US" sz="975" b="1" dirty="0">
                <a:solidFill>
                  <a:srgbClr val="8A7BB0"/>
                </a:solidFill>
                <a:latin typeface="Arial" pitchFamily="34" charset="0"/>
                <a:ea typeface="Arial" pitchFamily="34" charset="-122"/>
                <a:cs typeface="Arial" pitchFamily="34" charset="-120"/>
              </a:rPr>
              <a:t>EC2 로컬 · 벡터스토어</a:t>
            </a:r>
            <a:endParaRPr lang="en-US" sz="975" dirty="0"/>
          </a:p>
        </p:txBody>
      </p:sp>
      <p:sp>
        <p:nvSpPr>
          <p:cNvPr id="46" name="Shape 44"/>
          <p:cNvSpPr/>
          <p:nvPr/>
        </p:nvSpPr>
        <p:spPr>
          <a:xfrm>
            <a:off x="6687384" y="5212080"/>
            <a:ext cx="4152305" cy="560070"/>
          </a:xfrm>
          <a:prstGeom prst="roundRect">
            <a:avLst>
              <a:gd name="adj" fmla="val 18707"/>
            </a:avLst>
          </a:prstGeom>
          <a:solidFill>
            <a:srgbClr val="EAF2FB"/>
          </a:solidFill>
          <a:ln w="7620">
            <a:solidFill>
              <a:srgbClr val="D7E6F6"/>
            </a:solidFill>
            <a:prstDash val="solid"/>
          </a:ln>
        </p:spPr>
      </p:sp>
      <p:sp>
        <p:nvSpPr>
          <p:cNvPr id="47" name="Text 45"/>
          <p:cNvSpPr/>
          <p:nvPr/>
        </p:nvSpPr>
        <p:spPr>
          <a:xfrm>
            <a:off x="6828354" y="5324475"/>
            <a:ext cx="4257401" cy="228600"/>
          </a:xfrm>
          <a:prstGeom prst="rect">
            <a:avLst/>
          </a:prstGeom>
          <a:noFill/>
          <a:ln/>
        </p:spPr>
        <p:txBody>
          <a:bodyPr wrap="square" lIns="25400" tIns="25400" rIns="25400" bIns="25400" rtlCol="0" anchor="t">
            <a:normAutofit/>
          </a:bodyPr>
          <a:lstStyle/>
          <a:p>
            <a:pPr algn="l" indent="0" marL="0">
              <a:buNone/>
            </a:pPr>
            <a:r>
              <a:rPr lang="en-US" sz="1275" b="1" dirty="0">
                <a:solidFill>
                  <a:srgbClr val="1E6FBF"/>
                </a:solidFill>
                <a:latin typeface="Arial" pitchFamily="34" charset="0"/>
                <a:ea typeface="Arial" pitchFamily="34" charset="-122"/>
                <a:cs typeface="Arial" pitchFamily="34" charset="-120"/>
              </a:rPr>
              <a:t>RDS MySQL </a:t>
            </a:r>
            <a:pPr algn="l" indent="0" marL="0">
              <a:buNone/>
            </a:pPr>
            <a:r>
              <a:rPr lang="en-US" sz="900" b="1" dirty="0">
                <a:solidFill>
                  <a:srgbClr val="7E95AC"/>
                </a:solidFill>
                <a:latin typeface="Arial" pitchFamily="34" charset="0"/>
                <a:ea typeface="Arial" pitchFamily="34" charset="-122"/>
                <a:cs typeface="Arial" pitchFamily="34" charset="-120"/>
              </a:rPr>
              <a:t>외부</a:t>
            </a:r>
            <a:endParaRPr lang="en-US" sz="1275" dirty="0"/>
          </a:p>
        </p:txBody>
      </p:sp>
      <p:sp>
        <p:nvSpPr>
          <p:cNvPr id="48" name="Text 46"/>
          <p:cNvSpPr/>
          <p:nvPr/>
        </p:nvSpPr>
        <p:spPr>
          <a:xfrm>
            <a:off x="6828354" y="5514975"/>
            <a:ext cx="4257401" cy="182880"/>
          </a:xfrm>
          <a:prstGeom prst="rect">
            <a:avLst/>
          </a:prstGeom>
          <a:noFill/>
          <a:ln/>
        </p:spPr>
        <p:txBody>
          <a:bodyPr wrap="square" lIns="25400" tIns="25400" rIns="25400" bIns="25400" rtlCol="0" anchor="t">
            <a:normAutofit/>
          </a:bodyPr>
          <a:lstStyle/>
          <a:p>
            <a:pPr algn="l" indent="0" marL="0">
              <a:buNone/>
            </a:pPr>
            <a:r>
              <a:rPr lang="en-US" sz="975" b="1" dirty="0">
                <a:solidFill>
                  <a:srgbClr val="6E8197"/>
                </a:solidFill>
                <a:latin typeface="Arial" pitchFamily="34" charset="0"/>
                <a:ea typeface="Arial" pitchFamily="34" charset="-122"/>
                <a:cs typeface="Arial" pitchFamily="34" charset="-120"/>
              </a:rPr>
              <a:t>유저·게시판·채팅</a:t>
            </a:r>
            <a:endParaRPr lang="en-US" sz="975" dirty="0"/>
          </a:p>
        </p:txBody>
      </p:sp>
      <p:sp>
        <p:nvSpPr>
          <p:cNvPr id="49" name="Shape 47"/>
          <p:cNvSpPr/>
          <p:nvPr/>
        </p:nvSpPr>
        <p:spPr>
          <a:xfrm>
            <a:off x="2439829" y="5867400"/>
            <a:ext cx="8399859" cy="415290"/>
          </a:xfrm>
          <a:prstGeom prst="roundRect">
            <a:avLst>
              <a:gd name="adj" fmla="val 25229"/>
            </a:avLst>
          </a:prstGeom>
          <a:solidFill>
            <a:srgbClr val="E7F6EF"/>
          </a:solidFill>
          <a:ln w="7620">
            <a:solidFill>
              <a:srgbClr val="CFEDDF"/>
            </a:solidFill>
            <a:prstDash val="solid"/>
          </a:ln>
        </p:spPr>
      </p:sp>
      <p:sp>
        <p:nvSpPr>
          <p:cNvPr id="50" name="Text 48"/>
          <p:cNvSpPr/>
          <p:nvPr/>
        </p:nvSpPr>
        <p:spPr>
          <a:xfrm>
            <a:off x="2580799" y="5979795"/>
            <a:ext cx="8369915" cy="228600"/>
          </a:xfrm>
          <a:prstGeom prst="rect">
            <a:avLst/>
          </a:prstGeom>
          <a:noFill/>
          <a:ln/>
        </p:spPr>
        <p:txBody>
          <a:bodyPr wrap="square" lIns="25400" tIns="25400" rIns="25400" bIns="25400" rtlCol="0" anchor="t">
            <a:normAutofit/>
          </a:bodyPr>
          <a:lstStyle/>
          <a:p>
            <a:pPr algn="l" indent="0" marL="0">
              <a:buNone/>
            </a:pPr>
            <a:r>
              <a:rPr lang="en-US" sz="1275" b="1" dirty="0">
                <a:solidFill>
                  <a:srgbClr val="1E9D67"/>
                </a:solidFill>
                <a:latin typeface="Arial" pitchFamily="34" charset="0"/>
                <a:ea typeface="Arial" pitchFamily="34" charset="-122"/>
                <a:cs typeface="Arial" pitchFamily="34" charset="-120"/>
              </a:rPr>
              <a:t>OpenAI API </a:t>
            </a:r>
            <a:pPr algn="l" indent="0" marL="0">
              <a:buNone/>
            </a:pPr>
            <a:r>
              <a:rPr lang="en-US" sz="900" b="1" dirty="0">
                <a:solidFill>
                  <a:srgbClr val="7BA890"/>
                </a:solidFill>
                <a:latin typeface="Arial" pitchFamily="34" charset="0"/>
                <a:ea typeface="Arial" pitchFamily="34" charset="-122"/>
                <a:cs typeface="Arial" pitchFamily="34" charset="-120"/>
              </a:rPr>
              <a:t>외부 </a:t>
            </a:r>
            <a:pPr algn="l" indent="0" marL="0">
              <a:buNone/>
            </a:pPr>
            <a:r>
              <a:rPr lang="en-US" sz="975" b="1" dirty="0">
                <a:solidFill>
                  <a:srgbClr val="5E8A74"/>
                </a:solidFill>
                <a:latin typeface="Arial" pitchFamily="34" charset="0"/>
                <a:ea typeface="Arial" pitchFamily="34" charset="-122"/>
                <a:cs typeface="Arial" pitchFamily="34" charset="-120"/>
              </a:rPr>
              <a:t>RAG 답변 생성</a:t>
            </a:r>
            <a:endParaRPr lang="en-US" sz="1200" dirty="0"/>
          </a:p>
        </p:txBody>
      </p:sp>
      <p:sp>
        <p:nvSpPr>
          <p:cNvPr id="51" name="Text 49"/>
          <p:cNvSpPr/>
          <p:nvPr/>
        </p:nvSpPr>
        <p:spPr>
          <a:xfrm>
            <a:off x="910590" y="6396990"/>
            <a:ext cx="10922008" cy="175260"/>
          </a:xfrm>
          <a:prstGeom prst="rect">
            <a:avLst/>
          </a:prstGeom>
          <a:noFill/>
          <a:ln/>
        </p:spPr>
        <p:txBody>
          <a:bodyPr wrap="square" lIns="25400" tIns="25400" rIns="25400" bIns="25400" rtlCol="0" anchor="t">
            <a:normAutofit/>
          </a:bodyPr>
          <a:lstStyle/>
          <a:p>
            <a:pPr algn="l" indent="0" marL="0">
              <a:buNone/>
            </a:pPr>
            <a:r>
              <a:rPr lang="en-US" sz="975" b="1" dirty="0">
                <a:solidFill>
                  <a:srgbClr val="A98F58"/>
                </a:solidFill>
                <a:latin typeface="Courier New" pitchFamily="34" charset="0"/>
                <a:ea typeface="Courier New" pitchFamily="34" charset="-122"/>
                <a:cs typeface="Courier New" pitchFamily="34" charset="-120"/>
              </a:rPr>
              <a:t>vectorstore 경로 · data/vectorstore/chroma_db</a:t>
            </a:r>
            <a:endParaRPr lang="en-US" sz="975" dirty="0"/>
          </a:p>
        </p:txBody>
      </p:sp>
      <p:sp>
        <p:nvSpPr>
          <p:cNvPr id="52" name="Shape 50"/>
          <p:cNvSpPr/>
          <p:nvPr/>
        </p:nvSpPr>
        <p:spPr>
          <a:xfrm>
            <a:off x="11312128" y="2015490"/>
            <a:ext cx="6290072" cy="6385560"/>
          </a:xfrm>
          <a:prstGeom prst="roundRect">
            <a:avLst>
              <a:gd name="adj" fmla="val 2726"/>
            </a:avLst>
          </a:prstGeom>
          <a:solidFill>
            <a:srgbClr val="FFFFFF"/>
          </a:solidFill>
          <a:ln w="7620">
            <a:solidFill>
              <a:srgbClr val="E6EEF7"/>
            </a:solidFill>
            <a:prstDash val="solid"/>
          </a:ln>
          <a:effectLst>
            <a:outerShdw sx="100000" sy="100000" kx="0" ky="0" algn="bl" rotWithShape="0" blurRad="285750" dist="114300" dir="5400000">
              <a:srgbClr val="2E8BE0">
                <a:alpha val="8000"/>
              </a:srgbClr>
            </a:outerShdw>
          </a:effectLst>
        </p:spPr>
      </p:sp>
      <p:sp>
        <p:nvSpPr>
          <p:cNvPr id="53" name="Text 51"/>
          <p:cNvSpPr/>
          <p:nvPr/>
        </p:nvSpPr>
        <p:spPr>
          <a:xfrm>
            <a:off x="11586449" y="2251710"/>
            <a:ext cx="6315575" cy="259080"/>
          </a:xfrm>
          <a:prstGeom prst="rect">
            <a:avLst/>
          </a:prstGeom>
          <a:noFill/>
          <a:ln/>
        </p:spPr>
        <p:txBody>
          <a:bodyPr wrap="square" lIns="25400" tIns="25400" rIns="25400" bIns="25400" rtlCol="0" anchor="t">
            <a:normAutofit/>
          </a:bodyPr>
          <a:lstStyle/>
          <a:p>
            <a:pPr algn="l" indent="0" marL="0">
              <a:buNone/>
            </a:pPr>
            <a:r>
              <a:rPr lang="en-US" sz="1200" b="1" spc="48" kern="0" dirty="0">
                <a:solidFill>
                  <a:srgbClr val="D98A2B"/>
                </a:solidFill>
                <a:latin typeface="Arial" pitchFamily="34" charset="0"/>
                <a:ea typeface="Arial" pitchFamily="34" charset="-122"/>
                <a:cs typeface="Arial" pitchFamily="34" charset="-120"/>
              </a:rPr>
              <a:t>EC2 구축 내역</a:t>
            </a:r>
            <a:endParaRPr lang="en-US" sz="1200" dirty="0"/>
          </a:p>
        </p:txBody>
      </p:sp>
      <p:sp>
        <p:nvSpPr>
          <p:cNvPr id="54" name="Text 52"/>
          <p:cNvSpPr/>
          <p:nvPr/>
        </p:nvSpPr>
        <p:spPr>
          <a:xfrm>
            <a:off x="11586449" y="2625090"/>
            <a:ext cx="196929" cy="274320"/>
          </a:xfrm>
          <a:prstGeom prst="rect">
            <a:avLst/>
          </a:prstGeom>
          <a:noFill/>
          <a:ln/>
        </p:spPr>
        <p:txBody>
          <a:bodyPr wrap="square" lIns="25400" tIns="25400" rIns="25400" bIns="25400" rtlCol="0" anchor="t">
            <a:normAutofit/>
          </a:bodyPr>
          <a:lstStyle/>
          <a:p>
            <a:pPr algn="l" indent="0" marL="0">
              <a:buNone/>
            </a:pPr>
            <a:r>
              <a:rPr lang="en-US" sz="1275" b="1" dirty="0">
                <a:solidFill>
                  <a:srgbClr val="22A06B"/>
                </a:solidFill>
                <a:latin typeface="Arial" pitchFamily="34" charset="0"/>
                <a:ea typeface="Arial" pitchFamily="34" charset="-122"/>
                <a:cs typeface="Arial" pitchFamily="34" charset="-120"/>
              </a:rPr>
              <a:t>✓</a:t>
            </a:r>
            <a:endParaRPr lang="en-US" sz="1275" dirty="0"/>
          </a:p>
        </p:txBody>
      </p:sp>
      <p:sp>
        <p:nvSpPr>
          <p:cNvPr id="55" name="Text 53"/>
          <p:cNvSpPr/>
          <p:nvPr/>
        </p:nvSpPr>
        <p:spPr>
          <a:xfrm>
            <a:off x="11802427" y="2625090"/>
            <a:ext cx="1166694" cy="228600"/>
          </a:xfrm>
          <a:prstGeom prst="rect">
            <a:avLst/>
          </a:prstGeom>
          <a:noFill/>
          <a:ln/>
        </p:spPr>
        <p:txBody>
          <a:bodyPr wrap="square" lIns="0" tIns="0" rIns="0" bIns="0" rtlCol="0" anchor="t">
            <a:normAutofit/>
          </a:bodyPr>
          <a:lstStyle/>
          <a:p>
            <a:pPr algn="l" indent="0" marL="0">
              <a:buNone/>
            </a:pPr>
            <a:r>
              <a:rPr lang="en-US" sz="1275" b="1" dirty="0">
                <a:solidFill>
                  <a:srgbClr val="3C5066"/>
                </a:solidFill>
                <a:latin typeface="Arial" pitchFamily="34" charset="0"/>
                <a:ea typeface="Arial" pitchFamily="34" charset="-122"/>
                <a:cs typeface="Arial" pitchFamily="34" charset="-120"/>
              </a:rPr>
              <a:t>프로젝트 clone ·</a:t>
            </a:r>
            <a:endParaRPr lang="en-US" sz="1275" dirty="0"/>
          </a:p>
        </p:txBody>
      </p:sp>
      <p:sp>
        <p:nvSpPr>
          <p:cNvPr id="56" name="Text 54"/>
          <p:cNvSpPr/>
          <p:nvPr/>
        </p:nvSpPr>
        <p:spPr>
          <a:xfrm>
            <a:off x="12988171" y="2625090"/>
            <a:ext cx="1920240" cy="274320"/>
          </a:xfrm>
          <a:prstGeom prst="rect">
            <a:avLst/>
          </a:prstGeom>
          <a:noFill/>
          <a:ln/>
        </p:spPr>
        <p:txBody>
          <a:bodyPr wrap="square" lIns="25400" tIns="25400" rIns="25400" bIns="25400" rtlCol="0" anchor="t">
            <a:normAutofit/>
          </a:bodyPr>
          <a:lstStyle/>
          <a:p>
            <a:pPr algn="l" indent="0" marL="0">
              <a:buNone/>
            </a:pPr>
            <a:r>
              <a:rPr lang="en-US" sz="1125" b="1" dirty="0">
                <a:solidFill>
                  <a:srgbClr val="6E8197"/>
                </a:solidFill>
                <a:latin typeface="Courier New" pitchFamily="34" charset="0"/>
                <a:ea typeface="Courier New" pitchFamily="34" charset="-122"/>
                <a:cs typeface="Courier New" pitchFamily="34" charset="-120"/>
              </a:rPr>
              <a:t>sim/prepare-aws-deploy</a:t>
            </a:r>
            <a:endParaRPr lang="en-US" sz="1125" dirty="0"/>
          </a:p>
        </p:txBody>
      </p:sp>
      <p:sp>
        <p:nvSpPr>
          <p:cNvPr id="57" name="Text 55"/>
          <p:cNvSpPr/>
          <p:nvPr/>
        </p:nvSpPr>
        <p:spPr>
          <a:xfrm>
            <a:off x="11586449" y="2966085"/>
            <a:ext cx="196929" cy="274320"/>
          </a:xfrm>
          <a:prstGeom prst="rect">
            <a:avLst/>
          </a:prstGeom>
          <a:noFill/>
          <a:ln/>
        </p:spPr>
        <p:txBody>
          <a:bodyPr wrap="square" lIns="25400" tIns="25400" rIns="25400" bIns="25400" rtlCol="0" anchor="t">
            <a:normAutofit/>
          </a:bodyPr>
          <a:lstStyle/>
          <a:p>
            <a:pPr algn="l" indent="0" marL="0">
              <a:buNone/>
            </a:pPr>
            <a:r>
              <a:rPr lang="en-US" sz="1275" b="1" dirty="0">
                <a:solidFill>
                  <a:srgbClr val="22A06B"/>
                </a:solidFill>
                <a:latin typeface="Arial" pitchFamily="34" charset="0"/>
                <a:ea typeface="Arial" pitchFamily="34" charset="-122"/>
                <a:cs typeface="Arial" pitchFamily="34" charset="-120"/>
              </a:rPr>
              <a:t>✓</a:t>
            </a:r>
            <a:endParaRPr lang="en-US" sz="1275" dirty="0"/>
          </a:p>
        </p:txBody>
      </p:sp>
      <p:sp>
        <p:nvSpPr>
          <p:cNvPr id="58" name="Text 56"/>
          <p:cNvSpPr/>
          <p:nvPr/>
        </p:nvSpPr>
        <p:spPr>
          <a:xfrm>
            <a:off x="11802427" y="2966085"/>
            <a:ext cx="2445664" cy="228600"/>
          </a:xfrm>
          <a:prstGeom prst="rect">
            <a:avLst/>
          </a:prstGeom>
          <a:noFill/>
          <a:ln/>
        </p:spPr>
        <p:txBody>
          <a:bodyPr wrap="square" lIns="0" tIns="0" rIns="0" bIns="0" rtlCol="0" anchor="t">
            <a:normAutofit/>
          </a:bodyPr>
          <a:lstStyle/>
          <a:p>
            <a:pPr algn="l" indent="0" marL="0">
              <a:buNone/>
            </a:pPr>
            <a:r>
              <a:rPr lang="en-US" sz="1275" b="1" dirty="0">
                <a:solidFill>
                  <a:srgbClr val="3C5066"/>
                </a:solidFill>
                <a:latin typeface="Arial" pitchFamily="34" charset="0"/>
                <a:ea typeface="Arial" pitchFamily="34" charset="-122"/>
                <a:cs typeface="Arial" pitchFamily="34" charset="-120"/>
              </a:rPr>
              <a:t>Python venv · requirements 설치</a:t>
            </a:r>
            <a:endParaRPr lang="en-US" sz="1275" dirty="0"/>
          </a:p>
        </p:txBody>
      </p:sp>
      <p:sp>
        <p:nvSpPr>
          <p:cNvPr id="59" name="Text 57"/>
          <p:cNvSpPr/>
          <p:nvPr/>
        </p:nvSpPr>
        <p:spPr>
          <a:xfrm>
            <a:off x="11586449" y="3307080"/>
            <a:ext cx="196929" cy="274320"/>
          </a:xfrm>
          <a:prstGeom prst="rect">
            <a:avLst/>
          </a:prstGeom>
          <a:noFill/>
          <a:ln/>
        </p:spPr>
        <p:txBody>
          <a:bodyPr wrap="square" lIns="25400" tIns="25400" rIns="25400" bIns="25400" rtlCol="0" anchor="t">
            <a:normAutofit/>
          </a:bodyPr>
          <a:lstStyle/>
          <a:p>
            <a:pPr algn="l" indent="0" marL="0">
              <a:buNone/>
            </a:pPr>
            <a:r>
              <a:rPr lang="en-US" sz="1275" b="1" dirty="0">
                <a:solidFill>
                  <a:srgbClr val="22A06B"/>
                </a:solidFill>
                <a:latin typeface="Arial" pitchFamily="34" charset="0"/>
                <a:ea typeface="Arial" pitchFamily="34" charset="-122"/>
                <a:cs typeface="Arial" pitchFamily="34" charset="-120"/>
              </a:rPr>
              <a:t>✓</a:t>
            </a:r>
            <a:endParaRPr lang="en-US" sz="1275" dirty="0"/>
          </a:p>
        </p:txBody>
      </p:sp>
      <p:sp>
        <p:nvSpPr>
          <p:cNvPr id="60" name="Text 58"/>
          <p:cNvSpPr/>
          <p:nvPr/>
        </p:nvSpPr>
        <p:spPr>
          <a:xfrm>
            <a:off x="11802427" y="3307080"/>
            <a:ext cx="711280" cy="228600"/>
          </a:xfrm>
          <a:prstGeom prst="rect">
            <a:avLst/>
          </a:prstGeom>
          <a:noFill/>
          <a:ln/>
        </p:spPr>
        <p:txBody>
          <a:bodyPr wrap="square" lIns="0" tIns="0" rIns="0" bIns="0" rtlCol="0" anchor="t">
            <a:normAutofit/>
          </a:bodyPr>
          <a:lstStyle/>
          <a:p>
            <a:pPr algn="l" indent="0" marL="0">
              <a:buNone/>
            </a:pPr>
            <a:r>
              <a:rPr lang="en-US" sz="1275" b="1" dirty="0">
                <a:solidFill>
                  <a:srgbClr val="3C5066"/>
                </a:solidFill>
                <a:latin typeface="Arial" pitchFamily="34" charset="0"/>
                <a:ea typeface="Arial" pitchFamily="34" charset="-122"/>
                <a:cs typeface="Arial" pitchFamily="34" charset="-120"/>
              </a:rPr>
              <a:t>.env 작성</a:t>
            </a:r>
            <a:endParaRPr lang="en-US" sz="1275" dirty="0"/>
          </a:p>
        </p:txBody>
      </p:sp>
      <p:sp>
        <p:nvSpPr>
          <p:cNvPr id="61" name="Text 59"/>
          <p:cNvSpPr/>
          <p:nvPr/>
        </p:nvSpPr>
        <p:spPr>
          <a:xfrm>
            <a:off x="11586449" y="3648075"/>
            <a:ext cx="196929" cy="274320"/>
          </a:xfrm>
          <a:prstGeom prst="rect">
            <a:avLst/>
          </a:prstGeom>
          <a:noFill/>
          <a:ln/>
        </p:spPr>
        <p:txBody>
          <a:bodyPr wrap="square" lIns="25400" tIns="25400" rIns="25400" bIns="25400" rtlCol="0" anchor="t">
            <a:normAutofit/>
          </a:bodyPr>
          <a:lstStyle/>
          <a:p>
            <a:pPr algn="l" indent="0" marL="0">
              <a:buNone/>
            </a:pPr>
            <a:r>
              <a:rPr lang="en-US" sz="1275" b="1" dirty="0">
                <a:solidFill>
                  <a:srgbClr val="22A06B"/>
                </a:solidFill>
                <a:latin typeface="Arial" pitchFamily="34" charset="0"/>
                <a:ea typeface="Arial" pitchFamily="34" charset="-122"/>
                <a:cs typeface="Arial" pitchFamily="34" charset="-120"/>
              </a:rPr>
              <a:t>✓</a:t>
            </a:r>
            <a:endParaRPr lang="en-US" sz="1275" dirty="0"/>
          </a:p>
        </p:txBody>
      </p:sp>
      <p:sp>
        <p:nvSpPr>
          <p:cNvPr id="62" name="Text 60"/>
          <p:cNvSpPr/>
          <p:nvPr/>
        </p:nvSpPr>
        <p:spPr>
          <a:xfrm>
            <a:off x="11802427" y="3648075"/>
            <a:ext cx="2010728" cy="228600"/>
          </a:xfrm>
          <a:prstGeom prst="rect">
            <a:avLst/>
          </a:prstGeom>
          <a:noFill/>
          <a:ln/>
        </p:spPr>
        <p:txBody>
          <a:bodyPr wrap="square" lIns="0" tIns="0" rIns="0" bIns="0" rtlCol="0" anchor="t">
            <a:normAutofit/>
          </a:bodyPr>
          <a:lstStyle/>
          <a:p>
            <a:pPr algn="l" indent="0" marL="0">
              <a:buNone/>
            </a:pPr>
            <a:r>
              <a:rPr lang="en-US" sz="1275" b="1" dirty="0">
                <a:solidFill>
                  <a:srgbClr val="3C5066"/>
                </a:solidFill>
                <a:latin typeface="Arial" pitchFamily="34" charset="0"/>
                <a:ea typeface="Arial" pitchFamily="34" charset="-122"/>
                <a:cs typeface="Arial" pitchFamily="34" charset="-120"/>
              </a:rPr>
              <a:t>migrate · collectstatic 실행</a:t>
            </a:r>
            <a:endParaRPr lang="en-US" sz="1275" dirty="0"/>
          </a:p>
        </p:txBody>
      </p:sp>
      <p:sp>
        <p:nvSpPr>
          <p:cNvPr id="63" name="Text 61"/>
          <p:cNvSpPr/>
          <p:nvPr/>
        </p:nvSpPr>
        <p:spPr>
          <a:xfrm>
            <a:off x="11586449" y="3989070"/>
            <a:ext cx="196929" cy="274320"/>
          </a:xfrm>
          <a:prstGeom prst="rect">
            <a:avLst/>
          </a:prstGeom>
          <a:noFill/>
          <a:ln/>
        </p:spPr>
        <p:txBody>
          <a:bodyPr wrap="square" lIns="25400" tIns="25400" rIns="25400" bIns="25400" rtlCol="0" anchor="t">
            <a:normAutofit/>
          </a:bodyPr>
          <a:lstStyle/>
          <a:p>
            <a:pPr algn="l" indent="0" marL="0">
              <a:buNone/>
            </a:pPr>
            <a:r>
              <a:rPr lang="en-US" sz="1275" b="1" dirty="0">
                <a:solidFill>
                  <a:srgbClr val="22A06B"/>
                </a:solidFill>
                <a:latin typeface="Arial" pitchFamily="34" charset="0"/>
                <a:ea typeface="Arial" pitchFamily="34" charset="-122"/>
                <a:cs typeface="Arial" pitchFamily="34" charset="-120"/>
              </a:rPr>
              <a:t>✓</a:t>
            </a:r>
            <a:endParaRPr lang="en-US" sz="1275" dirty="0"/>
          </a:p>
        </p:txBody>
      </p:sp>
      <p:sp>
        <p:nvSpPr>
          <p:cNvPr id="64" name="Text 62"/>
          <p:cNvSpPr/>
          <p:nvPr/>
        </p:nvSpPr>
        <p:spPr>
          <a:xfrm>
            <a:off x="11802427" y="3989070"/>
            <a:ext cx="1836420" cy="274320"/>
          </a:xfrm>
          <a:prstGeom prst="rect">
            <a:avLst/>
          </a:prstGeom>
          <a:noFill/>
          <a:ln/>
        </p:spPr>
        <p:txBody>
          <a:bodyPr wrap="square" lIns="25400" tIns="25400" rIns="25400" bIns="25400" rtlCol="0" anchor="t">
            <a:normAutofit/>
          </a:bodyPr>
          <a:lstStyle/>
          <a:p>
            <a:pPr algn="l" indent="0" marL="0">
              <a:buNone/>
            </a:pPr>
            <a:r>
              <a:rPr lang="en-US" sz="1125" b="1" dirty="0">
                <a:solidFill>
                  <a:srgbClr val="3C5066"/>
                </a:solidFill>
                <a:latin typeface="Courier New" pitchFamily="34" charset="0"/>
                <a:ea typeface="Courier New" pitchFamily="34" charset="-122"/>
                <a:cs typeface="Courier New" pitchFamily="34" charset="-120"/>
              </a:rPr>
              <a:t>backup_data_utf8.json</a:t>
            </a:r>
            <a:endParaRPr lang="en-US" sz="1125" dirty="0"/>
          </a:p>
        </p:txBody>
      </p:sp>
      <p:sp>
        <p:nvSpPr>
          <p:cNvPr id="65" name="Text 63"/>
          <p:cNvSpPr/>
          <p:nvPr/>
        </p:nvSpPr>
        <p:spPr>
          <a:xfrm>
            <a:off x="13657898" y="3989070"/>
            <a:ext cx="731282" cy="228600"/>
          </a:xfrm>
          <a:prstGeom prst="rect">
            <a:avLst/>
          </a:prstGeom>
          <a:noFill/>
          <a:ln/>
        </p:spPr>
        <p:txBody>
          <a:bodyPr wrap="square" lIns="0" tIns="0" rIns="0" bIns="0" rtlCol="0" anchor="t">
            <a:normAutofit/>
          </a:bodyPr>
          <a:lstStyle/>
          <a:p>
            <a:pPr algn="l" indent="0" marL="0">
              <a:buNone/>
            </a:pPr>
            <a:r>
              <a:rPr lang="en-US" sz="1275" b="1" dirty="0">
                <a:solidFill>
                  <a:srgbClr val="3C5066"/>
                </a:solidFill>
                <a:latin typeface="Arial" pitchFamily="34" charset="0"/>
                <a:ea typeface="Arial" pitchFamily="34" charset="-122"/>
                <a:cs typeface="Arial" pitchFamily="34" charset="-120"/>
              </a:rPr>
              <a:t>loaddata</a:t>
            </a:r>
            <a:endParaRPr lang="en-US" sz="1275" dirty="0"/>
          </a:p>
        </p:txBody>
      </p:sp>
      <p:sp>
        <p:nvSpPr>
          <p:cNvPr id="66" name="Text 64"/>
          <p:cNvSpPr/>
          <p:nvPr/>
        </p:nvSpPr>
        <p:spPr>
          <a:xfrm>
            <a:off x="11586449" y="4330065"/>
            <a:ext cx="196929" cy="274320"/>
          </a:xfrm>
          <a:prstGeom prst="rect">
            <a:avLst/>
          </a:prstGeom>
          <a:noFill/>
          <a:ln/>
        </p:spPr>
        <p:txBody>
          <a:bodyPr wrap="square" lIns="25400" tIns="25400" rIns="25400" bIns="25400" rtlCol="0" anchor="t">
            <a:normAutofit/>
          </a:bodyPr>
          <a:lstStyle/>
          <a:p>
            <a:pPr algn="l" indent="0" marL="0">
              <a:buNone/>
            </a:pPr>
            <a:r>
              <a:rPr lang="en-US" sz="1275" b="1" dirty="0">
                <a:solidFill>
                  <a:srgbClr val="22A06B"/>
                </a:solidFill>
                <a:latin typeface="Arial" pitchFamily="34" charset="0"/>
                <a:ea typeface="Arial" pitchFamily="34" charset="-122"/>
                <a:cs typeface="Arial" pitchFamily="34" charset="-120"/>
              </a:rPr>
              <a:t>✓</a:t>
            </a:r>
            <a:endParaRPr lang="en-US" sz="1275" dirty="0"/>
          </a:p>
        </p:txBody>
      </p:sp>
      <p:sp>
        <p:nvSpPr>
          <p:cNvPr id="67" name="Text 65"/>
          <p:cNvSpPr/>
          <p:nvPr/>
        </p:nvSpPr>
        <p:spPr>
          <a:xfrm>
            <a:off x="11802427" y="4330065"/>
            <a:ext cx="2222660" cy="228600"/>
          </a:xfrm>
          <a:prstGeom prst="rect">
            <a:avLst/>
          </a:prstGeom>
          <a:noFill/>
          <a:ln/>
        </p:spPr>
        <p:txBody>
          <a:bodyPr wrap="square" lIns="0" tIns="0" rIns="0" bIns="0" rtlCol="0" anchor="t">
            <a:normAutofit/>
          </a:bodyPr>
          <a:lstStyle/>
          <a:p>
            <a:pPr algn="l" indent="0" marL="0">
              <a:buNone/>
            </a:pPr>
            <a:r>
              <a:rPr lang="en-US" sz="1275" b="1" dirty="0">
                <a:solidFill>
                  <a:srgbClr val="3C5066"/>
                </a:solidFill>
                <a:latin typeface="Arial" pitchFamily="34" charset="0"/>
                <a:ea typeface="Arial" pitchFamily="34" charset="-122"/>
                <a:cs typeface="Arial" pitchFamily="34" charset="-120"/>
              </a:rPr>
              <a:t>Gunicorn systemd 서비스 등록</a:t>
            </a:r>
            <a:endParaRPr lang="en-US" sz="1275" dirty="0"/>
          </a:p>
        </p:txBody>
      </p:sp>
      <p:sp>
        <p:nvSpPr>
          <p:cNvPr id="68" name="Text 66"/>
          <p:cNvSpPr/>
          <p:nvPr/>
        </p:nvSpPr>
        <p:spPr>
          <a:xfrm>
            <a:off x="11586449" y="4671060"/>
            <a:ext cx="196929" cy="274320"/>
          </a:xfrm>
          <a:prstGeom prst="rect">
            <a:avLst/>
          </a:prstGeom>
          <a:noFill/>
          <a:ln/>
        </p:spPr>
        <p:txBody>
          <a:bodyPr wrap="square" lIns="25400" tIns="25400" rIns="25400" bIns="25400" rtlCol="0" anchor="t">
            <a:normAutofit/>
          </a:bodyPr>
          <a:lstStyle/>
          <a:p>
            <a:pPr algn="l" indent="0" marL="0">
              <a:buNone/>
            </a:pPr>
            <a:r>
              <a:rPr lang="en-US" sz="1275" b="1" dirty="0">
                <a:solidFill>
                  <a:srgbClr val="22A06B"/>
                </a:solidFill>
                <a:latin typeface="Arial" pitchFamily="34" charset="0"/>
                <a:ea typeface="Arial" pitchFamily="34" charset="-122"/>
                <a:cs typeface="Arial" pitchFamily="34" charset="-120"/>
              </a:rPr>
              <a:t>✓</a:t>
            </a:r>
            <a:endParaRPr lang="en-US" sz="1275" dirty="0"/>
          </a:p>
        </p:txBody>
      </p:sp>
      <p:sp>
        <p:nvSpPr>
          <p:cNvPr id="69" name="Text 67"/>
          <p:cNvSpPr/>
          <p:nvPr/>
        </p:nvSpPr>
        <p:spPr>
          <a:xfrm>
            <a:off x="11802427" y="4671060"/>
            <a:ext cx="1891189" cy="228600"/>
          </a:xfrm>
          <a:prstGeom prst="rect">
            <a:avLst/>
          </a:prstGeom>
          <a:noFill/>
          <a:ln/>
        </p:spPr>
        <p:txBody>
          <a:bodyPr wrap="square" lIns="0" tIns="0" rIns="0" bIns="0" rtlCol="0" anchor="t">
            <a:normAutofit/>
          </a:bodyPr>
          <a:lstStyle/>
          <a:p>
            <a:pPr algn="l" indent="0" marL="0">
              <a:buNone/>
            </a:pPr>
            <a:r>
              <a:rPr lang="en-US" sz="1275" b="1" dirty="0">
                <a:solidFill>
                  <a:srgbClr val="3C5066"/>
                </a:solidFill>
                <a:latin typeface="Arial" pitchFamily="34" charset="0"/>
                <a:ea typeface="Arial" pitchFamily="34" charset="-122"/>
                <a:cs typeface="Arial" pitchFamily="34" charset="-120"/>
              </a:rPr>
              <a:t>Nginx reverse proxy 설정</a:t>
            </a:r>
            <a:endParaRPr lang="en-US" sz="1275" dirty="0"/>
          </a:p>
        </p:txBody>
      </p:sp>
      <p:sp>
        <p:nvSpPr>
          <p:cNvPr id="70" name="Shape 68"/>
          <p:cNvSpPr/>
          <p:nvPr/>
        </p:nvSpPr>
        <p:spPr>
          <a:xfrm>
            <a:off x="11312128" y="8553450"/>
            <a:ext cx="6290072" cy="1200150"/>
          </a:xfrm>
          <a:prstGeom prst="roundRect">
            <a:avLst>
              <a:gd name="adj" fmla="val 14286"/>
            </a:avLst>
          </a:prstGeom>
          <a:gradFill rotWithShape="1">
            <a:gsLst>
              <a:gs pos="0">
                <a:srgbClr val="2E86DD">
                  <a:alpha val="100000"/>
                </a:srgbClr>
              </a:gs>
              <a:gs pos="100000">
                <a:srgbClr val="1E63B5">
                  <a:alpha val="100000"/>
                </a:srgbClr>
              </a:gs>
            </a:gsLst>
            <a:lin ang="3900000" scaled="0"/>
          </a:gradFill>
          <a:ln/>
          <a:effectLst>
            <a:outerShdw sx="100000" sy="100000" kx="0" ky="0" algn="bl" rotWithShape="0" blurRad="285750" dist="114300" dir="5400000">
              <a:srgbClr val="1E63B5">
                <a:alpha val="24000"/>
              </a:srgbClr>
            </a:outerShdw>
          </a:effectLst>
        </p:spPr>
      </p:sp>
      <p:sp>
        <p:nvSpPr>
          <p:cNvPr id="71" name="Text 69"/>
          <p:cNvSpPr/>
          <p:nvPr/>
        </p:nvSpPr>
        <p:spPr>
          <a:xfrm>
            <a:off x="11578828" y="8782050"/>
            <a:ext cx="6332339" cy="259080"/>
          </a:xfrm>
          <a:prstGeom prst="rect">
            <a:avLst/>
          </a:prstGeom>
          <a:noFill/>
          <a:ln/>
        </p:spPr>
        <p:txBody>
          <a:bodyPr wrap="square" lIns="25400" tIns="25400" rIns="25400" bIns="25400" rtlCol="0" anchor="t">
            <a:normAutofit/>
          </a:bodyPr>
          <a:lstStyle/>
          <a:p>
            <a:pPr algn="l" indent="0" marL="0">
              <a:buNone/>
            </a:pPr>
            <a:r>
              <a:rPr lang="en-US" sz="1200" b="1" spc="48" kern="0" dirty="0">
                <a:solidFill>
                  <a:srgbClr val="FFFFFF">
                    <a:alpha val="82000"/>
                  </a:srgbClr>
                </a:solidFill>
                <a:latin typeface="Arial" pitchFamily="34" charset="0"/>
                <a:ea typeface="Arial" pitchFamily="34" charset="-122"/>
                <a:cs typeface="Arial" pitchFamily="34" charset="-120"/>
              </a:rPr>
              <a:t>데이터 이관 · SQLite → RDS</a:t>
            </a:r>
            <a:endParaRPr lang="en-US" sz="1200" dirty="0"/>
          </a:p>
        </p:txBody>
      </p:sp>
      <p:sp>
        <p:nvSpPr>
          <p:cNvPr id="72" name="Shape 70"/>
          <p:cNvSpPr/>
          <p:nvPr/>
        </p:nvSpPr>
        <p:spPr>
          <a:xfrm>
            <a:off x="11578828" y="9159240"/>
            <a:ext cx="1192768" cy="342900"/>
          </a:xfrm>
          <a:prstGeom prst="roundRect">
            <a:avLst>
              <a:gd name="adj" fmla="val 25000"/>
            </a:avLst>
          </a:prstGeom>
          <a:solidFill>
            <a:srgbClr val="FFFFFF">
              <a:alpha val="16000"/>
            </a:srgbClr>
          </a:solidFill>
          <a:ln/>
        </p:spPr>
      </p:sp>
      <p:sp>
        <p:nvSpPr>
          <p:cNvPr id="73" name="Text 71"/>
          <p:cNvSpPr/>
          <p:nvPr/>
        </p:nvSpPr>
        <p:spPr>
          <a:xfrm>
            <a:off x="11702653" y="9235440"/>
            <a:ext cx="1021318" cy="228600"/>
          </a:xfrm>
          <a:prstGeom prst="rect">
            <a:avLst/>
          </a:prstGeom>
          <a:noFill/>
          <a:ln/>
        </p:spPr>
        <p:txBody>
          <a:bodyPr wrap="square" lIns="25400" tIns="25400" rIns="25400" bIns="25400" rtlCol="0" anchor="t">
            <a:normAutofit/>
          </a:bodyPr>
          <a:lstStyle/>
          <a:p>
            <a:pPr algn="l" indent="0" marL="0">
              <a:buNone/>
            </a:pPr>
            <a:r>
              <a:rPr lang="en-US" sz="1275" b="1" dirty="0">
                <a:solidFill>
                  <a:srgbClr val="FFFFFF"/>
                </a:solidFill>
                <a:latin typeface="Arial" pitchFamily="34" charset="0"/>
                <a:ea typeface="Arial" pitchFamily="34" charset="-122"/>
                <a:cs typeface="Arial" pitchFamily="34" charset="-120"/>
              </a:rPr>
              <a:t>SQLite dump</a:t>
            </a:r>
            <a:endParaRPr lang="en-US" sz="1275" dirty="0"/>
          </a:p>
        </p:txBody>
      </p:sp>
      <p:sp>
        <p:nvSpPr>
          <p:cNvPr id="74" name="Text 72"/>
          <p:cNvSpPr/>
          <p:nvPr/>
        </p:nvSpPr>
        <p:spPr>
          <a:xfrm>
            <a:off x="12857321" y="9235440"/>
            <a:ext cx="238125" cy="228600"/>
          </a:xfrm>
          <a:prstGeom prst="rect">
            <a:avLst/>
          </a:prstGeom>
          <a:noFill/>
          <a:ln/>
        </p:spPr>
        <p:txBody>
          <a:bodyPr wrap="square" lIns="25400" tIns="25400" rIns="25400" bIns="25400" rtlCol="0" anchor="t">
            <a:normAutofit/>
          </a:bodyPr>
          <a:lstStyle/>
          <a:p>
            <a:pPr algn="l" indent="0" marL="0">
              <a:buNone/>
            </a:pPr>
            <a:r>
              <a:rPr lang="en-US" sz="1275" b="1" dirty="0">
                <a:solidFill>
                  <a:srgbClr val="FFFFFF">
                    <a:alpha val="60000"/>
                  </a:srgbClr>
                </a:solidFill>
                <a:latin typeface="Arial" pitchFamily="34" charset="0"/>
                <a:ea typeface="Arial" pitchFamily="34" charset="-122"/>
                <a:cs typeface="Arial" pitchFamily="34" charset="-120"/>
              </a:rPr>
              <a:t>→</a:t>
            </a:r>
            <a:endParaRPr lang="en-US" sz="1275" dirty="0"/>
          </a:p>
        </p:txBody>
      </p:sp>
      <p:sp>
        <p:nvSpPr>
          <p:cNvPr id="75" name="Shape 73"/>
          <p:cNvSpPr/>
          <p:nvPr/>
        </p:nvSpPr>
        <p:spPr>
          <a:xfrm>
            <a:off x="13104971" y="9136380"/>
            <a:ext cx="1049417" cy="388620"/>
          </a:xfrm>
          <a:prstGeom prst="roundRect">
            <a:avLst>
              <a:gd name="adj" fmla="val 22059"/>
            </a:avLst>
          </a:prstGeom>
          <a:solidFill>
            <a:srgbClr val="FFFFFF">
              <a:alpha val="16000"/>
            </a:srgbClr>
          </a:solidFill>
          <a:ln/>
        </p:spPr>
      </p:sp>
      <p:sp>
        <p:nvSpPr>
          <p:cNvPr id="76" name="Text 74"/>
          <p:cNvSpPr/>
          <p:nvPr/>
        </p:nvSpPr>
        <p:spPr>
          <a:xfrm>
            <a:off x="13228796" y="9212580"/>
            <a:ext cx="877967" cy="274320"/>
          </a:xfrm>
          <a:prstGeom prst="rect">
            <a:avLst/>
          </a:prstGeom>
          <a:noFill/>
          <a:ln/>
        </p:spPr>
        <p:txBody>
          <a:bodyPr wrap="square" lIns="25400" tIns="25400" rIns="25400" bIns="25400" rtlCol="0" anchor="t">
            <a:normAutofit/>
          </a:bodyPr>
          <a:lstStyle/>
          <a:p>
            <a:pPr algn="l" indent="0" marL="0">
              <a:buNone/>
            </a:pPr>
            <a:r>
              <a:rPr lang="en-US" sz="1275" b="1" dirty="0">
                <a:solidFill>
                  <a:srgbClr val="FFFFFF"/>
                </a:solidFill>
                <a:latin typeface="Arial" pitchFamily="34" charset="0"/>
                <a:ea typeface="Arial" pitchFamily="34" charset="-122"/>
                <a:cs typeface="Arial" pitchFamily="34" charset="-120"/>
              </a:rPr>
              <a:t>UTF-8 변환</a:t>
            </a:r>
            <a:endParaRPr lang="en-US" sz="1275" dirty="0"/>
          </a:p>
        </p:txBody>
      </p:sp>
      <p:sp>
        <p:nvSpPr>
          <p:cNvPr id="77" name="Text 75"/>
          <p:cNvSpPr/>
          <p:nvPr/>
        </p:nvSpPr>
        <p:spPr>
          <a:xfrm>
            <a:off x="14240113" y="9235440"/>
            <a:ext cx="238125" cy="228600"/>
          </a:xfrm>
          <a:prstGeom prst="rect">
            <a:avLst/>
          </a:prstGeom>
          <a:noFill/>
          <a:ln/>
        </p:spPr>
        <p:txBody>
          <a:bodyPr wrap="square" lIns="25400" tIns="25400" rIns="25400" bIns="25400" rtlCol="0" anchor="t">
            <a:normAutofit/>
          </a:bodyPr>
          <a:lstStyle/>
          <a:p>
            <a:pPr algn="l" indent="0" marL="0">
              <a:buNone/>
            </a:pPr>
            <a:r>
              <a:rPr lang="en-US" sz="1275" b="1" dirty="0">
                <a:solidFill>
                  <a:srgbClr val="FFFFFF">
                    <a:alpha val="60000"/>
                  </a:srgbClr>
                </a:solidFill>
                <a:latin typeface="Arial" pitchFamily="34" charset="0"/>
                <a:ea typeface="Arial" pitchFamily="34" charset="-122"/>
                <a:cs typeface="Arial" pitchFamily="34" charset="-120"/>
              </a:rPr>
              <a:t>→</a:t>
            </a:r>
            <a:endParaRPr lang="en-US" sz="1275" dirty="0"/>
          </a:p>
        </p:txBody>
      </p:sp>
      <p:sp>
        <p:nvSpPr>
          <p:cNvPr id="78" name="Shape 76"/>
          <p:cNvSpPr/>
          <p:nvPr/>
        </p:nvSpPr>
        <p:spPr>
          <a:xfrm>
            <a:off x="14487763" y="9159240"/>
            <a:ext cx="1255871" cy="342900"/>
          </a:xfrm>
          <a:prstGeom prst="roundRect">
            <a:avLst>
              <a:gd name="adj" fmla="val 25000"/>
            </a:avLst>
          </a:prstGeom>
          <a:solidFill>
            <a:srgbClr val="FFFFFF">
              <a:alpha val="22000"/>
            </a:srgbClr>
          </a:solidFill>
          <a:ln/>
        </p:spPr>
      </p:sp>
      <p:sp>
        <p:nvSpPr>
          <p:cNvPr id="79" name="Text 77"/>
          <p:cNvSpPr/>
          <p:nvPr/>
        </p:nvSpPr>
        <p:spPr>
          <a:xfrm>
            <a:off x="14611588" y="9235440"/>
            <a:ext cx="1084421" cy="228600"/>
          </a:xfrm>
          <a:prstGeom prst="rect">
            <a:avLst/>
          </a:prstGeom>
          <a:noFill/>
          <a:ln/>
        </p:spPr>
        <p:txBody>
          <a:bodyPr wrap="square" lIns="25400" tIns="25400" rIns="25400" bIns="25400" rtlCol="0" anchor="t">
            <a:normAutofit/>
          </a:bodyPr>
          <a:lstStyle/>
          <a:p>
            <a:pPr algn="l" indent="0" marL="0">
              <a:buNone/>
            </a:pPr>
            <a:r>
              <a:rPr lang="en-US" sz="1275" b="1" dirty="0">
                <a:solidFill>
                  <a:srgbClr val="FFFFFF"/>
                </a:solidFill>
                <a:latin typeface="Arial" pitchFamily="34" charset="0"/>
                <a:ea typeface="Arial" pitchFamily="34" charset="-122"/>
                <a:cs typeface="Arial" pitchFamily="34" charset="-120"/>
              </a:rPr>
              <a:t>RDS loaddata</a:t>
            </a:r>
            <a:endParaRPr lang="en-US" sz="1275"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2E86DD">
                  <a:alpha val="100000"/>
                </a:srgbClr>
              </a:gs>
              <a:gs pos="70000">
                <a:srgbClr val="1E64B8">
                  <a:alpha val="100000"/>
                </a:srgbClr>
              </a:gs>
              <a:gs pos="100000">
                <a:srgbClr val="184F9A">
                  <a:alpha val="100000"/>
                </a:srgbClr>
              </a:gs>
            </a:gsLst>
            <a:lin ang="3600000" scaled="0"/>
          </a:gradFill>
          <a:ln/>
        </p:spPr>
      </p:sp>
      <p:sp>
        <p:nvSpPr>
          <p:cNvPr id="3" name="Shape 1"/>
          <p:cNvSpPr/>
          <p:nvPr/>
        </p:nvSpPr>
        <p:spPr>
          <a:xfrm>
            <a:off x="14668500" y="-1333500"/>
            <a:ext cx="4572000" cy="4572000"/>
          </a:xfrm>
          <a:prstGeom prst="ellipse">
            <a:avLst/>
          </a:prstGeom>
          <a:solidFill>
            <a:srgbClr val="FFFFFF">
              <a:alpha val="6000"/>
            </a:srgbClr>
          </a:solidFill>
          <a:ln/>
        </p:spPr>
      </p:sp>
      <p:sp>
        <p:nvSpPr>
          <p:cNvPr id="4" name="Text 2"/>
          <p:cNvSpPr/>
          <p:nvPr/>
        </p:nvSpPr>
        <p:spPr>
          <a:xfrm>
            <a:off x="762000" y="609600"/>
            <a:ext cx="18440400" cy="213360"/>
          </a:xfrm>
          <a:prstGeom prst="rect">
            <a:avLst/>
          </a:prstGeom>
          <a:noFill/>
          <a:ln/>
        </p:spPr>
        <p:txBody>
          <a:bodyPr wrap="square" lIns="25400" tIns="25400" rIns="25400" bIns="25400" rtlCol="0" anchor="t">
            <a:normAutofit/>
          </a:bodyPr>
          <a:lstStyle/>
          <a:p>
            <a:pPr algn="l" indent="0" marL="0">
              <a:buNone/>
            </a:pPr>
            <a:r>
              <a:rPr lang="en-US" sz="1200" b="1" spc="192" kern="0" dirty="0">
                <a:solidFill>
                  <a:srgbClr val="FFFFFF">
                    <a:alpha val="78000"/>
                  </a:srgbClr>
                </a:solidFill>
                <a:latin typeface="Arial" pitchFamily="34" charset="0"/>
                <a:ea typeface="Arial" pitchFamily="34" charset="-122"/>
                <a:cs typeface="Arial" pitchFamily="34" charset="-120"/>
              </a:rPr>
              <a:t>15 · LIVE DEMO</a:t>
            </a:r>
            <a:endParaRPr lang="en-US" sz="1200" dirty="0"/>
          </a:p>
        </p:txBody>
      </p:sp>
      <p:sp>
        <p:nvSpPr>
          <p:cNvPr id="5" name="Text 3"/>
          <p:cNvSpPr/>
          <p:nvPr/>
        </p:nvSpPr>
        <p:spPr>
          <a:xfrm>
            <a:off x="762000" y="899160"/>
            <a:ext cx="18440400" cy="754380"/>
          </a:xfrm>
          <a:prstGeom prst="rect">
            <a:avLst/>
          </a:prstGeom>
          <a:noFill/>
          <a:ln/>
        </p:spPr>
        <p:txBody>
          <a:bodyPr wrap="square" lIns="25400" tIns="25400" rIns="25400" bIns="25400" rtlCol="0" anchor="t">
            <a:normAutofit/>
          </a:bodyPr>
          <a:lstStyle/>
          <a:p>
            <a:pPr algn="l" indent="0" marL="0">
              <a:buNone/>
            </a:pPr>
            <a:r>
              <a:rPr lang="en-US" sz="3900" b="1" spc="-117" kern="0" dirty="0">
                <a:solidFill>
                  <a:srgbClr val="FFFFFF"/>
                </a:solidFill>
                <a:latin typeface="Arial" pitchFamily="34" charset="0"/>
                <a:ea typeface="Arial" pitchFamily="34" charset="-122"/>
                <a:cs typeface="Arial" pitchFamily="34" charset="-120"/>
              </a:rPr>
              <a:t>실제로 동작하는 모습을 보여드립니다</a:t>
            </a:r>
            <a:endParaRPr lang="en-US" sz="3900" dirty="0"/>
          </a:p>
        </p:txBody>
      </p:sp>
      <p:sp>
        <p:nvSpPr>
          <p:cNvPr id="6" name="Text 4"/>
          <p:cNvSpPr/>
          <p:nvPr/>
        </p:nvSpPr>
        <p:spPr>
          <a:xfrm>
            <a:off x="762000" y="1672590"/>
            <a:ext cx="18440400" cy="297180"/>
          </a:xfrm>
          <a:prstGeom prst="rect">
            <a:avLst/>
          </a:prstGeom>
          <a:noFill/>
          <a:ln/>
        </p:spPr>
        <p:txBody>
          <a:bodyPr wrap="square" lIns="25400" tIns="25400" rIns="25400" bIns="25400" rtlCol="0" anchor="t">
            <a:normAutofit/>
          </a:bodyPr>
          <a:lstStyle/>
          <a:p>
            <a:pPr algn="l" indent="0" marL="0">
              <a:buNone/>
            </a:pPr>
            <a:r>
              <a:rPr lang="en-US" sz="1725" b="1" dirty="0">
                <a:solidFill>
                  <a:srgbClr val="FFFFFF">
                    <a:alpha val="85000"/>
                  </a:srgbClr>
                </a:solidFill>
                <a:latin typeface="Arial" pitchFamily="34" charset="0"/>
                <a:ea typeface="Arial" pitchFamily="34" charset="-122"/>
                <a:cs typeface="Arial" pitchFamily="34" charset="-120"/>
              </a:rPr>
              <a:t>로그인부터 관리자 통계까지, 하나의 흐름으로 시연합니다</a:t>
            </a:r>
            <a:endParaRPr lang="en-US" sz="1725" dirty="0"/>
          </a:p>
        </p:txBody>
      </p:sp>
      <p:sp>
        <p:nvSpPr>
          <p:cNvPr id="7" name="Shape 5"/>
          <p:cNvSpPr/>
          <p:nvPr/>
        </p:nvSpPr>
        <p:spPr>
          <a:xfrm>
            <a:off x="762000" y="2236470"/>
            <a:ext cx="2716887" cy="7440930"/>
          </a:xfrm>
          <a:prstGeom prst="roundRect">
            <a:avLst>
              <a:gd name="adj" fmla="val 6311"/>
            </a:avLst>
          </a:prstGeom>
          <a:solidFill>
            <a:srgbClr val="FFFFFF">
              <a:alpha val="10000"/>
            </a:srgbClr>
          </a:solidFill>
          <a:ln w="7620">
            <a:solidFill>
              <a:srgbClr val="FFFFFF">
                <a:alpha val="18000"/>
              </a:srgbClr>
            </a:solidFill>
            <a:prstDash val="solid"/>
          </a:ln>
        </p:spPr>
      </p:sp>
      <p:sp>
        <p:nvSpPr>
          <p:cNvPr id="8" name="Shape 6"/>
          <p:cNvSpPr/>
          <p:nvPr/>
        </p:nvSpPr>
        <p:spPr>
          <a:xfrm>
            <a:off x="998220" y="2510790"/>
            <a:ext cx="438150" cy="438150"/>
          </a:xfrm>
          <a:prstGeom prst="roundRect">
            <a:avLst>
              <a:gd name="adj" fmla="val 28261"/>
            </a:avLst>
          </a:prstGeom>
          <a:solidFill>
            <a:srgbClr val="FFFFFF">
              <a:alpha val="20000"/>
            </a:srgbClr>
          </a:solidFill>
          <a:ln/>
        </p:spPr>
      </p:sp>
      <p:sp>
        <p:nvSpPr>
          <p:cNvPr id="9" name="Text 7"/>
          <p:cNvSpPr/>
          <p:nvPr/>
        </p:nvSpPr>
        <p:spPr>
          <a:xfrm>
            <a:off x="960120" y="2510790"/>
            <a:ext cx="514350" cy="476250"/>
          </a:xfrm>
          <a:prstGeom prst="rect">
            <a:avLst/>
          </a:prstGeom>
          <a:noFill/>
          <a:ln/>
        </p:spPr>
        <p:txBody>
          <a:bodyPr wrap="square" lIns="25400" tIns="25400" rIns="25400" bIns="25400" rtlCol="0" anchor="ctr">
            <a:normAutofit/>
          </a:bodyP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10" name="Text 8"/>
          <p:cNvSpPr/>
          <p:nvPr/>
        </p:nvSpPr>
        <p:spPr>
          <a:xfrm>
            <a:off x="1550670" y="2626995"/>
            <a:ext cx="350520" cy="243840"/>
          </a:xfrm>
          <a:prstGeom prst="rect">
            <a:avLst/>
          </a:prstGeom>
          <a:noFill/>
          <a:ln/>
        </p:spPr>
        <p:txBody>
          <a:bodyPr wrap="square" lIns="25400" tIns="25400" rIns="25400" bIns="25400" rtlCol="0" anchor="t">
            <a:normAutofit/>
          </a:bodyPr>
          <a:lstStyle/>
          <a:p>
            <a:pPr algn="l" indent="0" marL="0">
              <a:buNone/>
            </a:pPr>
            <a:r>
              <a:rPr lang="en-US" sz="1125" b="1" spc="45" kern="0" dirty="0">
                <a:solidFill>
                  <a:srgbClr val="FFFFFF">
                    <a:alpha val="70000"/>
                  </a:srgbClr>
                </a:solidFill>
                <a:latin typeface="Arial" pitchFamily="34" charset="0"/>
                <a:ea typeface="Arial" pitchFamily="34" charset="-122"/>
                <a:cs typeface="Arial" pitchFamily="34" charset="-120"/>
              </a:rPr>
              <a:t>진입</a:t>
            </a:r>
            <a:endParaRPr lang="en-US" sz="1125" dirty="0"/>
          </a:p>
        </p:txBody>
      </p:sp>
      <p:sp>
        <p:nvSpPr>
          <p:cNvPr id="11" name="Text 9"/>
          <p:cNvSpPr/>
          <p:nvPr/>
        </p:nvSpPr>
        <p:spPr>
          <a:xfrm>
            <a:off x="998220" y="3120390"/>
            <a:ext cx="2468892" cy="335756"/>
          </a:xfrm>
          <a:prstGeom prst="rect">
            <a:avLst/>
          </a:prstGeom>
          <a:noFill/>
          <a:ln/>
        </p:spPr>
        <p:txBody>
          <a:bodyPr wrap="square" lIns="25400" tIns="25400" rIns="25400" bIns="25400" rtlCol="0" anchor="t">
            <a:normAutofit/>
          </a:bodyPr>
          <a:lstStyle/>
          <a:p>
            <a:pPr algn="l" indent="0" marL="0">
              <a:lnSpc>
                <a:spcPct val="125000"/>
              </a:lnSpc>
              <a:buNone/>
            </a:pPr>
            <a:r>
              <a:rPr lang="en-US" sz="1875" b="1" dirty="0">
                <a:solidFill>
                  <a:srgbClr val="FFFFFF"/>
                </a:solidFill>
                <a:latin typeface="Arial" pitchFamily="34" charset="0"/>
                <a:ea typeface="Arial" pitchFamily="34" charset="-122"/>
                <a:cs typeface="Arial" pitchFamily="34" charset="-120"/>
              </a:rPr>
              <a:t>로그인</a:t>
            </a:r>
            <a:endParaRPr lang="en-US" sz="1875" dirty="0"/>
          </a:p>
        </p:txBody>
      </p:sp>
      <p:sp>
        <p:nvSpPr>
          <p:cNvPr id="12" name="Shape 10"/>
          <p:cNvSpPr/>
          <p:nvPr/>
        </p:nvSpPr>
        <p:spPr>
          <a:xfrm>
            <a:off x="998220" y="9027319"/>
            <a:ext cx="2244447" cy="9525"/>
          </a:xfrm>
          <a:prstGeom prst="rect">
            <a:avLst/>
          </a:prstGeom>
          <a:solidFill>
            <a:srgbClr val="FFFFFF">
              <a:alpha val="16000"/>
            </a:srgbClr>
          </a:solidFill>
          <a:ln/>
        </p:spPr>
      </p:sp>
      <p:sp>
        <p:nvSpPr>
          <p:cNvPr id="13" name="Text 11"/>
          <p:cNvSpPr/>
          <p:nvPr/>
        </p:nvSpPr>
        <p:spPr>
          <a:xfrm>
            <a:off x="998220" y="9168289"/>
            <a:ext cx="2320647" cy="272891"/>
          </a:xfrm>
          <a:prstGeom prst="rect">
            <a:avLst/>
          </a:prstGeom>
          <a:noFill/>
          <a:ln/>
        </p:spPr>
        <p:txBody>
          <a:bodyPr wrap="square" lIns="25400" tIns="25400" rIns="25400" bIns="25400" rtlCol="0" anchor="t">
            <a:normAutofit/>
          </a:bodyPr>
          <a:lstStyle/>
          <a:p>
            <a:pPr algn="l" indent="0" marL="0">
              <a:lnSpc>
                <a:spcPct val="145000"/>
              </a:lnSpc>
              <a:buNone/>
            </a:pPr>
            <a:r>
              <a:rPr lang="en-US" sz="1275" b="1" dirty="0">
                <a:solidFill>
                  <a:srgbClr val="FFFFFF">
                    <a:alpha val="85000"/>
                  </a:srgbClr>
                </a:solidFill>
                <a:latin typeface="Arial" pitchFamily="34" charset="0"/>
                <a:ea typeface="Arial" pitchFamily="34" charset="-122"/>
                <a:cs typeface="Arial" pitchFamily="34" charset="-120"/>
              </a:rPr>
              <a:t>✓ 세션 시작·인증 확인</a:t>
            </a:r>
            <a:endParaRPr lang="en-US" sz="1275" dirty="0"/>
          </a:p>
        </p:txBody>
      </p:sp>
      <p:sp>
        <p:nvSpPr>
          <p:cNvPr id="14" name="Text 12"/>
          <p:cNvSpPr/>
          <p:nvPr/>
        </p:nvSpPr>
        <p:spPr>
          <a:xfrm>
            <a:off x="3612237" y="2236470"/>
            <a:ext cx="323850" cy="7479030"/>
          </a:xfrm>
          <a:prstGeom prst="rect">
            <a:avLst/>
          </a:prstGeom>
          <a:noFill/>
          <a:ln/>
        </p:spPr>
        <p:txBody>
          <a:bodyPr wrap="square" lIns="25400" tIns="25400" rIns="25400" bIns="25400" rtlCol="0" anchor="ctr">
            <a:normAutofit/>
          </a:bodyPr>
          <a:lstStyle/>
          <a:p>
            <a:pPr algn="l" indent="0" marL="0">
              <a:buNone/>
            </a:pPr>
            <a:r>
              <a:rPr lang="en-US" sz="1950" dirty="0">
                <a:solidFill>
                  <a:srgbClr val="FFFFFF">
                    <a:alpha val="40000"/>
                  </a:srgbClr>
                </a:solidFill>
                <a:latin typeface="Arial" pitchFamily="34" charset="0"/>
                <a:ea typeface="Arial" pitchFamily="34" charset="-122"/>
                <a:cs typeface="Arial" pitchFamily="34" charset="-120"/>
              </a:rPr>
              <a:t>→</a:t>
            </a:r>
            <a:endParaRPr lang="en-US" sz="1950" dirty="0"/>
          </a:p>
        </p:txBody>
      </p:sp>
      <p:sp>
        <p:nvSpPr>
          <p:cNvPr id="15" name="Shape 13"/>
          <p:cNvSpPr/>
          <p:nvPr/>
        </p:nvSpPr>
        <p:spPr>
          <a:xfrm>
            <a:off x="3993237" y="2236470"/>
            <a:ext cx="3277910" cy="7440930"/>
          </a:xfrm>
          <a:prstGeom prst="roundRect">
            <a:avLst>
              <a:gd name="adj" fmla="val 5230"/>
            </a:avLst>
          </a:prstGeom>
          <a:solidFill>
            <a:srgbClr val="FFFFFF">
              <a:alpha val="16000"/>
            </a:srgbClr>
          </a:solidFill>
          <a:ln w="7620">
            <a:solidFill>
              <a:srgbClr val="FFFFFF">
                <a:alpha val="26000"/>
              </a:srgbClr>
            </a:solidFill>
            <a:prstDash val="solid"/>
          </a:ln>
        </p:spPr>
      </p:sp>
      <p:sp>
        <p:nvSpPr>
          <p:cNvPr id="16" name="Shape 14"/>
          <p:cNvSpPr/>
          <p:nvPr/>
        </p:nvSpPr>
        <p:spPr>
          <a:xfrm>
            <a:off x="4229457" y="2510790"/>
            <a:ext cx="438150" cy="438150"/>
          </a:xfrm>
          <a:prstGeom prst="roundRect">
            <a:avLst>
              <a:gd name="adj" fmla="val 28261"/>
            </a:avLst>
          </a:prstGeom>
          <a:solidFill>
            <a:srgbClr val="FFFFFF">
              <a:alpha val="24000"/>
            </a:srgbClr>
          </a:solidFill>
          <a:ln/>
        </p:spPr>
      </p:sp>
      <p:sp>
        <p:nvSpPr>
          <p:cNvPr id="17" name="Text 15"/>
          <p:cNvSpPr/>
          <p:nvPr/>
        </p:nvSpPr>
        <p:spPr>
          <a:xfrm>
            <a:off x="4191357" y="2510790"/>
            <a:ext cx="514350" cy="476250"/>
          </a:xfrm>
          <a:prstGeom prst="rect">
            <a:avLst/>
          </a:prstGeom>
          <a:noFill/>
          <a:ln/>
        </p:spPr>
        <p:txBody>
          <a:bodyPr wrap="square" lIns="25400" tIns="25400" rIns="25400" bIns="25400" rtlCol="0" anchor="ctr">
            <a:normAutofit/>
          </a:bodyP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8" name="Text 16"/>
          <p:cNvSpPr/>
          <p:nvPr/>
        </p:nvSpPr>
        <p:spPr>
          <a:xfrm>
            <a:off x="4781907" y="2626995"/>
            <a:ext cx="670322" cy="243840"/>
          </a:xfrm>
          <a:prstGeom prst="rect">
            <a:avLst/>
          </a:prstGeom>
          <a:noFill/>
          <a:ln/>
        </p:spPr>
        <p:txBody>
          <a:bodyPr wrap="square" lIns="25400" tIns="25400" rIns="25400" bIns="25400" rtlCol="0" anchor="t">
            <a:normAutofit/>
          </a:bodyPr>
          <a:lstStyle/>
          <a:p>
            <a:pPr algn="l" indent="0" marL="0">
              <a:buNone/>
            </a:pPr>
            <a:r>
              <a:rPr lang="en-US" sz="1125" b="1" spc="45" kern="0" dirty="0">
                <a:solidFill>
                  <a:srgbClr val="FFFFFF">
                    <a:alpha val="78000"/>
                  </a:srgbClr>
                </a:solidFill>
                <a:latin typeface="Arial" pitchFamily="34" charset="0"/>
                <a:ea typeface="Arial" pitchFamily="34" charset="-122"/>
                <a:cs typeface="Arial" pitchFamily="34" charset="-120"/>
              </a:rPr>
              <a:t>학과 질의</a:t>
            </a:r>
            <a:endParaRPr lang="en-US" sz="1125" dirty="0"/>
          </a:p>
        </p:txBody>
      </p:sp>
      <p:sp>
        <p:nvSpPr>
          <p:cNvPr id="19" name="Text 17"/>
          <p:cNvSpPr/>
          <p:nvPr/>
        </p:nvSpPr>
        <p:spPr>
          <a:xfrm>
            <a:off x="4229457" y="3120390"/>
            <a:ext cx="2889634" cy="609600"/>
          </a:xfrm>
          <a:prstGeom prst="rect">
            <a:avLst/>
          </a:prstGeom>
          <a:noFill/>
          <a:ln/>
        </p:spPr>
        <p:txBody>
          <a:bodyPr wrap="square" lIns="25400" tIns="25400" rIns="25400" bIns="25400" rtlCol="0" anchor="t">
            <a:normAutofit/>
          </a:bodyPr>
          <a:lstStyle/>
          <a:p>
            <a:pPr algn="l" indent="0" marL="0">
              <a:lnSpc>
                <a:spcPct val="125000"/>
              </a:lnSpc>
              <a:buNone/>
            </a:pPr>
            <a:r>
              <a:rPr lang="en-US" sz="1800" b="1" dirty="0">
                <a:solidFill>
                  <a:srgbClr val="FFFFFF"/>
                </a:solidFill>
                <a:latin typeface="Arial" pitchFamily="34" charset="0"/>
                <a:ea typeface="Arial" pitchFamily="34" charset="-122"/>
                <a:cs typeface="Arial" pitchFamily="34" charset="-120"/>
              </a:rPr>
              <a:t>"물리학과 소개해줘"</a:t>
            </a:r>
            <a:endParaRPr lang="en-US" sz="1800" dirty="0"/>
          </a:p>
        </p:txBody>
      </p:sp>
      <p:sp>
        <p:nvSpPr>
          <p:cNvPr id="20" name="Shape 18"/>
          <p:cNvSpPr/>
          <p:nvPr/>
        </p:nvSpPr>
        <p:spPr>
          <a:xfrm>
            <a:off x="4229457" y="9027319"/>
            <a:ext cx="2805470" cy="9525"/>
          </a:xfrm>
          <a:prstGeom prst="rect">
            <a:avLst/>
          </a:prstGeom>
          <a:solidFill>
            <a:srgbClr val="FFFFFF">
              <a:alpha val="20000"/>
            </a:srgbClr>
          </a:solidFill>
          <a:ln/>
        </p:spPr>
      </p:sp>
      <p:sp>
        <p:nvSpPr>
          <p:cNvPr id="21" name="Text 19"/>
          <p:cNvSpPr/>
          <p:nvPr/>
        </p:nvSpPr>
        <p:spPr>
          <a:xfrm>
            <a:off x="4229457" y="9168289"/>
            <a:ext cx="2889634" cy="272891"/>
          </a:xfrm>
          <a:prstGeom prst="rect">
            <a:avLst/>
          </a:prstGeom>
          <a:noFill/>
          <a:ln/>
        </p:spPr>
        <p:txBody>
          <a:bodyPr wrap="square" lIns="25400" tIns="25400" rIns="25400" bIns="25400" rtlCol="0" anchor="t">
            <a:normAutofit/>
          </a:bodyPr>
          <a:lstStyle/>
          <a:p>
            <a:pPr algn="l" indent="0" marL="0">
              <a:lnSpc>
                <a:spcPct val="145000"/>
              </a:lnSpc>
              <a:buNone/>
            </a:pPr>
            <a:r>
              <a:rPr lang="en-US" sz="1275" b="1" dirty="0">
                <a:solidFill>
                  <a:srgbClr val="FFFFFF">
                    <a:alpha val="90000"/>
                  </a:srgbClr>
                </a:solidFill>
                <a:latin typeface="Arial" pitchFamily="34" charset="0"/>
                <a:ea typeface="Arial" pitchFamily="34" charset="-122"/>
                <a:cs typeface="Arial" pitchFamily="34" charset="-120"/>
              </a:rPr>
              <a:t>✓ 출처 카드 포함 답변</a:t>
            </a:r>
            <a:endParaRPr lang="en-US" sz="1275" dirty="0"/>
          </a:p>
        </p:txBody>
      </p:sp>
      <p:sp>
        <p:nvSpPr>
          <p:cNvPr id="22" name="Text 20"/>
          <p:cNvSpPr/>
          <p:nvPr/>
        </p:nvSpPr>
        <p:spPr>
          <a:xfrm>
            <a:off x="7404497" y="2236470"/>
            <a:ext cx="323850" cy="7479030"/>
          </a:xfrm>
          <a:prstGeom prst="rect">
            <a:avLst/>
          </a:prstGeom>
          <a:noFill/>
          <a:ln/>
        </p:spPr>
        <p:txBody>
          <a:bodyPr wrap="square" lIns="25400" tIns="25400" rIns="25400" bIns="25400" rtlCol="0" anchor="ctr">
            <a:normAutofit/>
          </a:bodyPr>
          <a:lstStyle/>
          <a:p>
            <a:pPr algn="l" indent="0" marL="0">
              <a:buNone/>
            </a:pPr>
            <a:r>
              <a:rPr lang="en-US" sz="1950" dirty="0">
                <a:solidFill>
                  <a:srgbClr val="FFFFFF">
                    <a:alpha val="40000"/>
                  </a:srgbClr>
                </a:solidFill>
                <a:latin typeface="Arial" pitchFamily="34" charset="0"/>
                <a:ea typeface="Arial" pitchFamily="34" charset="-122"/>
                <a:cs typeface="Arial" pitchFamily="34" charset="-120"/>
              </a:rPr>
              <a:t>→</a:t>
            </a:r>
            <a:endParaRPr lang="en-US" sz="1950" dirty="0"/>
          </a:p>
        </p:txBody>
      </p:sp>
      <p:sp>
        <p:nvSpPr>
          <p:cNvPr id="23" name="Shape 21"/>
          <p:cNvSpPr/>
          <p:nvPr/>
        </p:nvSpPr>
        <p:spPr>
          <a:xfrm>
            <a:off x="7785497" y="2236470"/>
            <a:ext cx="3278029" cy="7440930"/>
          </a:xfrm>
          <a:prstGeom prst="roundRect">
            <a:avLst>
              <a:gd name="adj" fmla="val 5230"/>
            </a:avLst>
          </a:prstGeom>
          <a:solidFill>
            <a:srgbClr val="FFFFFF">
              <a:alpha val="10000"/>
            </a:srgbClr>
          </a:solidFill>
          <a:ln w="7620">
            <a:solidFill>
              <a:srgbClr val="FFFFFF">
                <a:alpha val="18000"/>
              </a:srgbClr>
            </a:solidFill>
            <a:prstDash val="solid"/>
          </a:ln>
        </p:spPr>
      </p:sp>
      <p:sp>
        <p:nvSpPr>
          <p:cNvPr id="24" name="Shape 22"/>
          <p:cNvSpPr/>
          <p:nvPr/>
        </p:nvSpPr>
        <p:spPr>
          <a:xfrm>
            <a:off x="8021717" y="2510790"/>
            <a:ext cx="438150" cy="438150"/>
          </a:xfrm>
          <a:prstGeom prst="roundRect">
            <a:avLst>
              <a:gd name="adj" fmla="val 28261"/>
            </a:avLst>
          </a:prstGeom>
          <a:solidFill>
            <a:srgbClr val="FFFFFF">
              <a:alpha val="20000"/>
            </a:srgbClr>
          </a:solidFill>
          <a:ln/>
        </p:spPr>
      </p:sp>
      <p:sp>
        <p:nvSpPr>
          <p:cNvPr id="25" name="Text 23"/>
          <p:cNvSpPr/>
          <p:nvPr/>
        </p:nvSpPr>
        <p:spPr>
          <a:xfrm>
            <a:off x="7983617" y="2510790"/>
            <a:ext cx="514350" cy="476250"/>
          </a:xfrm>
          <a:prstGeom prst="rect">
            <a:avLst/>
          </a:prstGeom>
          <a:noFill/>
          <a:ln/>
        </p:spPr>
        <p:txBody>
          <a:bodyPr wrap="square" lIns="25400" tIns="25400" rIns="25400" bIns="25400" rtlCol="0" anchor="ctr">
            <a:normAutofit/>
          </a:bodyP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26" name="Text 24"/>
          <p:cNvSpPr/>
          <p:nvPr/>
        </p:nvSpPr>
        <p:spPr>
          <a:xfrm>
            <a:off x="8574167" y="2626995"/>
            <a:ext cx="807482" cy="243840"/>
          </a:xfrm>
          <a:prstGeom prst="rect">
            <a:avLst/>
          </a:prstGeom>
          <a:noFill/>
          <a:ln/>
        </p:spPr>
        <p:txBody>
          <a:bodyPr wrap="square" lIns="25400" tIns="25400" rIns="25400" bIns="25400" rtlCol="0" anchor="t">
            <a:normAutofit/>
          </a:bodyPr>
          <a:lstStyle/>
          <a:p>
            <a:pPr algn="l" indent="0" marL="0">
              <a:buNone/>
            </a:pPr>
            <a:r>
              <a:rPr lang="en-US" sz="1125" b="1" spc="45" kern="0" dirty="0">
                <a:solidFill>
                  <a:srgbClr val="FFFFFF">
                    <a:alpha val="70000"/>
                  </a:srgbClr>
                </a:solidFill>
                <a:latin typeface="Arial" pitchFamily="34" charset="0"/>
                <a:ea typeface="Arial" pitchFamily="34" charset="-122"/>
                <a:cs typeface="Arial" pitchFamily="34" charset="-120"/>
              </a:rPr>
              <a:t>단과대 질의</a:t>
            </a:r>
            <a:endParaRPr lang="en-US" sz="1125" dirty="0"/>
          </a:p>
        </p:txBody>
      </p:sp>
      <p:sp>
        <p:nvSpPr>
          <p:cNvPr id="27" name="Text 25"/>
          <p:cNvSpPr/>
          <p:nvPr/>
        </p:nvSpPr>
        <p:spPr>
          <a:xfrm>
            <a:off x="8021717" y="3120390"/>
            <a:ext cx="2889757" cy="609600"/>
          </a:xfrm>
          <a:prstGeom prst="rect">
            <a:avLst/>
          </a:prstGeom>
          <a:noFill/>
          <a:ln/>
        </p:spPr>
        <p:txBody>
          <a:bodyPr wrap="square" lIns="25400" tIns="25400" rIns="25400" bIns="25400" rtlCol="0" anchor="t">
            <a:normAutofit/>
          </a:bodyPr>
          <a:lstStyle/>
          <a:p>
            <a:pPr algn="l" indent="0" marL="0">
              <a:lnSpc>
                <a:spcPct val="125000"/>
              </a:lnSpc>
              <a:buNone/>
            </a:pPr>
            <a:r>
              <a:rPr lang="en-US" sz="1800" b="1" dirty="0">
                <a:solidFill>
                  <a:srgbClr val="FFFFFF"/>
                </a:solidFill>
                <a:latin typeface="Arial" pitchFamily="34" charset="0"/>
                <a:ea typeface="Arial" pitchFamily="34" charset="-122"/>
                <a:cs typeface="Arial" pitchFamily="34" charset="-120"/>
              </a:rPr>
              <a:t>"생명과학기술 대학은?"</a:t>
            </a:r>
            <a:endParaRPr lang="en-US" sz="1800" dirty="0"/>
          </a:p>
        </p:txBody>
      </p:sp>
      <p:sp>
        <p:nvSpPr>
          <p:cNvPr id="28" name="Shape 26"/>
          <p:cNvSpPr/>
          <p:nvPr/>
        </p:nvSpPr>
        <p:spPr>
          <a:xfrm>
            <a:off x="8021717" y="9027319"/>
            <a:ext cx="2805589" cy="9525"/>
          </a:xfrm>
          <a:prstGeom prst="rect">
            <a:avLst/>
          </a:prstGeom>
          <a:solidFill>
            <a:srgbClr val="FFFFFF">
              <a:alpha val="16000"/>
            </a:srgbClr>
          </a:solidFill>
          <a:ln/>
        </p:spPr>
      </p:sp>
      <p:sp>
        <p:nvSpPr>
          <p:cNvPr id="29" name="Text 27"/>
          <p:cNvSpPr/>
          <p:nvPr/>
        </p:nvSpPr>
        <p:spPr>
          <a:xfrm>
            <a:off x="8021717" y="9168289"/>
            <a:ext cx="2889757" cy="272891"/>
          </a:xfrm>
          <a:prstGeom prst="rect">
            <a:avLst/>
          </a:prstGeom>
          <a:noFill/>
          <a:ln/>
        </p:spPr>
        <p:txBody>
          <a:bodyPr wrap="square" lIns="25400" tIns="25400" rIns="25400" bIns="25400" rtlCol="0" anchor="t">
            <a:normAutofit/>
          </a:bodyPr>
          <a:lstStyle/>
          <a:p>
            <a:pPr algn="l" indent="0" marL="0">
              <a:lnSpc>
                <a:spcPct val="145000"/>
              </a:lnSpc>
              <a:buNone/>
            </a:pPr>
            <a:r>
              <a:rPr lang="en-US" sz="1275" b="1" dirty="0">
                <a:solidFill>
                  <a:srgbClr val="FFFFFF">
                    <a:alpha val="85000"/>
                  </a:srgbClr>
                </a:solidFill>
                <a:latin typeface="Arial" pitchFamily="34" charset="0"/>
                <a:ea typeface="Arial" pitchFamily="34" charset="-122"/>
                <a:cs typeface="Arial" pitchFamily="34" charset="-120"/>
              </a:rPr>
              <a:t>✓ 단과대 단위 라우팅</a:t>
            </a:r>
            <a:endParaRPr lang="en-US" sz="1275" dirty="0"/>
          </a:p>
        </p:txBody>
      </p:sp>
      <p:sp>
        <p:nvSpPr>
          <p:cNvPr id="30" name="Text 28"/>
          <p:cNvSpPr/>
          <p:nvPr/>
        </p:nvSpPr>
        <p:spPr>
          <a:xfrm>
            <a:off x="11196876" y="2236470"/>
            <a:ext cx="323850" cy="7479030"/>
          </a:xfrm>
          <a:prstGeom prst="rect">
            <a:avLst/>
          </a:prstGeom>
          <a:noFill/>
          <a:ln/>
        </p:spPr>
        <p:txBody>
          <a:bodyPr wrap="square" lIns="25400" tIns="25400" rIns="25400" bIns="25400" rtlCol="0" anchor="ctr">
            <a:normAutofit/>
          </a:bodyPr>
          <a:lstStyle/>
          <a:p>
            <a:pPr algn="l" indent="0" marL="0">
              <a:buNone/>
            </a:pPr>
            <a:r>
              <a:rPr lang="en-US" sz="1950" dirty="0">
                <a:solidFill>
                  <a:srgbClr val="FFFFFF">
                    <a:alpha val="40000"/>
                  </a:srgbClr>
                </a:solidFill>
                <a:latin typeface="Arial" pitchFamily="34" charset="0"/>
                <a:ea typeface="Arial" pitchFamily="34" charset="-122"/>
                <a:cs typeface="Arial" pitchFamily="34" charset="-120"/>
              </a:rPr>
              <a:t>→</a:t>
            </a:r>
            <a:endParaRPr lang="en-US" sz="1950" dirty="0"/>
          </a:p>
        </p:txBody>
      </p:sp>
      <p:sp>
        <p:nvSpPr>
          <p:cNvPr id="31" name="Shape 29"/>
          <p:cNvSpPr/>
          <p:nvPr/>
        </p:nvSpPr>
        <p:spPr>
          <a:xfrm>
            <a:off x="11577876" y="2236470"/>
            <a:ext cx="2716887" cy="7440930"/>
          </a:xfrm>
          <a:prstGeom prst="roundRect">
            <a:avLst>
              <a:gd name="adj" fmla="val 6311"/>
            </a:avLst>
          </a:prstGeom>
          <a:solidFill>
            <a:srgbClr val="FFFFFF">
              <a:alpha val="10000"/>
            </a:srgbClr>
          </a:solidFill>
          <a:ln w="7620">
            <a:solidFill>
              <a:srgbClr val="FFFFFF">
                <a:alpha val="18000"/>
              </a:srgbClr>
            </a:solidFill>
            <a:prstDash val="solid"/>
          </a:ln>
        </p:spPr>
      </p:sp>
      <p:sp>
        <p:nvSpPr>
          <p:cNvPr id="32" name="Shape 30"/>
          <p:cNvSpPr/>
          <p:nvPr/>
        </p:nvSpPr>
        <p:spPr>
          <a:xfrm>
            <a:off x="11814096" y="2510790"/>
            <a:ext cx="438150" cy="438150"/>
          </a:xfrm>
          <a:prstGeom prst="roundRect">
            <a:avLst>
              <a:gd name="adj" fmla="val 28261"/>
            </a:avLst>
          </a:prstGeom>
          <a:solidFill>
            <a:srgbClr val="FFFFFF">
              <a:alpha val="20000"/>
            </a:srgbClr>
          </a:solidFill>
          <a:ln/>
        </p:spPr>
      </p:sp>
      <p:sp>
        <p:nvSpPr>
          <p:cNvPr id="33" name="Text 31"/>
          <p:cNvSpPr/>
          <p:nvPr/>
        </p:nvSpPr>
        <p:spPr>
          <a:xfrm>
            <a:off x="11775996" y="2510790"/>
            <a:ext cx="514350" cy="476250"/>
          </a:xfrm>
          <a:prstGeom prst="rect">
            <a:avLst/>
          </a:prstGeom>
          <a:noFill/>
          <a:ln/>
        </p:spPr>
        <p:txBody>
          <a:bodyPr wrap="square" lIns="25400" tIns="25400" rIns="25400" bIns="25400" rtlCol="0" anchor="ctr">
            <a:normAutofit/>
          </a:bodyP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34" name="Text 32"/>
          <p:cNvSpPr/>
          <p:nvPr/>
        </p:nvSpPr>
        <p:spPr>
          <a:xfrm>
            <a:off x="12366546" y="2626995"/>
            <a:ext cx="624840" cy="243840"/>
          </a:xfrm>
          <a:prstGeom prst="rect">
            <a:avLst/>
          </a:prstGeom>
          <a:noFill/>
          <a:ln/>
        </p:spPr>
        <p:txBody>
          <a:bodyPr wrap="square" lIns="25400" tIns="25400" rIns="25400" bIns="25400" rtlCol="0" anchor="t">
            <a:normAutofit/>
          </a:bodyPr>
          <a:lstStyle/>
          <a:p>
            <a:pPr algn="l" indent="0" marL="0">
              <a:buNone/>
            </a:pPr>
            <a:r>
              <a:rPr lang="en-US" sz="1125" b="1" spc="45" kern="0" dirty="0">
                <a:solidFill>
                  <a:srgbClr val="FFFFFF">
                    <a:alpha val="70000"/>
                  </a:srgbClr>
                </a:solidFill>
                <a:latin typeface="Arial" pitchFamily="34" charset="0"/>
                <a:ea typeface="Arial" pitchFamily="34" charset="-122"/>
                <a:cs typeface="Arial" pitchFamily="34" charset="-120"/>
              </a:rPr>
              <a:t>커뮤니티</a:t>
            </a:r>
            <a:endParaRPr lang="en-US" sz="1125" dirty="0"/>
          </a:p>
        </p:txBody>
      </p:sp>
      <p:sp>
        <p:nvSpPr>
          <p:cNvPr id="35" name="Text 33"/>
          <p:cNvSpPr/>
          <p:nvPr/>
        </p:nvSpPr>
        <p:spPr>
          <a:xfrm>
            <a:off x="11814096" y="3120390"/>
            <a:ext cx="2320647" cy="633412"/>
          </a:xfrm>
          <a:prstGeom prst="rect">
            <a:avLst/>
          </a:prstGeom>
          <a:noFill/>
          <a:ln/>
        </p:spPr>
        <p:txBody>
          <a:bodyPr wrap="square" lIns="25400" tIns="25400" rIns="25400" bIns="25400" rtlCol="0" anchor="t">
            <a:normAutofit/>
          </a:bodyPr>
          <a:lstStyle/>
          <a:p>
            <a:pPr algn="l" indent="0" marL="0">
              <a:lnSpc>
                <a:spcPct val="125000"/>
              </a:lnSpc>
              <a:buNone/>
            </a:pPr>
            <a:r>
              <a:rPr lang="en-US" sz="1875" b="1" dirty="0">
                <a:solidFill>
                  <a:srgbClr val="FFFFFF"/>
                </a:solidFill>
                <a:latin typeface="Arial" pitchFamily="34" charset="0"/>
                <a:ea typeface="Arial" pitchFamily="34" charset="-122"/>
                <a:cs typeface="Arial" pitchFamily="34" charset="-120"/>
              </a:rPr>
              <a:t>게시판 글 작성</a:t>
            </a:r>
            <a:endParaRPr lang="en-US" sz="1875" dirty="0"/>
          </a:p>
        </p:txBody>
      </p:sp>
      <p:sp>
        <p:nvSpPr>
          <p:cNvPr id="36" name="Shape 34"/>
          <p:cNvSpPr/>
          <p:nvPr/>
        </p:nvSpPr>
        <p:spPr>
          <a:xfrm>
            <a:off x="11814096" y="9027319"/>
            <a:ext cx="2244447" cy="9525"/>
          </a:xfrm>
          <a:prstGeom prst="rect">
            <a:avLst/>
          </a:prstGeom>
          <a:solidFill>
            <a:srgbClr val="FFFFFF">
              <a:alpha val="16000"/>
            </a:srgbClr>
          </a:solidFill>
          <a:ln/>
        </p:spPr>
      </p:sp>
      <p:sp>
        <p:nvSpPr>
          <p:cNvPr id="37" name="Text 35"/>
          <p:cNvSpPr/>
          <p:nvPr/>
        </p:nvSpPr>
        <p:spPr>
          <a:xfrm>
            <a:off x="11814096" y="9168289"/>
            <a:ext cx="2320647" cy="272891"/>
          </a:xfrm>
          <a:prstGeom prst="rect">
            <a:avLst/>
          </a:prstGeom>
          <a:noFill/>
          <a:ln/>
        </p:spPr>
        <p:txBody>
          <a:bodyPr wrap="square" lIns="25400" tIns="25400" rIns="25400" bIns="25400" rtlCol="0" anchor="t">
            <a:normAutofit/>
          </a:bodyPr>
          <a:lstStyle/>
          <a:p>
            <a:pPr algn="l" indent="0" marL="0">
              <a:lnSpc>
                <a:spcPct val="145000"/>
              </a:lnSpc>
              <a:buNone/>
            </a:pPr>
            <a:r>
              <a:rPr lang="en-US" sz="1275" b="1" dirty="0">
                <a:solidFill>
                  <a:srgbClr val="FFFFFF">
                    <a:alpha val="85000"/>
                  </a:srgbClr>
                </a:solidFill>
                <a:latin typeface="Arial" pitchFamily="34" charset="0"/>
                <a:ea typeface="Arial" pitchFamily="34" charset="-122"/>
                <a:cs typeface="Arial" pitchFamily="34" charset="-120"/>
              </a:rPr>
              <a:t>✓ CRUD·문의 동작</a:t>
            </a:r>
            <a:endParaRPr lang="en-US" sz="1275" dirty="0"/>
          </a:p>
        </p:txBody>
      </p:sp>
      <p:sp>
        <p:nvSpPr>
          <p:cNvPr id="38" name="Text 36"/>
          <p:cNvSpPr/>
          <p:nvPr/>
        </p:nvSpPr>
        <p:spPr>
          <a:xfrm>
            <a:off x="14428114" y="2236470"/>
            <a:ext cx="323850" cy="7479030"/>
          </a:xfrm>
          <a:prstGeom prst="rect">
            <a:avLst/>
          </a:prstGeom>
          <a:noFill/>
          <a:ln/>
        </p:spPr>
        <p:txBody>
          <a:bodyPr wrap="square" lIns="25400" tIns="25400" rIns="25400" bIns="25400" rtlCol="0" anchor="ctr">
            <a:normAutofit/>
          </a:bodyPr>
          <a:lstStyle/>
          <a:p>
            <a:pPr algn="l" indent="0" marL="0">
              <a:buNone/>
            </a:pPr>
            <a:r>
              <a:rPr lang="en-US" sz="1950" dirty="0">
                <a:solidFill>
                  <a:srgbClr val="FFFFFF">
                    <a:alpha val="40000"/>
                  </a:srgbClr>
                </a:solidFill>
                <a:latin typeface="Arial" pitchFamily="34" charset="0"/>
                <a:ea typeface="Arial" pitchFamily="34" charset="-122"/>
                <a:cs typeface="Arial" pitchFamily="34" charset="-120"/>
              </a:rPr>
              <a:t>→</a:t>
            </a:r>
            <a:endParaRPr lang="en-US" sz="1950" dirty="0"/>
          </a:p>
        </p:txBody>
      </p:sp>
      <p:sp>
        <p:nvSpPr>
          <p:cNvPr id="39" name="Shape 37"/>
          <p:cNvSpPr/>
          <p:nvPr/>
        </p:nvSpPr>
        <p:spPr>
          <a:xfrm>
            <a:off x="14809114" y="2236470"/>
            <a:ext cx="2716887" cy="7440930"/>
          </a:xfrm>
          <a:prstGeom prst="roundRect">
            <a:avLst>
              <a:gd name="adj" fmla="val 6311"/>
            </a:avLst>
          </a:prstGeom>
          <a:solidFill>
            <a:srgbClr val="FFFFFF">
              <a:alpha val="10000"/>
            </a:srgbClr>
          </a:solidFill>
          <a:ln w="7620">
            <a:solidFill>
              <a:srgbClr val="FFFFFF">
                <a:alpha val="18000"/>
              </a:srgbClr>
            </a:solidFill>
            <a:prstDash val="solid"/>
          </a:ln>
        </p:spPr>
      </p:sp>
      <p:sp>
        <p:nvSpPr>
          <p:cNvPr id="40" name="Shape 38"/>
          <p:cNvSpPr/>
          <p:nvPr/>
        </p:nvSpPr>
        <p:spPr>
          <a:xfrm>
            <a:off x="15045333" y="2510790"/>
            <a:ext cx="438150" cy="438150"/>
          </a:xfrm>
          <a:prstGeom prst="roundRect">
            <a:avLst>
              <a:gd name="adj" fmla="val 28261"/>
            </a:avLst>
          </a:prstGeom>
          <a:solidFill>
            <a:srgbClr val="FFFFFF">
              <a:alpha val="20000"/>
            </a:srgbClr>
          </a:solidFill>
          <a:ln/>
        </p:spPr>
      </p:sp>
      <p:sp>
        <p:nvSpPr>
          <p:cNvPr id="41" name="Text 39"/>
          <p:cNvSpPr/>
          <p:nvPr/>
        </p:nvSpPr>
        <p:spPr>
          <a:xfrm>
            <a:off x="15007233" y="2510790"/>
            <a:ext cx="514350" cy="476250"/>
          </a:xfrm>
          <a:prstGeom prst="rect">
            <a:avLst/>
          </a:prstGeom>
          <a:noFill/>
          <a:ln/>
        </p:spPr>
        <p:txBody>
          <a:bodyPr wrap="square" lIns="25400" tIns="25400" rIns="25400" bIns="25400" rtlCol="0" anchor="ctr">
            <a:normAutofit/>
          </a:bodyPr>
          <a:lstStyle/>
          <a:p>
            <a:pPr algn="ctr" indent="0" marL="0">
              <a:buNone/>
            </a:pPr>
            <a:r>
              <a:rPr lang="en-US" sz="1500" b="1" dirty="0">
                <a:solidFill>
                  <a:srgbClr val="FFFFFF"/>
                </a:solidFill>
                <a:latin typeface="Arial" pitchFamily="34" charset="0"/>
                <a:ea typeface="Arial" pitchFamily="34" charset="-122"/>
                <a:cs typeface="Arial" pitchFamily="34" charset="-120"/>
              </a:rPr>
              <a:t>5</a:t>
            </a:r>
            <a:endParaRPr lang="en-US" sz="1500" dirty="0"/>
          </a:p>
        </p:txBody>
      </p:sp>
      <p:sp>
        <p:nvSpPr>
          <p:cNvPr id="42" name="Text 40"/>
          <p:cNvSpPr/>
          <p:nvPr/>
        </p:nvSpPr>
        <p:spPr>
          <a:xfrm>
            <a:off x="15597783" y="2626995"/>
            <a:ext cx="487680" cy="243840"/>
          </a:xfrm>
          <a:prstGeom prst="rect">
            <a:avLst/>
          </a:prstGeom>
          <a:noFill/>
          <a:ln/>
        </p:spPr>
        <p:txBody>
          <a:bodyPr wrap="square" lIns="25400" tIns="25400" rIns="25400" bIns="25400" rtlCol="0" anchor="t">
            <a:normAutofit/>
          </a:bodyPr>
          <a:lstStyle/>
          <a:p>
            <a:pPr algn="l" indent="0" marL="0">
              <a:buNone/>
            </a:pPr>
            <a:r>
              <a:rPr lang="en-US" sz="1125" b="1" spc="45" kern="0" dirty="0">
                <a:solidFill>
                  <a:srgbClr val="FFFFFF">
                    <a:alpha val="70000"/>
                  </a:srgbClr>
                </a:solidFill>
                <a:latin typeface="Arial" pitchFamily="34" charset="0"/>
                <a:ea typeface="Arial" pitchFamily="34" charset="-122"/>
                <a:cs typeface="Arial" pitchFamily="34" charset="-120"/>
              </a:rPr>
              <a:t>관리자</a:t>
            </a:r>
            <a:endParaRPr lang="en-US" sz="1125" dirty="0"/>
          </a:p>
        </p:txBody>
      </p:sp>
      <p:sp>
        <p:nvSpPr>
          <p:cNvPr id="43" name="Text 41"/>
          <p:cNvSpPr/>
          <p:nvPr/>
        </p:nvSpPr>
        <p:spPr>
          <a:xfrm>
            <a:off x="15045333" y="3120390"/>
            <a:ext cx="2320647" cy="633412"/>
          </a:xfrm>
          <a:prstGeom prst="rect">
            <a:avLst/>
          </a:prstGeom>
          <a:noFill/>
          <a:ln/>
        </p:spPr>
        <p:txBody>
          <a:bodyPr wrap="square" lIns="25400" tIns="25400" rIns="25400" bIns="25400" rtlCol="0" anchor="t">
            <a:normAutofit/>
          </a:bodyPr>
          <a:lstStyle/>
          <a:p>
            <a:pPr algn="l" indent="0" marL="0">
              <a:lnSpc>
                <a:spcPct val="125000"/>
              </a:lnSpc>
              <a:buNone/>
            </a:pPr>
            <a:r>
              <a:rPr lang="en-US" sz="1875" b="1" dirty="0">
                <a:solidFill>
                  <a:srgbClr val="FFFFFF"/>
                </a:solidFill>
                <a:latin typeface="Arial" pitchFamily="34" charset="0"/>
                <a:ea typeface="Arial" pitchFamily="34" charset="-122"/>
                <a:cs typeface="Arial" pitchFamily="34" charset="-120"/>
              </a:rPr>
              <a:t>관리자 통계</a:t>
            </a:r>
            <a:endParaRPr lang="en-US" sz="1875" dirty="0"/>
          </a:p>
        </p:txBody>
      </p:sp>
      <p:sp>
        <p:nvSpPr>
          <p:cNvPr id="44" name="Shape 42"/>
          <p:cNvSpPr/>
          <p:nvPr/>
        </p:nvSpPr>
        <p:spPr>
          <a:xfrm>
            <a:off x="15045333" y="9027319"/>
            <a:ext cx="2244447" cy="9525"/>
          </a:xfrm>
          <a:prstGeom prst="rect">
            <a:avLst/>
          </a:prstGeom>
          <a:solidFill>
            <a:srgbClr val="FFFFFF">
              <a:alpha val="16000"/>
            </a:srgbClr>
          </a:solidFill>
          <a:ln/>
        </p:spPr>
      </p:sp>
      <p:sp>
        <p:nvSpPr>
          <p:cNvPr id="45" name="Text 43"/>
          <p:cNvSpPr/>
          <p:nvPr/>
        </p:nvSpPr>
        <p:spPr>
          <a:xfrm>
            <a:off x="15045333" y="9168289"/>
            <a:ext cx="2320647" cy="272891"/>
          </a:xfrm>
          <a:prstGeom prst="rect">
            <a:avLst/>
          </a:prstGeom>
          <a:noFill/>
          <a:ln/>
        </p:spPr>
        <p:txBody>
          <a:bodyPr wrap="square" lIns="25400" tIns="25400" rIns="25400" bIns="25400" rtlCol="0" anchor="t">
            <a:normAutofit/>
          </a:bodyPr>
          <a:lstStyle/>
          <a:p>
            <a:pPr algn="l" indent="0" marL="0">
              <a:lnSpc>
                <a:spcPct val="145000"/>
              </a:lnSpc>
              <a:buNone/>
            </a:pPr>
            <a:r>
              <a:rPr lang="en-US" sz="1275" b="1" dirty="0">
                <a:solidFill>
                  <a:srgbClr val="FFFFFF">
                    <a:alpha val="85000"/>
                  </a:srgbClr>
                </a:solidFill>
                <a:latin typeface="Arial" pitchFamily="34" charset="0"/>
                <a:ea typeface="Arial" pitchFamily="34" charset="-122"/>
                <a:cs typeface="Arial" pitchFamily="34" charset="-120"/>
              </a:rPr>
              <a:t>✓ 수집 현황 집계</a:t>
            </a:r>
            <a:endParaRPr lang="en-US" sz="1275"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8FC"/>
        </a:solidFill>
      </p:bgPr>
    </p:bg>
    <p:spTree>
      <p:nvGrpSpPr>
        <p:cNvPr id="1" name=""/>
        <p:cNvGrpSpPr/>
        <p:nvPr/>
      </p:nvGrpSpPr>
      <p:grpSpPr>
        <a:xfrm>
          <a:off x="0" y="0"/>
          <a:ext cx="0" cy="0"/>
          <a:chOff x="0" y="0"/>
          <a:chExt cx="0" cy="0"/>
        </a:xfrm>
      </p:grpSpPr>
      <p:sp>
        <p:nvSpPr>
          <p:cNvPr id="2" name="Shape 0"/>
          <p:cNvSpPr/>
          <p:nvPr/>
        </p:nvSpPr>
        <p:spPr>
          <a:xfrm>
            <a:off x="15690533" y="361950"/>
            <a:ext cx="1835467" cy="358140"/>
          </a:xfrm>
          <a:prstGeom prst="roundRect">
            <a:avLst>
              <a:gd name="adj" fmla="val 50000"/>
            </a:avLst>
          </a:prstGeom>
          <a:solidFill>
            <a:srgbClr val="FDF0DD"/>
          </a:solidFill>
          <a:ln/>
        </p:spPr>
      </p:sp>
      <p:sp>
        <p:nvSpPr>
          <p:cNvPr id="3" name="Text 1"/>
          <p:cNvSpPr/>
          <p:nvPr/>
        </p:nvSpPr>
        <p:spPr>
          <a:xfrm>
            <a:off x="15861983" y="438150"/>
            <a:ext cx="1568767" cy="243840"/>
          </a:xfrm>
          <a:prstGeom prst="rect">
            <a:avLst/>
          </a:prstGeom>
          <a:noFill/>
          <a:ln/>
        </p:spPr>
        <p:txBody>
          <a:bodyPr wrap="square" lIns="25400" tIns="25400" rIns="25400" bIns="25400" rtlCol="0" anchor="t">
            <a:normAutofit/>
          </a:bodyPr>
          <a:lstStyle/>
          <a:p>
            <a:pPr algn="l" indent="0" marL="0">
              <a:buNone/>
            </a:pPr>
            <a:r>
              <a:rPr lang="en-US" sz="1125" b="1" dirty="0">
                <a:solidFill>
                  <a:srgbClr val="C77E1E"/>
                </a:solidFill>
                <a:latin typeface="Arial" pitchFamily="34" charset="0"/>
                <a:ea typeface="Arial" pitchFamily="34" charset="-122"/>
                <a:cs typeface="Arial" pitchFamily="34" charset="-120"/>
              </a:rPr>
              <a:t>평가 ⑤ 테스트 계획·결과</a:t>
            </a:r>
            <a:endParaRPr lang="en-US" sz="1125" dirty="0"/>
          </a:p>
        </p:txBody>
      </p:sp>
      <p:sp>
        <p:nvSpPr>
          <p:cNvPr id="4" name="Text 2"/>
          <p:cNvSpPr/>
          <p:nvPr/>
        </p:nvSpPr>
        <p:spPr>
          <a:xfrm>
            <a:off x="762000" y="609600"/>
            <a:ext cx="18440400" cy="259080"/>
          </a:xfrm>
          <a:prstGeom prst="rect">
            <a:avLst/>
          </a:prstGeom>
          <a:noFill/>
          <a:ln/>
        </p:spPr>
        <p:txBody>
          <a:bodyPr wrap="square" lIns="25400" tIns="25400" rIns="25400" bIns="25400" rtlCol="0" anchor="t">
            <a:normAutofit/>
          </a:bodyPr>
          <a:lstStyle/>
          <a:p>
            <a:pPr algn="l" indent="0" marL="0">
              <a:buNone/>
            </a:pPr>
            <a:r>
              <a:rPr lang="en-US" sz="1200" b="1" spc="48" kern="0" dirty="0">
                <a:solidFill>
                  <a:srgbClr val="2E8BE0"/>
                </a:solidFill>
                <a:latin typeface="Arial" pitchFamily="34" charset="0"/>
                <a:ea typeface="Arial" pitchFamily="34" charset="-122"/>
                <a:cs typeface="Arial" pitchFamily="34" charset="-120"/>
              </a:rPr>
              <a:t>16 · 테스트 계획 및 결과</a:t>
            </a:r>
            <a:endParaRPr lang="en-US" sz="1200" dirty="0"/>
          </a:p>
        </p:txBody>
      </p:sp>
      <p:sp>
        <p:nvSpPr>
          <p:cNvPr id="5" name="Text 3"/>
          <p:cNvSpPr/>
          <p:nvPr/>
        </p:nvSpPr>
        <p:spPr>
          <a:xfrm>
            <a:off x="762000" y="963930"/>
            <a:ext cx="18440400" cy="731520"/>
          </a:xfrm>
          <a:prstGeom prst="rect">
            <a:avLst/>
          </a:prstGeom>
          <a:noFill/>
          <a:ln/>
        </p:spPr>
        <p:txBody>
          <a:bodyPr wrap="square" lIns="25400" tIns="25400" rIns="25400" bIns="25400" rtlCol="0" anchor="t">
            <a:normAutofit/>
          </a:bodyPr>
          <a:lstStyle/>
          <a:p>
            <a:pPr algn="l" indent="0" marL="0">
              <a:buNone/>
            </a:pPr>
            <a:r>
              <a:rPr lang="en-US" sz="3750" b="1" spc="-112" kern="0" dirty="0">
                <a:solidFill>
                  <a:srgbClr val="143257"/>
                </a:solidFill>
                <a:latin typeface="Arial" pitchFamily="34" charset="0"/>
                <a:ea typeface="Arial" pitchFamily="34" charset="-122"/>
                <a:cs typeface="Arial" pitchFamily="34" charset="-120"/>
              </a:rPr>
              <a:t>전 구간을 점검했고, 모두 통과했습니다</a:t>
            </a:r>
            <a:endParaRPr lang="en-US" sz="3750" dirty="0"/>
          </a:p>
        </p:txBody>
      </p:sp>
      <p:sp>
        <p:nvSpPr>
          <p:cNvPr id="6" name="Shape 4"/>
          <p:cNvSpPr/>
          <p:nvPr/>
        </p:nvSpPr>
        <p:spPr>
          <a:xfrm>
            <a:off x="762000" y="1962150"/>
            <a:ext cx="16764000" cy="7216140"/>
          </a:xfrm>
          <a:prstGeom prst="roundRect">
            <a:avLst>
              <a:gd name="adj" fmla="val 2904"/>
            </a:avLst>
          </a:prstGeom>
          <a:solidFill>
            <a:srgbClr val="FFFFFF"/>
          </a:solidFill>
          <a:ln w="7620">
            <a:solidFill>
              <a:srgbClr val="E6EEF7"/>
            </a:solidFill>
            <a:prstDash val="solid"/>
          </a:ln>
          <a:effectLst>
            <a:outerShdw sx="100000" sy="100000" kx="0" ky="0" algn="bl" rotWithShape="0" blurRad="342900" dist="133350" dir="5400000">
              <a:srgbClr val="2E8BE0">
                <a:alpha val="10000"/>
              </a:srgbClr>
            </a:outerShdw>
          </a:effectLst>
        </p:spPr>
      </p:sp>
      <p:sp>
        <p:nvSpPr>
          <p:cNvPr id="7" name="Shape 5"/>
          <p:cNvSpPr/>
          <p:nvPr/>
        </p:nvSpPr>
        <p:spPr>
          <a:xfrm>
            <a:off x="769620" y="1969770"/>
            <a:ext cx="16748760" cy="647700"/>
          </a:xfrm>
          <a:prstGeom prst="rect">
            <a:avLst/>
          </a:prstGeom>
          <a:solidFill>
            <a:srgbClr val="143257"/>
          </a:solidFill>
          <a:ln/>
        </p:spPr>
      </p:sp>
      <p:sp>
        <p:nvSpPr>
          <p:cNvPr id="8" name="Text 6"/>
          <p:cNvSpPr/>
          <p:nvPr/>
        </p:nvSpPr>
        <p:spPr>
          <a:xfrm>
            <a:off x="1074420" y="2160270"/>
            <a:ext cx="4860261" cy="304800"/>
          </a:xfrm>
          <a:prstGeom prst="rect">
            <a:avLst/>
          </a:prstGeom>
          <a:noFill/>
          <a:ln/>
        </p:spPr>
        <p:txBody>
          <a:bodyPr wrap="square" lIns="25400" tIns="25400" rIns="25400" bIns="25400" rtlCol="0" anchor="t">
            <a:normAutofit/>
          </a:bodyPr>
          <a:lstStyle/>
          <a:p>
            <a:pPr algn="l" indent="0" marL="0">
              <a:buNone/>
            </a:pPr>
            <a:r>
              <a:rPr lang="en-US" sz="1425" b="1" dirty="0">
                <a:solidFill>
                  <a:srgbClr val="FFFFFF"/>
                </a:solidFill>
                <a:latin typeface="Arial" pitchFamily="34" charset="0"/>
                <a:ea typeface="Arial" pitchFamily="34" charset="-122"/>
                <a:cs typeface="Arial" pitchFamily="34" charset="-120"/>
              </a:rPr>
              <a:t>테스트 항목</a:t>
            </a:r>
            <a:endParaRPr lang="en-US" sz="1425" dirty="0"/>
          </a:p>
        </p:txBody>
      </p:sp>
      <p:sp>
        <p:nvSpPr>
          <p:cNvPr id="9" name="Text 7"/>
          <p:cNvSpPr/>
          <p:nvPr/>
        </p:nvSpPr>
        <p:spPr>
          <a:xfrm>
            <a:off x="6384965" y="2160270"/>
            <a:ext cx="7805571" cy="304800"/>
          </a:xfrm>
          <a:prstGeom prst="rect">
            <a:avLst/>
          </a:prstGeom>
          <a:noFill/>
          <a:ln/>
        </p:spPr>
        <p:txBody>
          <a:bodyPr wrap="square" lIns="25400" tIns="25400" rIns="25400" bIns="25400" rtlCol="0" anchor="t">
            <a:normAutofit/>
          </a:bodyPr>
          <a:lstStyle/>
          <a:p>
            <a:pPr algn="l" indent="0" marL="0">
              <a:buNone/>
            </a:pPr>
            <a:r>
              <a:rPr lang="en-US" sz="1425" b="1" dirty="0">
                <a:solidFill>
                  <a:srgbClr val="FFFFFF"/>
                </a:solidFill>
                <a:latin typeface="Arial" pitchFamily="34" charset="0"/>
                <a:ea typeface="Arial" pitchFamily="34" charset="-122"/>
                <a:cs typeface="Arial" pitchFamily="34" charset="-120"/>
              </a:rPr>
              <a:t>방법 · 케이스</a:t>
            </a:r>
            <a:endParaRPr lang="en-US" sz="1425" dirty="0"/>
          </a:p>
        </p:txBody>
      </p:sp>
      <p:sp>
        <p:nvSpPr>
          <p:cNvPr id="10" name="Text 8"/>
          <p:cNvSpPr/>
          <p:nvPr/>
        </p:nvSpPr>
        <p:spPr>
          <a:xfrm>
            <a:off x="14506011" y="2160270"/>
            <a:ext cx="2756591" cy="304800"/>
          </a:xfrm>
          <a:prstGeom prst="rect">
            <a:avLst/>
          </a:prstGeom>
          <a:noFill/>
          <a:ln/>
        </p:spPr>
        <p:txBody>
          <a:bodyPr wrap="square" lIns="25400" tIns="25400" rIns="25400" bIns="25400" rtlCol="0" anchor="t">
            <a:normAutofit/>
          </a:bodyPr>
          <a:lstStyle/>
          <a:p>
            <a:pPr algn="ctr" indent="0" marL="0">
              <a:buNone/>
            </a:pPr>
            <a:r>
              <a:rPr lang="en-US" sz="1425" b="1" dirty="0">
                <a:solidFill>
                  <a:srgbClr val="FFFFFF"/>
                </a:solidFill>
                <a:latin typeface="Arial" pitchFamily="34" charset="0"/>
                <a:ea typeface="Arial" pitchFamily="34" charset="-122"/>
                <a:cs typeface="Arial" pitchFamily="34" charset="-120"/>
              </a:rPr>
              <a:t>결과</a:t>
            </a:r>
            <a:endParaRPr lang="en-US" sz="1425" dirty="0"/>
          </a:p>
        </p:txBody>
      </p:sp>
      <p:sp>
        <p:nvSpPr>
          <p:cNvPr id="11" name="Shape 9"/>
          <p:cNvSpPr/>
          <p:nvPr/>
        </p:nvSpPr>
        <p:spPr>
          <a:xfrm>
            <a:off x="769620" y="3921919"/>
            <a:ext cx="16748760" cy="9525"/>
          </a:xfrm>
          <a:prstGeom prst="rect">
            <a:avLst/>
          </a:prstGeom>
          <a:solidFill>
            <a:srgbClr val="EDF2F8"/>
          </a:solidFill>
          <a:ln/>
        </p:spPr>
      </p:sp>
      <p:sp>
        <p:nvSpPr>
          <p:cNvPr id="12" name="Text 10"/>
          <p:cNvSpPr/>
          <p:nvPr/>
        </p:nvSpPr>
        <p:spPr>
          <a:xfrm>
            <a:off x="1074420" y="3124914"/>
            <a:ext cx="4860261" cy="327660"/>
          </a:xfrm>
          <a:prstGeom prst="rect">
            <a:avLst/>
          </a:prstGeom>
          <a:noFill/>
          <a:ln/>
        </p:spPr>
        <p:txBody>
          <a:bodyPr wrap="square" lIns="25400" tIns="25400" rIns="25400" bIns="25400" rtlCol="0" anchor="t">
            <a:normAutofit/>
          </a:bodyPr>
          <a:lstStyle/>
          <a:p>
            <a:pPr algn="l" indent="0" marL="0">
              <a:buNone/>
            </a:pPr>
            <a:r>
              <a:rPr lang="en-US" sz="1575" b="1" dirty="0">
                <a:solidFill>
                  <a:srgbClr val="143257"/>
                </a:solidFill>
                <a:latin typeface="Arial" pitchFamily="34" charset="0"/>
                <a:ea typeface="Arial" pitchFamily="34" charset="-122"/>
                <a:cs typeface="Arial" pitchFamily="34" charset="-120"/>
              </a:rPr>
              <a:t>페이지 라우트</a:t>
            </a:r>
            <a:endParaRPr lang="en-US" sz="1575" dirty="0"/>
          </a:p>
        </p:txBody>
      </p:sp>
      <p:sp>
        <p:nvSpPr>
          <p:cNvPr id="13" name="Text 11"/>
          <p:cNvSpPr/>
          <p:nvPr/>
        </p:nvSpPr>
        <p:spPr>
          <a:xfrm>
            <a:off x="6384965" y="3151584"/>
            <a:ext cx="7805571" cy="274320"/>
          </a:xfrm>
          <a:prstGeom prst="rect">
            <a:avLst/>
          </a:prstGeom>
          <a:noFill/>
          <a:ln/>
        </p:spPr>
        <p:txBody>
          <a:bodyPr wrap="square" lIns="25400" tIns="25400" rIns="25400" bIns="25400" rtlCol="0" anchor="t">
            <a:normAutofit/>
          </a:bodyPr>
          <a:lstStyle/>
          <a:p>
            <a:pPr algn="l" indent="0" marL="0">
              <a:buNone/>
            </a:pPr>
            <a:r>
              <a:rPr lang="en-US" sz="1575" b="1" dirty="0">
                <a:solidFill>
                  <a:srgbClr val="51657B"/>
                </a:solidFill>
                <a:latin typeface="Arial" pitchFamily="34" charset="0"/>
                <a:ea typeface="Arial" pitchFamily="34" charset="-122"/>
                <a:cs typeface="Arial" pitchFamily="34" charset="-120"/>
              </a:rPr>
              <a:t>주요 화면 진입·이동 정상 동작</a:t>
            </a:r>
            <a:endParaRPr lang="en-US" sz="1575" dirty="0"/>
          </a:p>
        </p:txBody>
      </p:sp>
      <p:sp>
        <p:nvSpPr>
          <p:cNvPr id="14" name="Shape 12"/>
          <p:cNvSpPr/>
          <p:nvPr/>
        </p:nvSpPr>
        <p:spPr>
          <a:xfrm>
            <a:off x="15452408" y="3105864"/>
            <a:ext cx="863798" cy="342900"/>
          </a:xfrm>
          <a:prstGeom prst="roundRect">
            <a:avLst>
              <a:gd name="adj" fmla="val 50000"/>
            </a:avLst>
          </a:prstGeom>
          <a:solidFill>
            <a:srgbClr val="E7F6EF"/>
          </a:solidFill>
          <a:ln/>
        </p:spPr>
      </p:sp>
      <p:sp>
        <p:nvSpPr>
          <p:cNvPr id="15" name="Text 13"/>
          <p:cNvSpPr/>
          <p:nvPr/>
        </p:nvSpPr>
        <p:spPr>
          <a:xfrm>
            <a:off x="15623858" y="3182064"/>
            <a:ext cx="520898" cy="228600"/>
          </a:xfrm>
          <a:prstGeom prst="rect">
            <a:avLst/>
          </a:prstGeom>
          <a:noFill/>
          <a:ln/>
        </p:spPr>
        <p:txBody>
          <a:bodyPr wrap="square" lIns="25400" tIns="25400" rIns="25400" bIns="25400" rtlCol="0" anchor="t">
            <a:normAutofit/>
          </a:bodyPr>
          <a:lstStyle/>
          <a:p>
            <a:pPr algn="ctr" indent="0" marL="0">
              <a:buNone/>
            </a:pPr>
            <a:r>
              <a:rPr lang="en-US" sz="1350" b="1" dirty="0">
                <a:solidFill>
                  <a:srgbClr val="22A06B"/>
                </a:solidFill>
                <a:latin typeface="Arial" pitchFamily="34" charset="0"/>
                <a:ea typeface="Arial" pitchFamily="34" charset="-122"/>
                <a:cs typeface="Arial" pitchFamily="34" charset="-120"/>
              </a:rPr>
              <a:t>PASS</a:t>
            </a:r>
            <a:endParaRPr lang="en-US" sz="1350" dirty="0"/>
          </a:p>
        </p:txBody>
      </p:sp>
      <p:sp>
        <p:nvSpPr>
          <p:cNvPr id="16" name="Shape 14"/>
          <p:cNvSpPr/>
          <p:nvPr/>
        </p:nvSpPr>
        <p:spPr>
          <a:xfrm>
            <a:off x="769620" y="3929539"/>
            <a:ext cx="16748760" cy="1312188"/>
          </a:xfrm>
          <a:prstGeom prst="rect">
            <a:avLst/>
          </a:prstGeom>
          <a:solidFill>
            <a:srgbClr val="FAFCFE"/>
          </a:solidFill>
          <a:ln/>
        </p:spPr>
      </p:sp>
      <p:sp>
        <p:nvSpPr>
          <p:cNvPr id="17" name="Shape 15"/>
          <p:cNvSpPr/>
          <p:nvPr/>
        </p:nvSpPr>
        <p:spPr>
          <a:xfrm>
            <a:off x="769620" y="5234107"/>
            <a:ext cx="16748760" cy="9525"/>
          </a:xfrm>
          <a:prstGeom prst="rect">
            <a:avLst/>
          </a:prstGeom>
          <a:solidFill>
            <a:srgbClr val="EDF2F8"/>
          </a:solidFill>
          <a:ln/>
        </p:spPr>
      </p:sp>
      <p:sp>
        <p:nvSpPr>
          <p:cNvPr id="18" name="Text 16"/>
          <p:cNvSpPr/>
          <p:nvPr/>
        </p:nvSpPr>
        <p:spPr>
          <a:xfrm>
            <a:off x="1074420" y="4436983"/>
            <a:ext cx="4860261" cy="327660"/>
          </a:xfrm>
          <a:prstGeom prst="rect">
            <a:avLst/>
          </a:prstGeom>
          <a:noFill/>
          <a:ln/>
        </p:spPr>
        <p:txBody>
          <a:bodyPr wrap="square" lIns="25400" tIns="25400" rIns="25400" bIns="25400" rtlCol="0" anchor="t">
            <a:normAutofit/>
          </a:bodyPr>
          <a:lstStyle/>
          <a:p>
            <a:pPr algn="l" indent="0" marL="0">
              <a:buNone/>
            </a:pPr>
            <a:r>
              <a:rPr lang="en-US" sz="1575" b="1" dirty="0">
                <a:solidFill>
                  <a:srgbClr val="143257"/>
                </a:solidFill>
                <a:latin typeface="Arial" pitchFamily="34" charset="0"/>
                <a:ea typeface="Arial" pitchFamily="34" charset="-122"/>
                <a:cs typeface="Arial" pitchFamily="34" charset="-120"/>
              </a:rPr>
              <a:t>API 연동</a:t>
            </a:r>
            <a:endParaRPr lang="en-US" sz="1575" dirty="0"/>
          </a:p>
        </p:txBody>
      </p:sp>
      <p:sp>
        <p:nvSpPr>
          <p:cNvPr id="19" name="Text 17"/>
          <p:cNvSpPr/>
          <p:nvPr/>
        </p:nvSpPr>
        <p:spPr>
          <a:xfrm>
            <a:off x="6384965" y="4463653"/>
            <a:ext cx="7805571" cy="274320"/>
          </a:xfrm>
          <a:prstGeom prst="rect">
            <a:avLst/>
          </a:prstGeom>
          <a:noFill/>
          <a:ln/>
        </p:spPr>
        <p:txBody>
          <a:bodyPr wrap="square" lIns="25400" tIns="25400" rIns="25400" bIns="25400" rtlCol="0" anchor="t">
            <a:normAutofit/>
          </a:bodyPr>
          <a:lstStyle/>
          <a:p>
            <a:pPr algn="l" indent="0" marL="0">
              <a:buNone/>
            </a:pPr>
            <a:r>
              <a:rPr lang="en-US" sz="1575" b="1" dirty="0">
                <a:solidFill>
                  <a:srgbClr val="51657B"/>
                </a:solidFill>
                <a:latin typeface="Arial" pitchFamily="34" charset="0"/>
                <a:ea typeface="Arial" pitchFamily="34" charset="-122"/>
                <a:cs typeface="Arial" pitchFamily="34" charset="-120"/>
              </a:rPr>
              <a:t>요청·응답 형식 및 상태 코드 검증</a:t>
            </a:r>
            <a:endParaRPr lang="en-US" sz="1575" dirty="0"/>
          </a:p>
        </p:txBody>
      </p:sp>
      <p:sp>
        <p:nvSpPr>
          <p:cNvPr id="20" name="Shape 18"/>
          <p:cNvSpPr/>
          <p:nvPr/>
        </p:nvSpPr>
        <p:spPr>
          <a:xfrm>
            <a:off x="15452408" y="4417933"/>
            <a:ext cx="863798" cy="342900"/>
          </a:xfrm>
          <a:prstGeom prst="roundRect">
            <a:avLst>
              <a:gd name="adj" fmla="val 50000"/>
            </a:avLst>
          </a:prstGeom>
          <a:solidFill>
            <a:srgbClr val="E7F6EF"/>
          </a:solidFill>
          <a:ln/>
        </p:spPr>
      </p:sp>
      <p:sp>
        <p:nvSpPr>
          <p:cNvPr id="21" name="Text 19"/>
          <p:cNvSpPr/>
          <p:nvPr/>
        </p:nvSpPr>
        <p:spPr>
          <a:xfrm>
            <a:off x="15623858" y="4494133"/>
            <a:ext cx="520898" cy="228600"/>
          </a:xfrm>
          <a:prstGeom prst="rect">
            <a:avLst/>
          </a:prstGeom>
          <a:noFill/>
          <a:ln/>
        </p:spPr>
        <p:txBody>
          <a:bodyPr wrap="square" lIns="25400" tIns="25400" rIns="25400" bIns="25400" rtlCol="0" anchor="t">
            <a:normAutofit/>
          </a:bodyPr>
          <a:lstStyle/>
          <a:p>
            <a:pPr algn="ctr" indent="0" marL="0">
              <a:buNone/>
            </a:pPr>
            <a:r>
              <a:rPr lang="en-US" sz="1350" b="1" dirty="0">
                <a:solidFill>
                  <a:srgbClr val="22A06B"/>
                </a:solidFill>
                <a:latin typeface="Arial" pitchFamily="34" charset="0"/>
                <a:ea typeface="Arial" pitchFamily="34" charset="-122"/>
                <a:cs typeface="Arial" pitchFamily="34" charset="-120"/>
              </a:rPr>
              <a:t>PASS</a:t>
            </a:r>
            <a:endParaRPr lang="en-US" sz="1350" dirty="0"/>
          </a:p>
        </p:txBody>
      </p:sp>
      <p:sp>
        <p:nvSpPr>
          <p:cNvPr id="22" name="Shape 20"/>
          <p:cNvSpPr/>
          <p:nvPr/>
        </p:nvSpPr>
        <p:spPr>
          <a:xfrm>
            <a:off x="769620" y="6546294"/>
            <a:ext cx="16748760" cy="9525"/>
          </a:xfrm>
          <a:prstGeom prst="rect">
            <a:avLst/>
          </a:prstGeom>
          <a:solidFill>
            <a:srgbClr val="EDF2F8"/>
          </a:solidFill>
          <a:ln/>
        </p:spPr>
      </p:sp>
      <p:sp>
        <p:nvSpPr>
          <p:cNvPr id="23" name="Text 21"/>
          <p:cNvSpPr/>
          <p:nvPr/>
        </p:nvSpPr>
        <p:spPr>
          <a:xfrm>
            <a:off x="1074420" y="5749171"/>
            <a:ext cx="4860261" cy="327660"/>
          </a:xfrm>
          <a:prstGeom prst="rect">
            <a:avLst/>
          </a:prstGeom>
          <a:noFill/>
          <a:ln/>
        </p:spPr>
        <p:txBody>
          <a:bodyPr wrap="square" lIns="25400" tIns="25400" rIns="25400" bIns="25400" rtlCol="0" anchor="t">
            <a:normAutofit/>
          </a:bodyPr>
          <a:lstStyle/>
          <a:p>
            <a:pPr algn="l" indent="0" marL="0">
              <a:buNone/>
            </a:pPr>
            <a:r>
              <a:rPr lang="en-US" sz="1575" b="1" dirty="0">
                <a:solidFill>
                  <a:srgbClr val="143257"/>
                </a:solidFill>
                <a:latin typeface="Arial" pitchFamily="34" charset="0"/>
                <a:ea typeface="Arial" pitchFamily="34" charset="-122"/>
                <a:cs typeface="Arial" pitchFamily="34" charset="-120"/>
              </a:rPr>
              <a:t>DB 연동</a:t>
            </a:r>
            <a:endParaRPr lang="en-US" sz="1575" dirty="0"/>
          </a:p>
        </p:txBody>
      </p:sp>
      <p:sp>
        <p:nvSpPr>
          <p:cNvPr id="24" name="Text 22"/>
          <p:cNvSpPr/>
          <p:nvPr/>
        </p:nvSpPr>
        <p:spPr>
          <a:xfrm>
            <a:off x="6384965" y="5775841"/>
            <a:ext cx="7805571" cy="274320"/>
          </a:xfrm>
          <a:prstGeom prst="rect">
            <a:avLst/>
          </a:prstGeom>
          <a:noFill/>
          <a:ln/>
        </p:spPr>
        <p:txBody>
          <a:bodyPr wrap="square" lIns="25400" tIns="25400" rIns="25400" bIns="25400" rtlCol="0" anchor="t">
            <a:normAutofit/>
          </a:bodyPr>
          <a:lstStyle/>
          <a:p>
            <a:pPr algn="l" indent="0" marL="0">
              <a:buNone/>
            </a:pPr>
            <a:r>
              <a:rPr lang="en-US" sz="1575" b="1" dirty="0">
                <a:solidFill>
                  <a:srgbClr val="51657B"/>
                </a:solidFill>
                <a:latin typeface="Arial" pitchFamily="34" charset="0"/>
                <a:ea typeface="Arial" pitchFamily="34" charset="-122"/>
                <a:cs typeface="Arial" pitchFamily="34" charset="-120"/>
              </a:rPr>
              <a:t>MySQL · Chroma 조회·적재 정합성</a:t>
            </a:r>
            <a:endParaRPr lang="en-US" sz="1575" dirty="0"/>
          </a:p>
        </p:txBody>
      </p:sp>
      <p:sp>
        <p:nvSpPr>
          <p:cNvPr id="25" name="Shape 23"/>
          <p:cNvSpPr/>
          <p:nvPr/>
        </p:nvSpPr>
        <p:spPr>
          <a:xfrm>
            <a:off x="15452408" y="5730121"/>
            <a:ext cx="863798" cy="342900"/>
          </a:xfrm>
          <a:prstGeom prst="roundRect">
            <a:avLst>
              <a:gd name="adj" fmla="val 50000"/>
            </a:avLst>
          </a:prstGeom>
          <a:solidFill>
            <a:srgbClr val="E7F6EF"/>
          </a:solidFill>
          <a:ln/>
        </p:spPr>
      </p:sp>
      <p:sp>
        <p:nvSpPr>
          <p:cNvPr id="26" name="Text 24"/>
          <p:cNvSpPr/>
          <p:nvPr/>
        </p:nvSpPr>
        <p:spPr>
          <a:xfrm>
            <a:off x="15623858" y="5806321"/>
            <a:ext cx="520898" cy="228600"/>
          </a:xfrm>
          <a:prstGeom prst="rect">
            <a:avLst/>
          </a:prstGeom>
          <a:noFill/>
          <a:ln/>
        </p:spPr>
        <p:txBody>
          <a:bodyPr wrap="square" lIns="25400" tIns="25400" rIns="25400" bIns="25400" rtlCol="0" anchor="t">
            <a:normAutofit/>
          </a:bodyPr>
          <a:lstStyle/>
          <a:p>
            <a:pPr algn="ctr" indent="0" marL="0">
              <a:buNone/>
            </a:pPr>
            <a:r>
              <a:rPr lang="en-US" sz="1350" b="1" dirty="0">
                <a:solidFill>
                  <a:srgbClr val="22A06B"/>
                </a:solidFill>
                <a:latin typeface="Arial" pitchFamily="34" charset="0"/>
                <a:ea typeface="Arial" pitchFamily="34" charset="-122"/>
                <a:cs typeface="Arial" pitchFamily="34" charset="-120"/>
              </a:rPr>
              <a:t>PASS</a:t>
            </a:r>
            <a:endParaRPr lang="en-US" sz="1350" dirty="0"/>
          </a:p>
        </p:txBody>
      </p:sp>
      <p:sp>
        <p:nvSpPr>
          <p:cNvPr id="27" name="Shape 25"/>
          <p:cNvSpPr/>
          <p:nvPr/>
        </p:nvSpPr>
        <p:spPr>
          <a:xfrm>
            <a:off x="769620" y="6553914"/>
            <a:ext cx="16748760" cy="1312188"/>
          </a:xfrm>
          <a:prstGeom prst="rect">
            <a:avLst/>
          </a:prstGeom>
          <a:solidFill>
            <a:srgbClr val="FAFCFE"/>
          </a:solidFill>
          <a:ln/>
        </p:spPr>
      </p:sp>
      <p:sp>
        <p:nvSpPr>
          <p:cNvPr id="28" name="Shape 26"/>
          <p:cNvSpPr/>
          <p:nvPr/>
        </p:nvSpPr>
        <p:spPr>
          <a:xfrm>
            <a:off x="769620" y="7858482"/>
            <a:ext cx="16748760" cy="9525"/>
          </a:xfrm>
          <a:prstGeom prst="rect">
            <a:avLst/>
          </a:prstGeom>
          <a:solidFill>
            <a:srgbClr val="EDF2F8"/>
          </a:solidFill>
          <a:ln/>
        </p:spPr>
      </p:sp>
      <p:sp>
        <p:nvSpPr>
          <p:cNvPr id="29" name="Text 27"/>
          <p:cNvSpPr/>
          <p:nvPr/>
        </p:nvSpPr>
        <p:spPr>
          <a:xfrm>
            <a:off x="1074420" y="7061359"/>
            <a:ext cx="4860261" cy="327660"/>
          </a:xfrm>
          <a:prstGeom prst="rect">
            <a:avLst/>
          </a:prstGeom>
          <a:noFill/>
          <a:ln/>
        </p:spPr>
        <p:txBody>
          <a:bodyPr wrap="square" lIns="25400" tIns="25400" rIns="25400" bIns="25400" rtlCol="0" anchor="t">
            <a:normAutofit/>
          </a:bodyPr>
          <a:lstStyle/>
          <a:p>
            <a:pPr algn="l" indent="0" marL="0">
              <a:buNone/>
            </a:pPr>
            <a:r>
              <a:rPr lang="en-US" sz="1575" b="1" dirty="0">
                <a:solidFill>
                  <a:srgbClr val="143257"/>
                </a:solidFill>
                <a:latin typeface="Arial" pitchFamily="34" charset="0"/>
                <a:ea typeface="Arial" pitchFamily="34" charset="-122"/>
                <a:cs typeface="Arial" pitchFamily="34" charset="-120"/>
              </a:rPr>
              <a:t>질문→API→LLM 응답</a:t>
            </a:r>
            <a:endParaRPr lang="en-US" sz="1575" dirty="0"/>
          </a:p>
        </p:txBody>
      </p:sp>
      <p:sp>
        <p:nvSpPr>
          <p:cNvPr id="30" name="Text 28"/>
          <p:cNvSpPr/>
          <p:nvPr/>
        </p:nvSpPr>
        <p:spPr>
          <a:xfrm>
            <a:off x="6384965" y="7088029"/>
            <a:ext cx="7805571" cy="274320"/>
          </a:xfrm>
          <a:prstGeom prst="rect">
            <a:avLst/>
          </a:prstGeom>
          <a:noFill/>
          <a:ln/>
        </p:spPr>
        <p:txBody>
          <a:bodyPr wrap="square" lIns="25400" tIns="25400" rIns="25400" bIns="25400" rtlCol="0" anchor="t">
            <a:normAutofit/>
          </a:bodyPr>
          <a:lstStyle/>
          <a:p>
            <a:pPr algn="l" indent="0" marL="0">
              <a:buNone/>
            </a:pPr>
            <a:r>
              <a:rPr lang="en-US" sz="1575" b="1" dirty="0">
                <a:solidFill>
                  <a:srgbClr val="51657B"/>
                </a:solidFill>
                <a:latin typeface="Arial" pitchFamily="34" charset="0"/>
                <a:ea typeface="Arial" pitchFamily="34" charset="-122"/>
                <a:cs typeface="Arial" pitchFamily="34" charset="-120"/>
              </a:rPr>
              <a:t>End-to-End 질의응답 전 구간</a:t>
            </a:r>
            <a:endParaRPr lang="en-US" sz="1575" dirty="0"/>
          </a:p>
        </p:txBody>
      </p:sp>
      <p:sp>
        <p:nvSpPr>
          <p:cNvPr id="31" name="Shape 29"/>
          <p:cNvSpPr/>
          <p:nvPr/>
        </p:nvSpPr>
        <p:spPr>
          <a:xfrm>
            <a:off x="15452408" y="7042309"/>
            <a:ext cx="863798" cy="342900"/>
          </a:xfrm>
          <a:prstGeom prst="roundRect">
            <a:avLst>
              <a:gd name="adj" fmla="val 50000"/>
            </a:avLst>
          </a:prstGeom>
          <a:solidFill>
            <a:srgbClr val="E7F6EF"/>
          </a:solidFill>
          <a:ln/>
        </p:spPr>
      </p:sp>
      <p:sp>
        <p:nvSpPr>
          <p:cNvPr id="32" name="Text 30"/>
          <p:cNvSpPr/>
          <p:nvPr/>
        </p:nvSpPr>
        <p:spPr>
          <a:xfrm>
            <a:off x="15623858" y="7118509"/>
            <a:ext cx="520898" cy="228600"/>
          </a:xfrm>
          <a:prstGeom prst="rect">
            <a:avLst/>
          </a:prstGeom>
          <a:noFill/>
          <a:ln/>
        </p:spPr>
        <p:txBody>
          <a:bodyPr wrap="square" lIns="25400" tIns="25400" rIns="25400" bIns="25400" rtlCol="0" anchor="t">
            <a:normAutofit/>
          </a:bodyPr>
          <a:lstStyle/>
          <a:p>
            <a:pPr algn="ctr" indent="0" marL="0">
              <a:buNone/>
            </a:pPr>
            <a:r>
              <a:rPr lang="en-US" sz="1350" b="1" dirty="0">
                <a:solidFill>
                  <a:srgbClr val="22A06B"/>
                </a:solidFill>
                <a:latin typeface="Arial" pitchFamily="34" charset="0"/>
                <a:ea typeface="Arial" pitchFamily="34" charset="-122"/>
                <a:cs typeface="Arial" pitchFamily="34" charset="-120"/>
              </a:rPr>
              <a:t>PASS</a:t>
            </a:r>
            <a:endParaRPr lang="en-US" sz="1350" dirty="0"/>
          </a:p>
        </p:txBody>
      </p:sp>
      <p:sp>
        <p:nvSpPr>
          <p:cNvPr id="33" name="Text 31"/>
          <p:cNvSpPr/>
          <p:nvPr/>
        </p:nvSpPr>
        <p:spPr>
          <a:xfrm>
            <a:off x="1074420" y="8373546"/>
            <a:ext cx="4860261" cy="327660"/>
          </a:xfrm>
          <a:prstGeom prst="rect">
            <a:avLst/>
          </a:prstGeom>
          <a:noFill/>
          <a:ln/>
        </p:spPr>
        <p:txBody>
          <a:bodyPr wrap="square" lIns="25400" tIns="25400" rIns="25400" bIns="25400" rtlCol="0" anchor="t">
            <a:normAutofit/>
          </a:bodyPr>
          <a:lstStyle/>
          <a:p>
            <a:pPr algn="l" indent="0" marL="0">
              <a:buNone/>
            </a:pPr>
            <a:r>
              <a:rPr lang="en-US" sz="1575" b="1" dirty="0">
                <a:solidFill>
                  <a:srgbClr val="143257"/>
                </a:solidFill>
                <a:latin typeface="Arial" pitchFamily="34" charset="0"/>
                <a:ea typeface="Arial" pitchFamily="34" charset="-122"/>
                <a:cs typeface="Arial" pitchFamily="34" charset="-120"/>
              </a:rPr>
              <a:t>예외 케이스</a:t>
            </a:r>
            <a:endParaRPr lang="en-US" sz="1575" dirty="0"/>
          </a:p>
        </p:txBody>
      </p:sp>
      <p:sp>
        <p:nvSpPr>
          <p:cNvPr id="34" name="Text 32"/>
          <p:cNvSpPr/>
          <p:nvPr/>
        </p:nvSpPr>
        <p:spPr>
          <a:xfrm>
            <a:off x="6384965" y="8400217"/>
            <a:ext cx="7805571" cy="274320"/>
          </a:xfrm>
          <a:prstGeom prst="rect">
            <a:avLst/>
          </a:prstGeom>
          <a:noFill/>
          <a:ln/>
        </p:spPr>
        <p:txBody>
          <a:bodyPr wrap="square" lIns="25400" tIns="25400" rIns="25400" bIns="25400" rtlCol="0" anchor="t">
            <a:normAutofit/>
          </a:bodyPr>
          <a:lstStyle/>
          <a:p>
            <a:pPr algn="l" indent="0" marL="0">
              <a:buNone/>
            </a:pPr>
            <a:r>
              <a:rPr lang="en-US" sz="1575" b="1" dirty="0">
                <a:solidFill>
                  <a:srgbClr val="51657B"/>
                </a:solidFill>
                <a:latin typeface="Arial" pitchFamily="34" charset="0"/>
                <a:ea typeface="Arial" pitchFamily="34" charset="-122"/>
                <a:cs typeface="Arial" pitchFamily="34" charset="-120"/>
              </a:rPr>
              <a:t>빈 입력 · 잘못된 요청 · 응답 실패 · 답변 불가</a:t>
            </a:r>
            <a:endParaRPr lang="en-US" sz="1575" dirty="0"/>
          </a:p>
        </p:txBody>
      </p:sp>
      <p:sp>
        <p:nvSpPr>
          <p:cNvPr id="35" name="Shape 33"/>
          <p:cNvSpPr/>
          <p:nvPr/>
        </p:nvSpPr>
        <p:spPr>
          <a:xfrm>
            <a:off x="15452408" y="8354496"/>
            <a:ext cx="863798" cy="342900"/>
          </a:xfrm>
          <a:prstGeom prst="roundRect">
            <a:avLst>
              <a:gd name="adj" fmla="val 50000"/>
            </a:avLst>
          </a:prstGeom>
          <a:solidFill>
            <a:srgbClr val="E7F6EF"/>
          </a:solidFill>
          <a:ln/>
        </p:spPr>
      </p:sp>
      <p:sp>
        <p:nvSpPr>
          <p:cNvPr id="36" name="Text 34"/>
          <p:cNvSpPr/>
          <p:nvPr/>
        </p:nvSpPr>
        <p:spPr>
          <a:xfrm>
            <a:off x="15623858" y="8430696"/>
            <a:ext cx="520898" cy="228600"/>
          </a:xfrm>
          <a:prstGeom prst="rect">
            <a:avLst/>
          </a:prstGeom>
          <a:noFill/>
          <a:ln/>
        </p:spPr>
        <p:txBody>
          <a:bodyPr wrap="square" lIns="25400" tIns="25400" rIns="25400" bIns="25400" rtlCol="0" anchor="t">
            <a:normAutofit/>
          </a:bodyPr>
          <a:lstStyle/>
          <a:p>
            <a:pPr algn="ctr" indent="0" marL="0">
              <a:buNone/>
            </a:pPr>
            <a:r>
              <a:rPr lang="en-US" sz="1350" b="1" dirty="0">
                <a:solidFill>
                  <a:srgbClr val="22A06B"/>
                </a:solidFill>
                <a:latin typeface="Arial" pitchFamily="34" charset="0"/>
                <a:ea typeface="Arial" pitchFamily="34" charset="-122"/>
                <a:cs typeface="Arial" pitchFamily="34" charset="-120"/>
              </a:rPr>
              <a:t>PASS</a:t>
            </a:r>
            <a:endParaRPr lang="en-US" sz="1350" dirty="0"/>
          </a:p>
        </p:txBody>
      </p:sp>
      <p:sp>
        <p:nvSpPr>
          <p:cNvPr id="37" name="Text 35"/>
          <p:cNvSpPr/>
          <p:nvPr/>
        </p:nvSpPr>
        <p:spPr>
          <a:xfrm>
            <a:off x="762000" y="9387840"/>
            <a:ext cx="18440400" cy="327660"/>
          </a:xfrm>
          <a:prstGeom prst="rect">
            <a:avLst/>
          </a:prstGeom>
          <a:noFill/>
          <a:ln/>
        </p:spPr>
        <p:txBody>
          <a:bodyPr wrap="square" lIns="25400" tIns="25400" rIns="25400" bIns="25400" rtlCol="0" anchor="t">
            <a:normAutofit/>
          </a:bodyPr>
          <a:lstStyle/>
          <a:p>
            <a:pPr algn="l" indent="0" marL="0">
              <a:buNone/>
            </a:pPr>
            <a:r>
              <a:rPr lang="en-US" sz="1575" b="1" dirty="0">
                <a:solidFill>
                  <a:srgbClr val="3C5066"/>
                </a:solidFill>
                <a:latin typeface="Arial" pitchFamily="34" charset="0"/>
                <a:ea typeface="Arial" pitchFamily="34" charset="-122"/>
                <a:cs typeface="Arial" pitchFamily="34" charset="-120"/>
              </a:rPr>
              <a:t>발견·개선 — End-to-End 통과 + </a:t>
            </a:r>
            <a:pPr algn="l" indent="0" marL="0">
              <a:buNone/>
            </a:pPr>
            <a:r>
              <a:rPr lang="en-US" sz="1575" b="1" dirty="0">
                <a:solidFill>
                  <a:srgbClr val="2E8BE0"/>
                </a:solidFill>
                <a:latin typeface="Arial" pitchFamily="34" charset="0"/>
                <a:ea typeface="Arial" pitchFamily="34" charset="-122"/>
                <a:cs typeface="Arial" pitchFamily="34" charset="-120"/>
              </a:rPr>
              <a:t>RAG 답변율 66.7% → 94.9% 개선</a:t>
            </a:r>
            <a:endParaRPr lang="en-US" sz="1575"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2E86DD">
                  <a:alpha val="100000"/>
                </a:srgbClr>
              </a:gs>
              <a:gs pos="65000">
                <a:srgbClr val="1E64B8">
                  <a:alpha val="100000"/>
                </a:srgbClr>
              </a:gs>
              <a:gs pos="100000">
                <a:srgbClr val="184F9A">
                  <a:alpha val="100000"/>
                </a:srgbClr>
              </a:gs>
            </a:gsLst>
            <a:lin ang="3600000" scaled="0"/>
          </a:gradFill>
          <a:ln/>
        </p:spPr>
      </p:sp>
      <p:sp>
        <p:nvSpPr>
          <p:cNvPr id="3" name="Shape 1"/>
          <p:cNvSpPr/>
          <p:nvPr/>
        </p:nvSpPr>
        <p:spPr>
          <a:xfrm>
            <a:off x="14478000" y="7048500"/>
            <a:ext cx="4953000" cy="4953000"/>
          </a:xfrm>
          <a:prstGeom prst="ellipse">
            <a:avLst/>
          </a:prstGeom>
          <a:solidFill>
            <a:srgbClr val="FFFFFF">
              <a:alpha val="6000"/>
            </a:srgbClr>
          </a:solidFill>
          <a:ln/>
        </p:spPr>
      </p:sp>
      <p:sp>
        <p:nvSpPr>
          <p:cNvPr id="4" name="Text 2"/>
          <p:cNvSpPr/>
          <p:nvPr/>
        </p:nvSpPr>
        <p:spPr>
          <a:xfrm>
            <a:off x="762000" y="609600"/>
            <a:ext cx="18440400" cy="259080"/>
          </a:xfrm>
          <a:prstGeom prst="rect">
            <a:avLst/>
          </a:prstGeom>
          <a:noFill/>
          <a:ln/>
        </p:spPr>
        <p:txBody>
          <a:bodyPr wrap="square" lIns="25400" tIns="25400" rIns="25400" bIns="25400" rtlCol="0" anchor="t">
            <a:normAutofit/>
          </a:bodyPr>
          <a:lstStyle/>
          <a:p>
            <a:pPr algn="l" indent="0" marL="0">
              <a:buNone/>
            </a:pPr>
            <a:r>
              <a:rPr lang="en-US" sz="1200" b="1" spc="192" kern="0" dirty="0">
                <a:solidFill>
                  <a:srgbClr val="FFFFFF">
                    <a:alpha val="78000"/>
                  </a:srgbClr>
                </a:solidFill>
                <a:latin typeface="Arial" pitchFamily="34" charset="0"/>
                <a:ea typeface="Arial" pitchFamily="34" charset="-122"/>
                <a:cs typeface="Arial" pitchFamily="34" charset="-120"/>
              </a:rPr>
              <a:t>17 · 성과 · 회고 · 마무리</a:t>
            </a:r>
            <a:endParaRPr lang="en-US" sz="1200" dirty="0"/>
          </a:p>
        </p:txBody>
      </p:sp>
      <p:sp>
        <p:nvSpPr>
          <p:cNvPr id="5" name="Text 3"/>
          <p:cNvSpPr/>
          <p:nvPr/>
        </p:nvSpPr>
        <p:spPr>
          <a:xfrm>
            <a:off x="762000" y="963930"/>
            <a:ext cx="18440400" cy="777240"/>
          </a:xfrm>
          <a:prstGeom prst="rect">
            <a:avLst/>
          </a:prstGeom>
          <a:noFill/>
          <a:ln/>
        </p:spPr>
        <p:txBody>
          <a:bodyPr wrap="square" lIns="25400" tIns="25400" rIns="25400" bIns="25400" rtlCol="0" anchor="t">
            <a:normAutofit/>
          </a:bodyPr>
          <a:lstStyle/>
          <a:p>
            <a:pPr algn="l" indent="0" marL="0">
              <a:buNone/>
            </a:pPr>
            <a:r>
              <a:rPr lang="en-US" sz="4050" b="1" spc="-122" kern="0" dirty="0">
                <a:solidFill>
                  <a:srgbClr val="FFFFFF"/>
                </a:solidFill>
                <a:latin typeface="Arial" pitchFamily="34" charset="0"/>
                <a:ea typeface="Arial" pitchFamily="34" charset="-122"/>
                <a:cs typeface="Arial" pitchFamily="34" charset="-120"/>
              </a:rPr>
              <a:t>한 계층이 아니라, 데이터부터 배포까지</a:t>
            </a:r>
            <a:endParaRPr lang="en-US" sz="4050" dirty="0"/>
          </a:p>
        </p:txBody>
      </p:sp>
      <p:sp>
        <p:nvSpPr>
          <p:cNvPr id="6" name="Shape 4"/>
          <p:cNvSpPr/>
          <p:nvPr/>
        </p:nvSpPr>
        <p:spPr>
          <a:xfrm>
            <a:off x="762000" y="2026920"/>
            <a:ext cx="5460921" cy="1398270"/>
          </a:xfrm>
          <a:prstGeom prst="roundRect">
            <a:avLst>
              <a:gd name="adj" fmla="val 13624"/>
            </a:avLst>
          </a:prstGeom>
          <a:solidFill>
            <a:srgbClr val="FFFFFF">
              <a:alpha val="12000"/>
            </a:srgbClr>
          </a:solidFill>
          <a:ln w="7620">
            <a:solidFill>
              <a:srgbClr val="FFFFFF">
                <a:alpha val="20000"/>
              </a:srgbClr>
            </a:solidFill>
            <a:prstDash val="solid"/>
          </a:ln>
        </p:spPr>
      </p:sp>
      <p:sp>
        <p:nvSpPr>
          <p:cNvPr id="7" name="Text 5"/>
          <p:cNvSpPr/>
          <p:nvPr/>
        </p:nvSpPr>
        <p:spPr>
          <a:xfrm>
            <a:off x="1093470" y="2320290"/>
            <a:ext cx="5277779" cy="533400"/>
          </a:xfrm>
          <a:prstGeom prst="rect">
            <a:avLst/>
          </a:prstGeom>
          <a:noFill/>
          <a:ln/>
        </p:spPr>
        <p:txBody>
          <a:bodyPr wrap="square" lIns="25400" tIns="25400" rIns="25400" bIns="25400" rtlCol="0" anchor="t">
            <a:normAutofit/>
          </a:bodyPr>
          <a:lstStyle/>
          <a:p>
            <a:pPr algn="l" indent="0" marL="0">
              <a:lnSpc>
                <a:spcPct val="100000"/>
              </a:lnSpc>
              <a:buNone/>
            </a:pPr>
            <a:r>
              <a:rPr lang="en-US" sz="3900" b="1" spc="-78" kern="0" dirty="0">
                <a:solidFill>
                  <a:srgbClr val="FFFFFF"/>
                </a:solidFill>
                <a:latin typeface="Arial" pitchFamily="34" charset="0"/>
                <a:ea typeface="Arial" pitchFamily="34" charset="-122"/>
                <a:cs typeface="Arial" pitchFamily="34" charset="-120"/>
              </a:rPr>
              <a:t>3</a:t>
            </a:r>
            <a:pPr algn="l" indent="0" marL="0">
              <a:lnSpc>
                <a:spcPct val="100000"/>
              </a:lnSpc>
              <a:buNone/>
            </a:pPr>
            <a:r>
              <a:rPr lang="en-US" sz="1800" b="1" spc="-78" kern="0" dirty="0">
                <a:solidFill>
                  <a:srgbClr val="FFFFFF">
                    <a:alpha val="80000"/>
                  </a:srgbClr>
                </a:solidFill>
                <a:latin typeface="Arial" pitchFamily="34" charset="0"/>
                <a:ea typeface="Arial" pitchFamily="34" charset="-122"/>
                <a:cs typeface="Arial" pitchFamily="34" charset="-120"/>
              </a:rPr>
              <a:t>개 단과대</a:t>
            </a:r>
            <a:endParaRPr lang="en-US" sz="3900" dirty="0"/>
          </a:p>
        </p:txBody>
      </p:sp>
      <p:sp>
        <p:nvSpPr>
          <p:cNvPr id="8" name="Text 6"/>
          <p:cNvSpPr/>
          <p:nvPr/>
        </p:nvSpPr>
        <p:spPr>
          <a:xfrm>
            <a:off x="1093470" y="2910840"/>
            <a:ext cx="5277779" cy="259080"/>
          </a:xfrm>
          <a:prstGeom prst="rect">
            <a:avLst/>
          </a:prstGeom>
          <a:noFill/>
          <a:ln/>
        </p:spPr>
        <p:txBody>
          <a:bodyPr wrap="square" lIns="25400" tIns="25400" rIns="25400" bIns="25400" rtlCol="0" anchor="t">
            <a:normAutofit/>
          </a:bodyPr>
          <a:lstStyle/>
          <a:p>
            <a:pPr algn="l" indent="0" marL="0">
              <a:buNone/>
            </a:pPr>
            <a:r>
              <a:rPr lang="en-US" sz="1425" b="1" dirty="0">
                <a:solidFill>
                  <a:srgbClr val="FFFFFF">
                    <a:alpha val="82000"/>
                  </a:srgbClr>
                </a:solidFill>
                <a:latin typeface="Arial" pitchFamily="34" charset="0"/>
                <a:ea typeface="Arial" pitchFamily="34" charset="-122"/>
                <a:cs typeface="Arial" pitchFamily="34" charset="-120"/>
              </a:rPr>
              <a:t>AI · 자연과학 · 생명과학기술대학 커버</a:t>
            </a:r>
            <a:endParaRPr lang="en-US" sz="1425" dirty="0"/>
          </a:p>
        </p:txBody>
      </p:sp>
      <p:sp>
        <p:nvSpPr>
          <p:cNvPr id="9" name="Shape 7"/>
          <p:cNvSpPr/>
          <p:nvPr/>
        </p:nvSpPr>
        <p:spPr>
          <a:xfrm>
            <a:off x="6413421" y="2026920"/>
            <a:ext cx="5461040" cy="1398270"/>
          </a:xfrm>
          <a:prstGeom prst="roundRect">
            <a:avLst>
              <a:gd name="adj" fmla="val 13624"/>
            </a:avLst>
          </a:prstGeom>
          <a:solidFill>
            <a:srgbClr val="FFFFFF">
              <a:alpha val="12000"/>
            </a:srgbClr>
          </a:solidFill>
          <a:ln w="7620">
            <a:solidFill>
              <a:srgbClr val="FFFFFF">
                <a:alpha val="20000"/>
              </a:srgbClr>
            </a:solidFill>
            <a:prstDash val="solid"/>
          </a:ln>
        </p:spPr>
      </p:sp>
      <p:sp>
        <p:nvSpPr>
          <p:cNvPr id="10" name="Text 8"/>
          <p:cNvSpPr/>
          <p:nvPr/>
        </p:nvSpPr>
        <p:spPr>
          <a:xfrm>
            <a:off x="6744891" y="2320290"/>
            <a:ext cx="5277910" cy="533400"/>
          </a:xfrm>
          <a:prstGeom prst="rect">
            <a:avLst/>
          </a:prstGeom>
          <a:noFill/>
          <a:ln/>
        </p:spPr>
        <p:txBody>
          <a:bodyPr wrap="square" lIns="25400" tIns="25400" rIns="25400" bIns="25400" rtlCol="0" anchor="t">
            <a:normAutofit/>
          </a:bodyPr>
          <a:lstStyle/>
          <a:p>
            <a:pPr algn="l" indent="0" marL="0">
              <a:lnSpc>
                <a:spcPct val="100000"/>
              </a:lnSpc>
              <a:buNone/>
            </a:pPr>
            <a:r>
              <a:rPr lang="en-US" sz="3900" b="1" spc="-78" kern="0" dirty="0">
                <a:solidFill>
                  <a:srgbClr val="FFFFFF"/>
                </a:solidFill>
                <a:latin typeface="Arial" pitchFamily="34" charset="0"/>
                <a:ea typeface="Arial" pitchFamily="34" charset="-122"/>
                <a:cs typeface="Arial" pitchFamily="34" charset="-120"/>
              </a:rPr>
              <a:t>94.9</a:t>
            </a:r>
            <a:pPr algn="l" indent="0" marL="0">
              <a:lnSpc>
                <a:spcPct val="100000"/>
              </a:lnSpc>
              <a:buNone/>
            </a:pPr>
            <a:r>
              <a:rPr lang="en-US" sz="1800" b="1" spc="-78" kern="0" dirty="0">
                <a:solidFill>
                  <a:srgbClr val="FFFFFF">
                    <a:alpha val="80000"/>
                  </a:srgbClr>
                </a:solidFill>
                <a:latin typeface="Arial" pitchFamily="34" charset="0"/>
                <a:ea typeface="Arial" pitchFamily="34" charset="-122"/>
                <a:cs typeface="Arial" pitchFamily="34" charset="-120"/>
              </a:rPr>
              <a:t>%</a:t>
            </a:r>
            <a:endParaRPr lang="en-US" sz="3900" dirty="0"/>
          </a:p>
        </p:txBody>
      </p:sp>
      <p:sp>
        <p:nvSpPr>
          <p:cNvPr id="11" name="Text 9"/>
          <p:cNvSpPr/>
          <p:nvPr/>
        </p:nvSpPr>
        <p:spPr>
          <a:xfrm>
            <a:off x="6744891" y="2910840"/>
            <a:ext cx="5277910" cy="259080"/>
          </a:xfrm>
          <a:prstGeom prst="rect">
            <a:avLst/>
          </a:prstGeom>
          <a:noFill/>
          <a:ln/>
        </p:spPr>
        <p:txBody>
          <a:bodyPr wrap="square" lIns="25400" tIns="25400" rIns="25400" bIns="25400" rtlCol="0" anchor="t">
            <a:normAutofit/>
          </a:bodyPr>
          <a:lstStyle/>
          <a:p>
            <a:pPr algn="l" indent="0" marL="0">
              <a:buNone/>
            </a:pPr>
            <a:r>
              <a:rPr lang="en-US" sz="1425" b="1" dirty="0">
                <a:solidFill>
                  <a:srgbClr val="FFFFFF">
                    <a:alpha val="82000"/>
                  </a:srgbClr>
                </a:solidFill>
                <a:latin typeface="Arial" pitchFamily="34" charset="0"/>
                <a:ea typeface="Arial" pitchFamily="34" charset="-122"/>
                <a:cs typeface="Arial" pitchFamily="34" charset="-120"/>
              </a:rPr>
              <a:t>측정 기반으로 끌어올린 답변율</a:t>
            </a:r>
            <a:endParaRPr lang="en-US" sz="1425" dirty="0"/>
          </a:p>
        </p:txBody>
      </p:sp>
      <p:sp>
        <p:nvSpPr>
          <p:cNvPr id="12" name="Shape 10"/>
          <p:cNvSpPr/>
          <p:nvPr/>
        </p:nvSpPr>
        <p:spPr>
          <a:xfrm>
            <a:off x="12064960" y="2026920"/>
            <a:ext cx="5461040" cy="1398270"/>
          </a:xfrm>
          <a:prstGeom prst="roundRect">
            <a:avLst>
              <a:gd name="adj" fmla="val 13624"/>
            </a:avLst>
          </a:prstGeom>
          <a:solidFill>
            <a:srgbClr val="FFFFFF">
              <a:alpha val="12000"/>
            </a:srgbClr>
          </a:solidFill>
          <a:ln w="7620">
            <a:solidFill>
              <a:srgbClr val="FFFFFF">
                <a:alpha val="20000"/>
              </a:srgbClr>
            </a:solidFill>
            <a:prstDash val="solid"/>
          </a:ln>
        </p:spPr>
      </p:sp>
      <p:sp>
        <p:nvSpPr>
          <p:cNvPr id="13" name="Text 11"/>
          <p:cNvSpPr/>
          <p:nvPr/>
        </p:nvSpPr>
        <p:spPr>
          <a:xfrm>
            <a:off x="12396431" y="2320290"/>
            <a:ext cx="5277910" cy="533400"/>
          </a:xfrm>
          <a:prstGeom prst="rect">
            <a:avLst/>
          </a:prstGeom>
          <a:noFill/>
          <a:ln/>
        </p:spPr>
        <p:txBody>
          <a:bodyPr wrap="square" lIns="25400" tIns="25400" rIns="25400" bIns="25400" rtlCol="0" anchor="t">
            <a:normAutofit/>
          </a:bodyPr>
          <a:lstStyle/>
          <a:p>
            <a:pPr algn="l" indent="0" marL="0">
              <a:lnSpc>
                <a:spcPct val="100000"/>
              </a:lnSpc>
              <a:buNone/>
            </a:pPr>
            <a:r>
              <a:rPr lang="en-US" sz="3900" b="1" spc="-78" kern="0" dirty="0">
                <a:solidFill>
                  <a:srgbClr val="FFFFFF"/>
                </a:solidFill>
                <a:latin typeface="Arial" pitchFamily="34" charset="0"/>
                <a:ea typeface="Arial" pitchFamily="34" charset="-122"/>
                <a:cs typeface="Arial" pitchFamily="34" charset="-120"/>
              </a:rPr>
              <a:t>5</a:t>
            </a:r>
            <a:pPr algn="l" indent="0" marL="0">
              <a:lnSpc>
                <a:spcPct val="100000"/>
              </a:lnSpc>
              <a:buNone/>
            </a:pPr>
            <a:r>
              <a:rPr lang="en-US" sz="1800" b="1" spc="-78" kern="0" dirty="0">
                <a:solidFill>
                  <a:srgbClr val="FFFFFF">
                    <a:alpha val="80000"/>
                  </a:srgbClr>
                </a:solidFill>
                <a:latin typeface="Arial" pitchFamily="34" charset="0"/>
                <a:ea typeface="Arial" pitchFamily="34" charset="-122"/>
                <a:cs typeface="Arial" pitchFamily="34" charset="-120"/>
              </a:rPr>
              <a:t>종 완료</a:t>
            </a:r>
            <a:endParaRPr lang="en-US" sz="3900" dirty="0"/>
          </a:p>
        </p:txBody>
      </p:sp>
      <p:sp>
        <p:nvSpPr>
          <p:cNvPr id="14" name="Text 12"/>
          <p:cNvSpPr/>
          <p:nvPr/>
        </p:nvSpPr>
        <p:spPr>
          <a:xfrm>
            <a:off x="12396431" y="2910840"/>
            <a:ext cx="5277910" cy="259080"/>
          </a:xfrm>
          <a:prstGeom prst="rect">
            <a:avLst/>
          </a:prstGeom>
          <a:noFill/>
          <a:ln/>
        </p:spPr>
        <p:txBody>
          <a:bodyPr wrap="square" lIns="25400" tIns="25400" rIns="25400" bIns="25400" rtlCol="0" anchor="t">
            <a:normAutofit/>
          </a:bodyPr>
          <a:lstStyle/>
          <a:p>
            <a:pPr algn="l" indent="0" marL="0">
              <a:buNone/>
            </a:pPr>
            <a:r>
              <a:rPr lang="en-US" sz="1425" b="1" dirty="0">
                <a:solidFill>
                  <a:srgbClr val="FFFFFF">
                    <a:alpha val="82000"/>
                  </a:srgbClr>
                </a:solidFill>
                <a:latin typeface="Arial" pitchFamily="34" charset="0"/>
                <a:ea typeface="Arial" pitchFamily="34" charset="-122"/>
                <a:cs typeface="Arial" pitchFamily="34" charset="-120"/>
              </a:rPr>
              <a:t>평가 산출물 전체 충족</a:t>
            </a:r>
            <a:endParaRPr lang="en-US" sz="1425" dirty="0"/>
          </a:p>
        </p:txBody>
      </p:sp>
      <p:sp>
        <p:nvSpPr>
          <p:cNvPr id="15" name="Shape 13"/>
          <p:cNvSpPr/>
          <p:nvPr/>
        </p:nvSpPr>
        <p:spPr>
          <a:xfrm>
            <a:off x="762000" y="3749040"/>
            <a:ext cx="16764000" cy="5223510"/>
          </a:xfrm>
          <a:prstGeom prst="roundRect">
            <a:avLst>
              <a:gd name="adj" fmla="val 3647"/>
            </a:avLst>
          </a:prstGeom>
          <a:solidFill>
            <a:srgbClr val="FFFFFF">
              <a:alpha val="8000"/>
            </a:srgbClr>
          </a:solidFill>
          <a:ln/>
        </p:spPr>
      </p:sp>
      <p:sp>
        <p:nvSpPr>
          <p:cNvPr id="16" name="Text 14"/>
          <p:cNvSpPr/>
          <p:nvPr/>
        </p:nvSpPr>
        <p:spPr>
          <a:xfrm>
            <a:off x="1085850" y="4015740"/>
            <a:ext cx="17727930" cy="259080"/>
          </a:xfrm>
          <a:prstGeom prst="rect">
            <a:avLst/>
          </a:prstGeom>
          <a:noFill/>
          <a:ln/>
        </p:spPr>
        <p:txBody>
          <a:bodyPr wrap="square" lIns="25400" tIns="25400" rIns="25400" bIns="25400" rtlCol="0" anchor="t">
            <a:normAutofit/>
          </a:bodyPr>
          <a:lstStyle/>
          <a:p>
            <a:pPr algn="l" indent="0" marL="0">
              <a:buNone/>
            </a:pPr>
            <a:r>
              <a:rPr lang="en-US" sz="1200" b="1" spc="96" kern="0" dirty="0">
                <a:solidFill>
                  <a:srgbClr val="FFFFFF">
                    <a:alpha val="72000"/>
                  </a:srgbClr>
                </a:solidFill>
                <a:latin typeface="Arial" pitchFamily="34" charset="0"/>
                <a:ea typeface="Arial" pitchFamily="34" charset="-122"/>
                <a:cs typeface="Arial" pitchFamily="34" charset="-120"/>
              </a:rPr>
              <a:t>팀원 한 줄 회고</a:t>
            </a:r>
            <a:endParaRPr lang="en-US" sz="1200" dirty="0"/>
          </a:p>
        </p:txBody>
      </p:sp>
      <p:sp>
        <p:nvSpPr>
          <p:cNvPr id="17" name="Shape 15"/>
          <p:cNvSpPr/>
          <p:nvPr/>
        </p:nvSpPr>
        <p:spPr>
          <a:xfrm>
            <a:off x="1085850" y="4408170"/>
            <a:ext cx="3331607" cy="4297680"/>
          </a:xfrm>
          <a:prstGeom prst="roundRect">
            <a:avLst>
              <a:gd name="adj" fmla="val 4003"/>
            </a:avLst>
          </a:prstGeom>
          <a:solidFill>
            <a:srgbClr val="FFFFFF">
              <a:alpha val="10000"/>
            </a:srgbClr>
          </a:solidFill>
          <a:ln/>
        </p:spPr>
      </p:sp>
      <p:sp>
        <p:nvSpPr>
          <p:cNvPr id="18" name="Text 16"/>
          <p:cNvSpPr/>
          <p:nvPr/>
        </p:nvSpPr>
        <p:spPr>
          <a:xfrm>
            <a:off x="1295400" y="4617720"/>
            <a:ext cx="3203757" cy="327660"/>
          </a:xfrm>
          <a:prstGeom prst="rect">
            <a:avLst/>
          </a:prstGeom>
          <a:noFill/>
          <a:ln/>
        </p:spPr>
        <p:txBody>
          <a:bodyPr wrap="square" lIns="25400" tIns="25400" rIns="25400" bIns="25400" rtlCol="0" anchor="t">
            <a:normAutofit/>
          </a:bodyPr>
          <a:lstStyle/>
          <a:p>
            <a:pPr algn="l" indent="0" marL="0">
              <a:buNone/>
            </a:pPr>
            <a:r>
              <a:rPr lang="en-US" sz="1575" b="1" dirty="0">
                <a:solidFill>
                  <a:srgbClr val="FFFFFF"/>
                </a:solidFill>
                <a:latin typeface="Arial" pitchFamily="34" charset="0"/>
                <a:ea typeface="Arial" pitchFamily="34" charset="-122"/>
                <a:cs typeface="Arial" pitchFamily="34" charset="-120"/>
              </a:rPr>
              <a:t>김성재</a:t>
            </a:r>
            <a:endParaRPr lang="en-US" sz="1575" dirty="0"/>
          </a:p>
        </p:txBody>
      </p:sp>
      <p:sp>
        <p:nvSpPr>
          <p:cNvPr id="19" name="Text 17"/>
          <p:cNvSpPr/>
          <p:nvPr/>
        </p:nvSpPr>
        <p:spPr>
          <a:xfrm>
            <a:off x="1295400" y="5021580"/>
            <a:ext cx="2999882" cy="599123"/>
          </a:xfrm>
          <a:prstGeom prst="rect">
            <a:avLst/>
          </a:prstGeom>
          <a:noFill/>
          <a:ln/>
        </p:spPr>
        <p:txBody>
          <a:bodyPr wrap="square" lIns="25400" tIns="25400" rIns="25400" bIns="25400" rtlCol="0" anchor="t">
            <a:normAutofit/>
          </a:bodyPr>
          <a:lstStyle/>
          <a:p>
            <a:pPr algn="l" indent="0" marL="0">
              <a:lnSpc>
                <a:spcPct val="155000"/>
              </a:lnSpc>
              <a:buNone/>
            </a:pPr>
            <a:r>
              <a:rPr lang="en-US" sz="1425" b="1" dirty="0">
                <a:solidFill>
                  <a:srgbClr val="FFFFFF">
                    <a:alpha val="90000"/>
                  </a:srgbClr>
                </a:solidFill>
                <a:latin typeface="Arial" pitchFamily="34" charset="0"/>
                <a:ea typeface="Arial" pitchFamily="34" charset="-122"/>
                <a:cs typeface="Arial" pitchFamily="34" charset="-120"/>
              </a:rPr>
              <a:t>RAG와 친해지며 성장할 수 있는 유의미한 시간을 가져서 좋았습니다.</a:t>
            </a:r>
            <a:endParaRPr lang="en-US" sz="1425" dirty="0"/>
          </a:p>
        </p:txBody>
      </p:sp>
      <p:sp>
        <p:nvSpPr>
          <p:cNvPr id="20" name="Shape 18"/>
          <p:cNvSpPr/>
          <p:nvPr/>
        </p:nvSpPr>
        <p:spPr>
          <a:xfrm>
            <a:off x="4569857" y="4408170"/>
            <a:ext cx="3331726" cy="4297680"/>
          </a:xfrm>
          <a:prstGeom prst="roundRect">
            <a:avLst>
              <a:gd name="adj" fmla="val 4002"/>
            </a:avLst>
          </a:prstGeom>
          <a:solidFill>
            <a:srgbClr val="FFFFFF">
              <a:alpha val="10000"/>
            </a:srgbClr>
          </a:solidFill>
          <a:ln/>
        </p:spPr>
      </p:sp>
      <p:sp>
        <p:nvSpPr>
          <p:cNvPr id="21" name="Text 19"/>
          <p:cNvSpPr/>
          <p:nvPr/>
        </p:nvSpPr>
        <p:spPr>
          <a:xfrm>
            <a:off x="4779407" y="4617720"/>
            <a:ext cx="3203889" cy="327660"/>
          </a:xfrm>
          <a:prstGeom prst="rect">
            <a:avLst/>
          </a:prstGeom>
          <a:noFill/>
          <a:ln/>
        </p:spPr>
        <p:txBody>
          <a:bodyPr wrap="square" lIns="25400" tIns="25400" rIns="25400" bIns="25400" rtlCol="0" anchor="t">
            <a:normAutofit/>
          </a:bodyPr>
          <a:lstStyle/>
          <a:p>
            <a:pPr algn="l" indent="0" marL="0">
              <a:buNone/>
            </a:pPr>
            <a:r>
              <a:rPr lang="en-US" sz="1575" b="1" dirty="0">
                <a:solidFill>
                  <a:srgbClr val="FFFFFF"/>
                </a:solidFill>
                <a:latin typeface="Arial" pitchFamily="34" charset="0"/>
                <a:ea typeface="Arial" pitchFamily="34" charset="-122"/>
                <a:cs typeface="Arial" pitchFamily="34" charset="-120"/>
              </a:rPr>
              <a:t>신혜지</a:t>
            </a:r>
            <a:endParaRPr lang="en-US" sz="1575" dirty="0"/>
          </a:p>
        </p:txBody>
      </p:sp>
      <p:sp>
        <p:nvSpPr>
          <p:cNvPr id="22" name="Text 20"/>
          <p:cNvSpPr/>
          <p:nvPr/>
        </p:nvSpPr>
        <p:spPr>
          <a:xfrm>
            <a:off x="4779407" y="5021580"/>
            <a:ext cx="3000005" cy="599123"/>
          </a:xfrm>
          <a:prstGeom prst="rect">
            <a:avLst/>
          </a:prstGeom>
          <a:noFill/>
          <a:ln/>
        </p:spPr>
        <p:txBody>
          <a:bodyPr wrap="square" lIns="25400" tIns="25400" rIns="25400" bIns="25400" rtlCol="0" anchor="t">
            <a:normAutofit/>
          </a:bodyPr>
          <a:lstStyle/>
          <a:p>
            <a:pPr algn="l" indent="0" marL="0">
              <a:lnSpc>
                <a:spcPct val="155000"/>
              </a:lnSpc>
              <a:buNone/>
            </a:pPr>
            <a:r>
              <a:rPr lang="en-US" sz="1425" b="1" dirty="0">
                <a:solidFill>
                  <a:srgbClr val="FFFFFF">
                    <a:alpha val="90000"/>
                  </a:srgbClr>
                </a:solidFill>
                <a:latin typeface="Arial" pitchFamily="34" charset="0"/>
                <a:ea typeface="Arial" pitchFamily="34" charset="-122"/>
                <a:cs typeface="Arial" pitchFamily="34" charset="-120"/>
              </a:rPr>
              <a:t>백엔드 구조와 전체적인 흐름을 다뤄볼 수 있어서 좋았습니다.</a:t>
            </a:r>
            <a:endParaRPr lang="en-US" sz="1425" dirty="0"/>
          </a:p>
        </p:txBody>
      </p:sp>
      <p:sp>
        <p:nvSpPr>
          <p:cNvPr id="23" name="Shape 21"/>
          <p:cNvSpPr/>
          <p:nvPr/>
        </p:nvSpPr>
        <p:spPr>
          <a:xfrm>
            <a:off x="8053983" y="4408170"/>
            <a:ext cx="5664041" cy="4297680"/>
          </a:xfrm>
          <a:prstGeom prst="roundRect">
            <a:avLst>
              <a:gd name="adj" fmla="val 3103"/>
            </a:avLst>
          </a:prstGeom>
          <a:solidFill>
            <a:srgbClr val="FFFFFF">
              <a:alpha val="10000"/>
            </a:srgbClr>
          </a:solidFill>
          <a:ln/>
        </p:spPr>
      </p:sp>
      <p:sp>
        <p:nvSpPr>
          <p:cNvPr id="24" name="Text 22"/>
          <p:cNvSpPr/>
          <p:nvPr/>
        </p:nvSpPr>
        <p:spPr>
          <a:xfrm>
            <a:off x="8282583" y="4617720"/>
            <a:ext cx="5727526" cy="327660"/>
          </a:xfrm>
          <a:prstGeom prst="rect">
            <a:avLst/>
          </a:prstGeom>
          <a:noFill/>
          <a:ln/>
        </p:spPr>
        <p:txBody>
          <a:bodyPr wrap="square" lIns="25400" tIns="25400" rIns="25400" bIns="25400" rtlCol="0" anchor="t">
            <a:normAutofit/>
          </a:bodyPr>
          <a:lstStyle/>
          <a:p>
            <a:pPr algn="l" indent="0" marL="0">
              <a:buNone/>
            </a:pPr>
            <a:r>
              <a:rPr lang="en-US" sz="1575" b="1" dirty="0">
                <a:solidFill>
                  <a:srgbClr val="FFFFFF"/>
                </a:solidFill>
                <a:latin typeface="Arial" pitchFamily="34" charset="0"/>
                <a:ea typeface="Arial" pitchFamily="34" charset="-122"/>
                <a:cs typeface="Arial" pitchFamily="34" charset="-120"/>
              </a:rPr>
              <a:t>심기성</a:t>
            </a:r>
            <a:endParaRPr lang="en-US" sz="1575" dirty="0"/>
          </a:p>
        </p:txBody>
      </p:sp>
      <p:sp>
        <p:nvSpPr>
          <p:cNvPr id="25" name="Text 23"/>
          <p:cNvSpPr/>
          <p:nvPr/>
        </p:nvSpPr>
        <p:spPr>
          <a:xfrm>
            <a:off x="8282583" y="5021580"/>
            <a:ext cx="5363047" cy="1009650"/>
          </a:xfrm>
          <a:prstGeom prst="rect">
            <a:avLst/>
          </a:prstGeom>
          <a:noFill/>
          <a:ln/>
        </p:spPr>
        <p:txBody>
          <a:bodyPr wrap="square" lIns="25400" tIns="25400" rIns="25400" bIns="25400" rtlCol="0" anchor="t">
            <a:normAutofit/>
          </a:bodyPr>
          <a:lstStyle/>
          <a:p>
            <a:pPr algn="l" indent="0" marL="0">
              <a:lnSpc>
                <a:spcPct val="150000"/>
              </a:lnSpc>
              <a:buNone/>
            </a:pPr>
            <a:r>
              <a:rPr lang="en-US" sz="1275" b="1" dirty="0">
                <a:solidFill>
                  <a:srgbClr val="FFFFFF">
                    <a:alpha val="90000"/>
                  </a:srgbClr>
                </a:solidFill>
                <a:latin typeface="Arial" pitchFamily="34" charset="0"/>
                <a:ea typeface="Arial" pitchFamily="34" charset="-122"/>
                <a:cs typeface="Arial" pitchFamily="34" charset="-120"/>
              </a:rPr>
              <a:t>두 프로젝트를 연달아 진행하니 프로그램의 퀄리티가 확실히 올라가는 것이 보였습니다. 새로 배운 내용을 바로 적용하려다 작은 디테일을 놓친 아쉬움도 있었고, 배포용 프론트엔드와 서버는 처음이라 더 공부가 필요할 것 같습니다. 그래도 기획부터 배포까지 협업으로 경험한 의미 있는 프로젝트였습니다.</a:t>
            </a:r>
            <a:endParaRPr lang="en-US" sz="1275" dirty="0"/>
          </a:p>
        </p:txBody>
      </p:sp>
      <p:sp>
        <p:nvSpPr>
          <p:cNvPr id="26" name="Shape 24"/>
          <p:cNvSpPr/>
          <p:nvPr/>
        </p:nvSpPr>
        <p:spPr>
          <a:xfrm>
            <a:off x="13870424" y="4408170"/>
            <a:ext cx="3331726" cy="4297680"/>
          </a:xfrm>
          <a:prstGeom prst="roundRect">
            <a:avLst>
              <a:gd name="adj" fmla="val 4002"/>
            </a:avLst>
          </a:prstGeom>
          <a:solidFill>
            <a:srgbClr val="FFFFFF">
              <a:alpha val="10000"/>
            </a:srgbClr>
          </a:solidFill>
          <a:ln/>
        </p:spPr>
      </p:sp>
      <p:sp>
        <p:nvSpPr>
          <p:cNvPr id="27" name="Text 25"/>
          <p:cNvSpPr/>
          <p:nvPr/>
        </p:nvSpPr>
        <p:spPr>
          <a:xfrm>
            <a:off x="14079974" y="4617720"/>
            <a:ext cx="3203889" cy="327660"/>
          </a:xfrm>
          <a:prstGeom prst="rect">
            <a:avLst/>
          </a:prstGeom>
          <a:noFill/>
          <a:ln/>
        </p:spPr>
        <p:txBody>
          <a:bodyPr wrap="square" lIns="25400" tIns="25400" rIns="25400" bIns="25400" rtlCol="0" anchor="t">
            <a:normAutofit/>
          </a:bodyPr>
          <a:lstStyle/>
          <a:p>
            <a:pPr algn="l" indent="0" marL="0">
              <a:buNone/>
            </a:pPr>
            <a:r>
              <a:rPr lang="en-US" sz="1575" b="1" dirty="0">
                <a:solidFill>
                  <a:srgbClr val="FFFFFF"/>
                </a:solidFill>
                <a:latin typeface="Arial" pitchFamily="34" charset="0"/>
                <a:ea typeface="Arial" pitchFamily="34" charset="-122"/>
                <a:cs typeface="Arial" pitchFamily="34" charset="-120"/>
              </a:rPr>
              <a:t>손지은</a:t>
            </a:r>
            <a:endParaRPr lang="en-US" sz="1575" dirty="0"/>
          </a:p>
        </p:txBody>
      </p:sp>
      <p:sp>
        <p:nvSpPr>
          <p:cNvPr id="28" name="Text 26"/>
          <p:cNvSpPr/>
          <p:nvPr/>
        </p:nvSpPr>
        <p:spPr>
          <a:xfrm>
            <a:off x="14079974" y="5021580"/>
            <a:ext cx="3000005" cy="599123"/>
          </a:xfrm>
          <a:prstGeom prst="rect">
            <a:avLst/>
          </a:prstGeom>
          <a:noFill/>
          <a:ln/>
        </p:spPr>
        <p:txBody>
          <a:bodyPr wrap="square" lIns="25400" tIns="25400" rIns="25400" bIns="25400" rtlCol="0" anchor="t">
            <a:normAutofit/>
          </a:bodyPr>
          <a:lstStyle/>
          <a:p>
            <a:pPr algn="l" indent="0" marL="0">
              <a:lnSpc>
                <a:spcPct val="155000"/>
              </a:lnSpc>
              <a:buNone/>
            </a:pPr>
            <a:r>
              <a:rPr lang="en-US" sz="1425" b="1" dirty="0">
                <a:solidFill>
                  <a:srgbClr val="FFFFFF">
                    <a:alpha val="90000"/>
                  </a:srgbClr>
                </a:solidFill>
                <a:latin typeface="Arial" pitchFamily="34" charset="0"/>
                <a:ea typeface="Arial" pitchFamily="34" charset="-122"/>
                <a:cs typeface="Arial" pitchFamily="34" charset="-120"/>
              </a:rPr>
              <a:t>저는 오늘로 교육을 마무리하게 되었습니다. 그동안 감사했습니다.</a:t>
            </a:r>
            <a:endParaRPr lang="en-US" sz="1425" dirty="0"/>
          </a:p>
        </p:txBody>
      </p:sp>
      <p:sp>
        <p:nvSpPr>
          <p:cNvPr id="29" name="Text 27"/>
          <p:cNvSpPr/>
          <p:nvPr/>
        </p:nvSpPr>
        <p:spPr>
          <a:xfrm>
            <a:off x="762000" y="9258300"/>
            <a:ext cx="18440400" cy="457200"/>
          </a:xfrm>
          <a:prstGeom prst="rect">
            <a:avLst/>
          </a:prstGeom>
          <a:noFill/>
          <a:ln/>
        </p:spPr>
        <p:txBody>
          <a:bodyPr wrap="square" lIns="25400" tIns="25400" rIns="25400" bIns="25400" rtlCol="0" anchor="t">
            <a:normAutofit/>
          </a:bodyPr>
          <a:lstStyle/>
          <a:p>
            <a:pPr algn="l" indent="0" marL="0">
              <a:buNone/>
            </a:pPr>
            <a:r>
              <a:rPr lang="en-US" sz="2250" b="1" spc="-45" kern="0" dirty="0">
                <a:solidFill>
                  <a:srgbClr val="FFFFFF"/>
                </a:solidFill>
                <a:latin typeface="Arial" pitchFamily="34" charset="0"/>
                <a:ea typeface="Arial" pitchFamily="34" charset="-122"/>
                <a:cs typeface="Arial" pitchFamily="34" charset="-120"/>
              </a:rPr>
              <a:t>데이터부터 배포까지 연결하며 전체 그림을 봤습니다. 감사합니다.</a:t>
            </a:r>
            <a:endParaRPr lang="en-US" sz="2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2026-06-26T06:58:53Z</dcterms:created>
  <dcterms:modified xsi:type="dcterms:W3CDTF">2026-06-26T06:58:53Z</dcterms:modified>
</cp:coreProperties>
</file>